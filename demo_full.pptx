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3"/>
    <p:sldId id="302" r:id="rId54"/>
    <p:sldId id="303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言語別コード比率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Python</c:v>
                </c:pt>
                <c:pt idx="1">
                  <c:v>TypeScript</c:v>
                </c:pt>
                <c:pt idx="2">
                  <c:v>Rust</c:v>
                </c:pt>
                <c:pt idx="3">
                  <c:v>Go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28.0</c:v>
                </c:pt>
                <c:pt idx="2">
                  <c:v>15.0</c:v>
                </c:pt>
                <c:pt idx="3">
                  <c:v>10.0</c:v>
                </c:pt>
                <c:pt idx="4">
                  <c:v>5.0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  <c:dLblPos val="bestFit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売上内訳（百万円）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製品A</c:v>
                </c:pt>
                <c:pt idx="1">
                  <c:v>製品B</c:v>
                </c:pt>
                <c:pt idx="2">
                  <c:v>製品C</c:v>
                </c:pt>
                <c:pt idx="3">
                  <c:v>サービス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120.5</c:v>
                </c:pt>
                <c:pt idx="1">
                  <c:v>87.3</c:v>
                </c:pt>
                <c:pt idx="2">
                  <c:v>54.0</c:v>
                </c:pt>
                <c:pt idx="3">
                  <c:v>38.2</c:v>
                </c:pt>
              </c:numCache>
            </c:numRef>
          </c:val>
        </c:ser>
        <c:dLbls>
          <c:showLegendKey val="0"/>
          <c:showVal val="1"/>
          <c:showCatName val="1"/>
          <c:showSerName val="0"/>
          <c:showPercent val="1"/>
          <c:showBubbleSize val="0"/>
          <c:showLeaderLines val="1"/>
          <c:dLblPos val="bestFit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5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grpSpPr>
          <a:xfrm>
            <a:off x="6019516" y="4036394"/>
            <a:ext cx="2400000" cy="1889769"/>
            <a:chOff x="6019516" y="4036394"/>
            <a:chExt cx="2400000" cy="1889769"/>
          </a:xfrm>
        </p:grpSpPr>
        <p:sp>
          <p:nvSpPr>
            <p:cNvPr id="4" name="Rectangle 3"/>
            <p:cNvSpPr/>
            <p:nvPr/>
          </p:nvSpPr>
          <p:spPr>
            <a:xfrm>
              <a:off x="6019516" y="4606163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Rectangle 4"/>
            <p:cNvSpPr/>
            <p:nvPr/>
          </p:nvSpPr>
          <p:spPr>
            <a:xfrm>
              <a:off x="6019516" y="4606163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CUSTOMER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019516" y="50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019516" y="5326163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19516" y="56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email             </a:t>
              </a:r>
              <a:r>
                <a:rPr sz="800" b="1">
                  <a:solidFill>
                    <a:srgbClr val="008000"/>
                  </a:solidFill>
                </a:rPr>
                <a:t>  UK</a:t>
              </a:r>
              <a:r>
                <a:rPr sz="800" i="1">
                  <a:solidFill>
                    <a:srgbClr val="828282"/>
                  </a:solidFill>
                </a:rPr>
                <a:t>  "Email address"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71062" y="4326250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5013" y="4036394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places</a:t>
              </a:r>
            </a:p>
          </p:txBody>
        </p:sp>
      </p:grpSp>
      <p:grpSp>
        <p:grpSpPr>
          <a:xfrm>
            <a:off x="5045176" y="2502705"/>
            <a:ext cx="3441624" cy="1599913"/>
            <a:chOff x="5045176" y="2502705"/>
            <a:chExt cx="3441624" cy="1599913"/>
          </a:xfrm>
        </p:grpSpPr>
        <p:sp>
          <p:nvSpPr>
            <p:cNvPr id="9" name="Rectangle 8"/>
            <p:cNvSpPr/>
            <p:nvPr/>
          </p:nvSpPr>
          <p:spPr>
            <a:xfrm>
              <a:off x="6086800" y="2502705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Rectangle 9"/>
            <p:cNvSpPr/>
            <p:nvPr/>
          </p:nvSpPr>
          <p:spPr>
            <a:xfrm>
              <a:off x="6086800" y="2502705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ORDER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86800" y="29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86800" y="3222705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customer_id       </a:t>
              </a:r>
              <a:r>
                <a:rPr sz="800" b="1">
                  <a:solidFill>
                    <a:srgbClr val="0046B4"/>
                  </a:solidFill>
                </a:rPr>
                <a:t>  FK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86800" y="35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date      </a:t>
              </a:r>
              <a:r>
                <a:rPr sz="900" b="0"/>
                <a:t>  ordered_at       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085253" y="3882618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744964" y="27852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45176" y="272148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contains</a:t>
              </a:r>
            </a:p>
          </p:txBody>
        </p:sp>
      </p:grpSp>
      <p:grpSp>
        <p:grpSpPr>
          <a:xfrm>
            <a:off x="2496601" y="1800200"/>
            <a:ext cx="2741836" cy="1546006"/>
            <a:chOff x="2496601" y="1800200"/>
            <a:chExt cx="2741836" cy="1546006"/>
          </a:xfrm>
        </p:grpSpPr>
        <p:sp>
          <p:nvSpPr>
            <p:cNvPr id="14" name="Rectangle 13"/>
            <p:cNvSpPr/>
            <p:nvPr/>
          </p:nvSpPr>
          <p:spPr>
            <a:xfrm>
              <a:off x="2496601" y="1800200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2496601" y="1800200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LINE-ITEM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96601" y="22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productCode       </a:t>
              </a:r>
              <a:r>
                <a:rPr sz="800" b="1">
                  <a:solidFill>
                    <a:srgbClr val="C40000"/>
                  </a:solidFill>
                </a:rPr>
                <a:t>  PK,FK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96601" y="2520200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0"/>
                <a:t>  quantity          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96601" y="28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pricePerUnit     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888437" y="26176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1..*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690327" y="3126206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</p:grpSp>
      <p:grpSp>
        <p:grpSpPr>
          <a:xfrm>
            <a:off x="657200" y="3090233"/>
            <a:ext cx="2835950" cy="1747075"/>
            <a:chOff x="657200" y="3090233"/>
            <a:chExt cx="2835950" cy="1747075"/>
          </a:xfrm>
        </p:grpSpPr>
        <p:sp>
          <p:nvSpPr>
            <p:cNvPr id="19" name="Rectangle 18"/>
            <p:cNvSpPr/>
            <p:nvPr/>
          </p:nvSpPr>
          <p:spPr>
            <a:xfrm>
              <a:off x="657200" y="3517308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657200" y="3517308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PRODUCT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7200" y="39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code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200" y="4237308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7200" y="45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             </a:t>
              </a:r>
              <a:r>
                <a:rPr sz="800" i="1">
                  <a:solidFill>
                    <a:srgbClr val="828282"/>
                  </a:solidFill>
                </a:rPr>
                <a:t>  "Unit price"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13473" y="329130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293150" y="309023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includes</a:t>
              </a:r>
            </a:p>
          </p:txBody>
        </p:sp>
      </p:grpSp>
      <p:cxnSp>
        <p:nvCxnSpPr>
          <p:cNvPr id="33" name="Connector 32"/>
          <p:cNvCxnSpPr>
            <a:stCxn id="4" idx="0"/>
            <a:endCxn id="9" idx="2"/>
          </p:cNvCxnSpPr>
          <p:nvPr/>
        </p:nvCxnSpPr>
        <p:spPr>
          <a:xfrm flipV="1">
            <a:off x="7219516" y="3822705"/>
            <a:ext cx="67284" cy="783458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9" idx="3"/>
            <a:endCxn id="14" idx="1"/>
          </p:cNvCxnSpPr>
          <p:nvPr/>
        </p:nvCxnSpPr>
        <p:spPr>
          <a:xfrm flipH="1" flipV="1">
            <a:off x="2496601" y="2460200"/>
            <a:ext cx="5990199" cy="702505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9" idx="1"/>
            <a:endCxn id="14" idx="3"/>
          </p:cNvCxnSpPr>
          <p:nvPr/>
        </p:nvCxnSpPr>
        <p:spPr>
          <a:xfrm flipV="1">
            <a:off x="657200" y="2460200"/>
            <a:ext cx="4239401" cy="1717108"/>
          </a:xfrm>
          <a:prstGeom prst="line">
            <a:avLst/>
          </a:prstGeom>
          <a:ln>
            <a:solidFill>
              <a:srgbClr val="3232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パーセント + 実数値表示（showData あり）: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575050" y="273050"/>
          <a:ext cx="5111750" cy="585311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575050" y="273050"/>
          <a:ext cx="5111750" cy="585311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1"/>
            <a:endCxn id="5" idx="3"/>
          </p:cNvCxnSpPr>
          <p:nvPr/>
        </p:nvCxnSpPr>
        <p:spPr>
          <a:xfrm>
            <a:off x="3822000" y="3863181"/>
            <a:ext cx="2548072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1"/>
            <a:endCxn id="6" idx="3"/>
          </p:cNvCxnSpPr>
          <p:nvPr/>
        </p:nvCxnSpPr>
        <p:spPr>
          <a:xfrm flipV="1">
            <a:off x="5270072" y="4311883"/>
            <a:ext cx="294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1"/>
            <a:endCxn id="7" idx="3"/>
          </p:cNvCxnSpPr>
          <p:nvPr/>
        </p:nvCxnSpPr>
        <p:spPr>
          <a:xfrm>
            <a:off x="5270072" y="4484839"/>
            <a:ext cx="220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3"/>
            <a:endCxn id="9" idx="1"/>
          </p:cNvCxnSpPr>
          <p:nvPr/>
        </p:nvCxnSpPr>
        <p:spPr>
          <a:xfrm flipH="1">
            <a:off x="3074805" y="3863181"/>
            <a:ext cx="224719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3"/>
            <a:endCxn id="11" idx="1"/>
          </p:cNvCxnSpPr>
          <p:nvPr/>
        </p:nvCxnSpPr>
        <p:spPr>
          <a:xfrm flipH="1">
            <a:off x="2267609" y="4634704"/>
            <a:ext cx="1907196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3"/>
            <a:endCxn id="12" idx="1"/>
          </p:cNvCxnSpPr>
          <p:nvPr/>
        </p:nvCxnSpPr>
        <p:spPr>
          <a:xfrm flipH="1">
            <a:off x="1209168" y="4634704"/>
            <a:ext cx="296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3"/>
            <a:endCxn id="13" idx="1"/>
          </p:cNvCxnSpPr>
          <p:nvPr/>
        </p:nvCxnSpPr>
        <p:spPr>
          <a:xfrm flipH="1" flipV="1">
            <a:off x="2403044" y="3638830"/>
            <a:ext cx="29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827184" y="3638830"/>
            <a:ext cx="267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3"/>
            <a:endCxn id="15" idx="1"/>
          </p:cNvCxnSpPr>
          <p:nvPr/>
        </p:nvCxnSpPr>
        <p:spPr>
          <a:xfrm flipH="1" flipV="1">
            <a:off x="1209168" y="2991853"/>
            <a:ext cx="229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3"/>
            <a:endCxn id="17" idx="1"/>
          </p:cNvCxnSpPr>
          <p:nvPr/>
        </p:nvCxnSpPr>
        <p:spPr>
          <a:xfrm flipH="1" flipV="1">
            <a:off x="2267609" y="2320134"/>
            <a:ext cx="265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1"/>
            <a:endCxn id="19" idx="3"/>
          </p:cNvCxnSpPr>
          <p:nvPr/>
        </p:nvCxnSpPr>
        <p:spPr>
          <a:xfrm flipV="1">
            <a:off x="3821017" y="2110080"/>
            <a:ext cx="234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1"/>
            <a:endCxn id="20" idx="3"/>
          </p:cNvCxnSpPr>
          <p:nvPr/>
        </p:nvCxnSpPr>
        <p:spPr>
          <a:xfrm flipV="1">
            <a:off x="3822000" y="3427517"/>
            <a:ext cx="27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1"/>
            <a:endCxn id="21" idx="3"/>
          </p:cNvCxnSpPr>
          <p:nvPr/>
        </p:nvCxnSpPr>
        <p:spPr>
          <a:xfrm flipV="1">
            <a:off x="5498416" y="2619865"/>
            <a:ext cx="197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1"/>
            <a:endCxn id="22" idx="3"/>
          </p:cNvCxnSpPr>
          <p:nvPr/>
        </p:nvCxnSpPr>
        <p:spPr>
          <a:xfrm flipV="1">
            <a:off x="5498416" y="3414479"/>
            <a:ext cx="272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