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3"/>
    <p:sldId id="302" r:id="rId54"/>
    <p:sldId id="303" r:id="rId5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notesMaster" Target="notesMasters/notesMaster1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これはスピーカーノートです。発表者ビューでのみ表示されます。
「2カラムレイアウト」について補足説明をここに記入します。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b="1" sz="3600"/>
              <a:t>全機能デモプレゼンテーション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1800"/>
              <a:t>qmd-to-pptx テスト
2026-03-15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テキスト系機能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段落テスト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複数の段落を含むスライドも正しく処理されます。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順序なしリスト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第1レベルのアイテム</a:t>
            </a:r>
          </a:p>
          <a:p>
            <a:pPr/>
            <a:r>
              <a:rPr sz="1800"/>
              <a:t>第1レベルのアイテム2</a:t>
            </a:r>
          </a:p>
          <a:p>
            <a:pPr lvl="1"/>
            <a:r>
              <a:rPr sz="1800"/>
              <a:t>第2レベル（ネスト）</a:t>
            </a:r>
          </a:p>
          <a:p>
            <a:pPr lvl="1"/>
            <a:r>
              <a:rPr sz="1800"/>
              <a:t>第2レベル（ネスト）2</a:t>
            </a:r>
          </a:p>
          <a:p>
            <a:pPr lvl="2"/>
            <a:r>
              <a:rPr sz="1800"/>
              <a:t>第3レベル（深いネスト）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順序付きリスト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buAutoNum type="arabicPeriod"/>
            </a:pPr>
            <a:r>
              <a:rPr sz="1800"/>
              <a:t>最初のステップ</a:t>
            </a:r>
          </a:p>
          <a:p>
            <a:pPr>
              <a:buAutoNum type="arabicPeriod"/>
            </a:pPr>
            <a:r>
              <a:rPr sz="1800"/>
              <a:t>二番目のステップ</a:t>
            </a:r>
          </a:p>
          <a:p>
            <a:pPr>
              <a:buAutoNum type="arabicPeriod"/>
            </a:pPr>
            <a:r>
              <a:rPr sz="1800"/>
              <a:t>三番目のステップ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テーブル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1131490">
                <a:tc>
                  <a:txBody>
                    <a:bodyPr/>
                    <a:lstStyle/>
                    <a:p>
                      <a:r>
                        <a:rPr b="1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型付け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動的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マルチパラダイム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システム</a:t>
                      </a:r>
                    </a:p>
                  </a:txBody>
                  <a:tcPr/>
                </a:tc>
              </a:tr>
              <a:tr h="1131493">
                <a:tc>
                  <a:txBody>
                    <a:bodyPr/>
                    <a:lstStyle/>
                    <a:p>
                      <a:r>
                        <a:t>Haskell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関数型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コードブロック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def fibonacci(n: int) -&gt; int: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if n &lt;= 1: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    return n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return fibonacci(n - 1) + fibonacci(n - 2)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数式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インライン数式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円の面積は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i"/>
                      </m:rPr>
                      <m:t>π</m:t>
                    </m:r>
                    <m:sSup>
                      <m:e>
                        <m:r>
                          <m:rPr>
                            <m:sty m:val="i"/>
                          </m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m:t>2</m:t>
                        </m:r>
                      </m:sup>
                    </m:sSup>
                  </m:e>
                </m:box>
              </m:oMath>
            </a14:m>
            <a:r>
              <a:rPr sz="1800"/>
              <a:t> で、
円周は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2</m:t>
                    </m:r>
                    <m:r>
                      <m:rPr>
                        <m:sty m:val="i"/>
                      </m:rPr>
                      <m:t>π</m:t>
                    </m:r>
                    <m:r>
                      <m:rPr>
                        <m:sty m:val="i"/>
                      </m:rPr>
                      <m:t>r</m:t>
                    </m:r>
                  </m:e>
                </m:box>
              </m:oMath>
            </a14:m>
            <a:r>
              <a:rPr sz="1800"/>
              <a:t> で表されます。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ブロック数式（ディスプレイ数式）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二次方程式の解の公式：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rPr>
                                <m:sty m:val="i"/>
                              </m:rPr>
                              <m:t>b</m:t>
                            </m:r>
                            <m:r>
                              <m:rPr>
                                <m:sty m:val="i"/>
                              </m:rPr>
                              <m:t>±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sSup>
                                          <m:e>
                                            <m:r>
                                              <m:rPr>
                                                <m:sty m:val="i"/>
                                              </m:rPr>
                                              <m:t>b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m:rPr>
                                            <m:sty m:val="p"/>
                                          </m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4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a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c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p"/>
                              </m:rPr>
                              <m:t>2</m:t>
                            </m:r>
                            <m:r>
                              <m:rPr>
                                <m:sty m:val="i"/>
                              </m:rPr>
                              <m:t>a</m:t>
                            </m:r>
                          </m:e>
                        </m:box>
                      </m:den>
                    </m:f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複雑な数式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正規分布の確率密度関数：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1</m:t>
                            </m:r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i"/>
                              </m:rPr>
                              <m:t>σ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π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den>
                    </m:f>
                    <m:sSup>
                      <m:e>
                        <m:r>
                          <m:rPr>
                            <m:sty m:val="i"/>
                          </m:rPr>
                          <m:t>e</m:t>
                        </m:r>
                      </m:e>
                      <m:sup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f>
                              <m:num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(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μ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num>
                              <m:den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2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i"/>
                                          </m:rPr>
                                          <m:t>σ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den>
                            </m:f>
                          </m:e>
                        </m:box>
                      </m:sup>
                    </m:sSup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Mermaid図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フローチャート（Flowchart）— ノード形状デモ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21878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矩形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63120" y="218786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9040" y="218786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スタジアム</a:t>
            </a:r>
          </a:p>
        </p:txBody>
      </p:sp>
      <p:sp>
        <p:nvSpPr>
          <p:cNvPr id="7" name="Rectangle 6"/>
          <p:cNvSpPr/>
          <p:nvPr/>
        </p:nvSpPr>
        <p:spPr>
          <a:xfrm>
            <a:off x="4674960" y="21878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サブルーチン</a:t>
            </a:r>
          </a:p>
        </p:txBody>
      </p:sp>
      <p:sp>
        <p:nvSpPr>
          <p:cNvPr id="8" name="Can 7"/>
          <p:cNvSpPr/>
          <p:nvPr/>
        </p:nvSpPr>
        <p:spPr>
          <a:xfrm>
            <a:off x="6080880" y="2187860"/>
            <a:ext cx="1200000" cy="500000"/>
          </a:xfrm>
          <a:prstGeom prst="ca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シリンダー</a:t>
            </a:r>
          </a:p>
        </p:txBody>
      </p:sp>
      <p:sp>
        <p:nvSpPr>
          <p:cNvPr id="9" name="Oval 8"/>
          <p:cNvSpPr/>
          <p:nvPr/>
        </p:nvSpPr>
        <p:spPr>
          <a:xfrm>
            <a:off x="7486800" y="2187860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円</a:t>
            </a:r>
          </a:p>
        </p:txBody>
      </p:sp>
      <p:sp>
        <p:nvSpPr>
          <p:cNvPr id="10" name="Pentagon 9"/>
          <p:cNvSpPr/>
          <p:nvPr/>
        </p:nvSpPr>
        <p:spPr>
          <a:xfrm>
            <a:off x="457200" y="3613181"/>
            <a:ext cx="1200000" cy="500000"/>
          </a:xfrm>
          <a:prstGeom prst="homePlat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非対称</a:t>
            </a:r>
          </a:p>
        </p:txBody>
      </p:sp>
      <p:sp>
        <p:nvSpPr>
          <p:cNvPr id="11" name="Diamond 10"/>
          <p:cNvSpPr/>
          <p:nvPr/>
        </p:nvSpPr>
        <p:spPr>
          <a:xfrm>
            <a:off x="1863120" y="3613181"/>
            <a:ext cx="1200000" cy="500000"/>
          </a:xfrm>
          <a:prstGeom prst="diamon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ひし形</a:t>
            </a:r>
          </a:p>
        </p:txBody>
      </p:sp>
      <p:sp>
        <p:nvSpPr>
          <p:cNvPr id="12" name="Hexagon 11"/>
          <p:cNvSpPr/>
          <p:nvPr/>
        </p:nvSpPr>
        <p:spPr>
          <a:xfrm>
            <a:off x="3269040" y="3613181"/>
            <a:ext cx="1200000" cy="500000"/>
          </a:xfrm>
          <a:prstGeom prst="hexag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六角形</a:t>
            </a:r>
          </a:p>
        </p:txBody>
      </p:sp>
      <p:sp>
        <p:nvSpPr>
          <p:cNvPr id="13" name="Parallelogram 12"/>
          <p:cNvSpPr/>
          <p:nvPr/>
        </p:nvSpPr>
        <p:spPr>
          <a:xfrm>
            <a:off x="4674960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右傾斜</a:t>
            </a:r>
          </a:p>
        </p:txBody>
      </p:sp>
      <p:sp>
        <p:nvSpPr>
          <p:cNvPr id="14" name="Parallelogram 13"/>
          <p:cNvSpPr/>
          <p:nvPr/>
        </p:nvSpPr>
        <p:spPr>
          <a:xfrm flipH="1">
            <a:off x="6080880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左傾斜</a:t>
            </a:r>
          </a:p>
        </p:txBody>
      </p:sp>
      <p:sp>
        <p:nvSpPr>
          <p:cNvPr id="15" name="Trapezoid 14"/>
          <p:cNvSpPr/>
          <p:nvPr/>
        </p:nvSpPr>
        <p:spPr>
          <a:xfrm>
            <a:off x="7486800" y="3613181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台形</a:t>
            </a:r>
          </a:p>
        </p:txBody>
      </p:sp>
      <p:sp>
        <p:nvSpPr>
          <p:cNvPr id="16" name="Trapezoid 15"/>
          <p:cNvSpPr/>
          <p:nvPr/>
        </p:nvSpPr>
        <p:spPr>
          <a:xfrm flipV="1">
            <a:off x="457200" y="5038502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逆台形</a:t>
            </a:r>
          </a:p>
        </p:txBody>
      </p:sp>
      <p:sp>
        <p:nvSpPr>
          <p:cNvPr id="17" name="Oval 16"/>
          <p:cNvSpPr/>
          <p:nvPr/>
        </p:nvSpPr>
        <p:spPr>
          <a:xfrm>
            <a:off x="7486800" y="5038502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二重円</a:t>
            </a:r>
          </a:p>
        </p:txBody>
      </p:sp>
      <p:cxnSp>
        <p:nvCxnSpPr>
          <p:cNvPr id="18" name="Connector 17"/>
          <p:cNvCxnSpPr>
            <a:stCxn id="4" idx="1"/>
            <a:endCxn id="5" idx="3"/>
          </p:cNvCxnSpPr>
          <p:nvPr/>
        </p:nvCxnSpPr>
        <p:spPr>
          <a:xfrm>
            <a:off x="45720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1"/>
            <a:endCxn id="6" idx="3"/>
          </p:cNvCxnSpPr>
          <p:nvPr/>
        </p:nvCxnSpPr>
        <p:spPr>
          <a:xfrm>
            <a:off x="186312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1"/>
            <a:endCxn id="7" idx="3"/>
          </p:cNvCxnSpPr>
          <p:nvPr/>
        </p:nvCxnSpPr>
        <p:spPr>
          <a:xfrm>
            <a:off x="326904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1"/>
            <a:endCxn id="8" idx="3"/>
          </p:cNvCxnSpPr>
          <p:nvPr/>
        </p:nvCxnSpPr>
        <p:spPr>
          <a:xfrm>
            <a:off x="467496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1"/>
            <a:endCxn id="9" idx="3"/>
          </p:cNvCxnSpPr>
          <p:nvPr/>
        </p:nvCxnSpPr>
        <p:spPr>
          <a:xfrm>
            <a:off x="608088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9" idx="3"/>
            <a:endCxn id="10" idx="1"/>
          </p:cNvCxnSpPr>
          <p:nvPr/>
        </p:nvCxnSpPr>
        <p:spPr>
          <a:xfrm flipH="1">
            <a:off x="457200" y="2437860"/>
            <a:ext cx="8229600" cy="142532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1"/>
            <a:endCxn id="11" idx="3"/>
          </p:cNvCxnSpPr>
          <p:nvPr/>
        </p:nvCxnSpPr>
        <p:spPr>
          <a:xfrm>
            <a:off x="45720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1"/>
            <a:endCxn id="12" idx="3"/>
          </p:cNvCxnSpPr>
          <p:nvPr/>
        </p:nvCxnSpPr>
        <p:spPr>
          <a:xfrm>
            <a:off x="186312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1"/>
            <a:endCxn id="13" idx="3"/>
          </p:cNvCxnSpPr>
          <p:nvPr/>
        </p:nvCxnSpPr>
        <p:spPr>
          <a:xfrm>
            <a:off x="326904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3" idx="1"/>
            <a:endCxn id="14" idx="3"/>
          </p:cNvCxnSpPr>
          <p:nvPr/>
        </p:nvCxnSpPr>
        <p:spPr>
          <a:xfrm>
            <a:off x="467496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14" idx="1"/>
            <a:endCxn id="15" idx="3"/>
          </p:cNvCxnSpPr>
          <p:nvPr/>
        </p:nvCxnSpPr>
        <p:spPr>
          <a:xfrm>
            <a:off x="608088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3"/>
            <a:endCxn id="16" idx="1"/>
          </p:cNvCxnSpPr>
          <p:nvPr/>
        </p:nvCxnSpPr>
        <p:spPr>
          <a:xfrm flipH="1">
            <a:off x="457200" y="3863181"/>
            <a:ext cx="8229600" cy="142532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6" idx="1"/>
            <a:endCxn id="17" idx="3"/>
          </p:cNvCxnSpPr>
          <p:nvPr/>
        </p:nvCxnSpPr>
        <p:spPr>
          <a:xfrm>
            <a:off x="457200" y="5288502"/>
            <a:ext cx="82296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1b. フローチャート— 枝分かれ構造デモ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9720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開始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21058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86800" y="321058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処理B</a:t>
            </a:r>
          </a:p>
        </p:txBody>
      </p:sp>
      <p:sp>
        <p:nvSpPr>
          <p:cNvPr id="9" name="Rectangle 8"/>
          <p:cNvSpPr/>
          <p:nvPr/>
        </p:nvSpPr>
        <p:spPr>
          <a:xfrm>
            <a:off x="7486800" y="4015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04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436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868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20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5" name="Connector 14"/>
          <p:cNvCxnSpPr>
            <a:stCxn id="4" idx="2"/>
            <a:endCxn id="5" idx="0"/>
          </p:cNvCxnSpPr>
          <p:nvPr/>
        </p:nvCxnSpPr>
        <p:spPr>
          <a:xfrm>
            <a:off x="4572000" y="2100200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3"/>
            <a:endCxn id="6" idx="1"/>
          </p:cNvCxnSpPr>
          <p:nvPr/>
        </p:nvCxnSpPr>
        <p:spPr>
          <a:xfrm flipH="1">
            <a:off x="457200" y="2655392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5" idx="1"/>
            <a:endCxn id="7" idx="3"/>
          </p:cNvCxnSpPr>
          <p:nvPr/>
        </p:nvCxnSpPr>
        <p:spPr>
          <a:xfrm>
            <a:off x="3972000" y="2655392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2"/>
            <a:endCxn id="8" idx="0"/>
          </p:cNvCxnSpPr>
          <p:nvPr/>
        </p:nvCxnSpPr>
        <p:spPr>
          <a:xfrm>
            <a:off x="1057200" y="3710585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2"/>
            <a:endCxn id="9" idx="0"/>
          </p:cNvCxnSpPr>
          <p:nvPr/>
        </p:nvCxnSpPr>
        <p:spPr>
          <a:xfrm>
            <a:off x="8086800" y="3710585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2"/>
            <a:endCxn id="10" idx="0"/>
          </p:cNvCxnSpPr>
          <p:nvPr/>
        </p:nvCxnSpPr>
        <p:spPr>
          <a:xfrm>
            <a:off x="1057200" y="4515777"/>
            <a:ext cx="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8" idx="1"/>
            <a:endCxn id="11" idx="3"/>
          </p:cNvCxnSpPr>
          <p:nvPr/>
        </p:nvCxnSpPr>
        <p:spPr>
          <a:xfrm>
            <a:off x="457200" y="4265777"/>
            <a:ext cx="35432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8" idx="1"/>
            <a:endCxn id="12" idx="3"/>
          </p:cNvCxnSpPr>
          <p:nvPr/>
        </p:nvCxnSpPr>
        <p:spPr>
          <a:xfrm>
            <a:off x="457200" y="4265777"/>
            <a:ext cx="58864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9" idx="2"/>
            <a:endCxn id="13" idx="0"/>
          </p:cNvCxnSpPr>
          <p:nvPr/>
        </p:nvCxnSpPr>
        <p:spPr>
          <a:xfrm>
            <a:off x="8086800" y="4515777"/>
            <a:ext cx="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0" idx="1"/>
            <a:endCxn id="14" idx="3"/>
          </p:cNvCxnSpPr>
          <p:nvPr/>
        </p:nvCxnSpPr>
        <p:spPr>
          <a:xfrm>
            <a:off x="457200" y="5070970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1" idx="2"/>
            <a:endCxn id="14" idx="0"/>
          </p:cNvCxnSpPr>
          <p:nvPr/>
        </p:nvCxnSpPr>
        <p:spPr>
          <a:xfrm>
            <a:off x="3400400" y="5320970"/>
            <a:ext cx="117160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12" idx="2"/>
            <a:endCxn id="14" idx="0"/>
          </p:cNvCxnSpPr>
          <p:nvPr/>
        </p:nvCxnSpPr>
        <p:spPr>
          <a:xfrm flipH="1">
            <a:off x="4572000" y="5320970"/>
            <a:ext cx="117160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3" idx="3"/>
            <a:endCxn id="14" idx="1"/>
          </p:cNvCxnSpPr>
          <p:nvPr/>
        </p:nvCxnSpPr>
        <p:spPr>
          <a:xfrm flipH="1">
            <a:off x="3972000" y="5070970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3372000" y="2405392"/>
            <a:ext cx="2400000" cy="512451"/>
            <a:chOff x="3372000" y="2405392"/>
            <a:chExt cx="2400000" cy="512451"/>
          </a:xfrm>
        </p:grpSpPr>
        <p:sp>
          <p:nvSpPr>
            <p:cNvPr id="5" name="Diamond 4"/>
            <p:cNvSpPr/>
            <p:nvPr/>
          </p:nvSpPr>
          <p:spPr>
            <a:xfrm>
              <a:off x="3972000" y="2405392"/>
              <a:ext cx="1200000" cy="500000"/>
            </a:xfrm>
            <a:prstGeom prst="diamon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条件判定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372000" y="266784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はい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572000" y="266784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いいえ</a:t>
              </a:r>
            </a:p>
          </p:txBody>
        </p:sp>
      </p:grpSp>
      <p:grpSp>
        <p:grpSpPr>
          <a:xfrm>
            <a:off x="457200" y="4015777"/>
            <a:ext cx="1800000" cy="625000"/>
            <a:chOff x="457200" y="4015777"/>
            <a:chExt cx="1800000" cy="625000"/>
          </a:xfrm>
        </p:grpSpPr>
        <p:sp>
          <p:nvSpPr>
            <p:cNvPr id="8" name="Diamond 7"/>
            <p:cNvSpPr/>
            <p:nvPr/>
          </p:nvSpPr>
          <p:spPr>
            <a:xfrm>
              <a:off x="457200" y="4015777"/>
              <a:ext cx="1200000" cy="500000"/>
            </a:xfrm>
            <a:prstGeom prst="diamon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さらに分岐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57200" y="4390777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57200" y="4346954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ケース2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057200" y="424386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ケース3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1c. フローチャート— リンク種別・ラベルデモ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2064600" y="4015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処理3</a:t>
            </a:r>
          </a:p>
        </p:txBody>
      </p:sp>
      <p:sp>
        <p:nvSpPr>
          <p:cNvPr id="8" name="Rectangle 7"/>
          <p:cNvSpPr/>
          <p:nvPr/>
        </p:nvSpPr>
        <p:spPr>
          <a:xfrm>
            <a:off x="20646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丸端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794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79400" y="294218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79400" y="428417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794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4" name="Connector 13"/>
          <p:cNvCxnSpPr>
            <a:stCxn id="4" idx="2"/>
            <a:endCxn id="5" idx="0"/>
          </p:cNvCxnSpPr>
          <p:nvPr/>
        </p:nvCxnSpPr>
        <p:spPr>
          <a:xfrm>
            <a:off x="2664600" y="2100200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2"/>
            <a:endCxn id="6" idx="0"/>
          </p:cNvCxnSpPr>
          <p:nvPr/>
        </p:nvCxnSpPr>
        <p:spPr>
          <a:xfrm>
            <a:off x="2664600" y="2905392"/>
            <a:ext cx="0" cy="305193"/>
          </a:xfrm>
          <a:prstGeom prst="curvedConnector3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6" idx="2"/>
            <a:endCxn id="7" idx="0"/>
          </p:cNvCxnSpPr>
          <p:nvPr/>
        </p:nvCxnSpPr>
        <p:spPr>
          <a:xfrm>
            <a:off x="2664600" y="3710585"/>
            <a:ext cx="0" cy="305192"/>
          </a:xfrm>
          <a:prstGeom prst="curvedConnector3">
            <a:avLst/>
          </a:prstGeom>
          <a:ln w="38100"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7" idx="2"/>
            <a:endCxn id="8" idx="0"/>
          </p:cNvCxnSpPr>
          <p:nvPr/>
        </p:nvCxnSpPr>
        <p:spPr>
          <a:xfrm>
            <a:off x="2664600" y="4515777"/>
            <a:ext cx="0" cy="305193"/>
          </a:xfrm>
          <a:prstGeom prst="curvedConnector3">
            <a:avLst/>
          </a:prstGeom>
          <a:ln>
            <a:head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8" idx="2"/>
            <a:endCxn id="9" idx="0"/>
          </p:cNvCxnSpPr>
          <p:nvPr/>
        </p:nvCxnSpPr>
        <p:spPr>
          <a:xfrm>
            <a:off x="2664600" y="5320970"/>
            <a:ext cx="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9" idx="0"/>
            <a:endCxn id="10" idx="2"/>
          </p:cNvCxnSpPr>
          <p:nvPr/>
        </p:nvCxnSpPr>
        <p:spPr>
          <a:xfrm flipV="1">
            <a:off x="2664600" y="2100200"/>
            <a:ext cx="3814800" cy="3525963"/>
          </a:xfrm>
          <a:prstGeom prst="curvedConnector3">
            <a:avLst/>
          </a:prstGeom>
          <a:ln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2"/>
            <a:endCxn id="11" idx="0"/>
          </p:cNvCxnSpPr>
          <p:nvPr/>
        </p:nvCxnSpPr>
        <p:spPr>
          <a:xfrm>
            <a:off x="6479400" y="2100200"/>
            <a:ext cx="0" cy="841987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2"/>
            <a:endCxn id="12" idx="0"/>
          </p:cNvCxnSpPr>
          <p:nvPr/>
        </p:nvCxnSpPr>
        <p:spPr>
          <a:xfrm>
            <a:off x="6479400" y="3442187"/>
            <a:ext cx="0" cy="841988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2"/>
            <a:endCxn id="13" idx="0"/>
          </p:cNvCxnSpPr>
          <p:nvPr/>
        </p:nvCxnSpPr>
        <p:spPr>
          <a:xfrm>
            <a:off x="6479400" y="4784175"/>
            <a:ext cx="0" cy="841988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2064600" y="1600200"/>
            <a:ext cx="1200000" cy="625000"/>
            <a:chOff x="2064600" y="1600200"/>
            <a:chExt cx="1200000" cy="625000"/>
          </a:xfrm>
        </p:grpSpPr>
        <p:sp>
          <p:nvSpPr>
            <p:cNvPr id="4" name="Rounded Rectangle 3"/>
            <p:cNvSpPr/>
            <p:nvPr/>
          </p:nvSpPr>
          <p:spPr>
            <a:xfrm>
              <a:off x="2064600" y="1600200"/>
              <a:ext cx="1200000" cy="500000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開始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064600" y="197520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通常矢印</a:t>
              </a:r>
            </a:p>
          </p:txBody>
        </p:sp>
      </p:grpSp>
      <p:grpSp>
        <p:grpSpPr>
          <a:xfrm>
            <a:off x="2064600" y="2405392"/>
            <a:ext cx="1200000" cy="625000"/>
            <a:chOff x="2064600" y="2405392"/>
            <a:chExt cx="1200000" cy="625000"/>
          </a:xfrm>
        </p:grpSpPr>
        <p:sp>
          <p:nvSpPr>
            <p:cNvPr id="5" name="Rectangle 4"/>
            <p:cNvSpPr/>
            <p:nvPr/>
          </p:nvSpPr>
          <p:spPr>
            <a:xfrm>
              <a:off x="2064600" y="2405392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処理1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064600" y="2780392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点線矢印</a:t>
              </a:r>
            </a:p>
          </p:txBody>
        </p:sp>
      </p:grpSp>
      <p:grpSp>
        <p:grpSpPr>
          <a:xfrm>
            <a:off x="2064600" y="3210585"/>
            <a:ext cx="1200000" cy="625000"/>
            <a:chOff x="2064600" y="3210585"/>
            <a:chExt cx="1200000" cy="625000"/>
          </a:xfrm>
        </p:grpSpPr>
        <p:sp>
          <p:nvSpPr>
            <p:cNvPr id="6" name="Rectangle 5"/>
            <p:cNvSpPr/>
            <p:nvPr/>
          </p:nvSpPr>
          <p:spPr>
            <a:xfrm>
              <a:off x="2064600" y="3210585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処理2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064600" y="358558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太線矢印</a:t>
              </a:r>
            </a:p>
          </p:txBody>
        </p:sp>
      </p:grpSp>
      <p:grpSp>
        <p:grpSpPr>
          <a:xfrm>
            <a:off x="2064600" y="5501164"/>
            <a:ext cx="1436887" cy="624999"/>
            <a:chOff x="2064600" y="5501164"/>
            <a:chExt cx="1436887" cy="624999"/>
          </a:xfrm>
        </p:grpSpPr>
        <p:sp>
          <p:nvSpPr>
            <p:cNvPr id="9" name="Rectangle 8"/>
            <p:cNvSpPr/>
            <p:nvPr/>
          </p:nvSpPr>
          <p:spPr>
            <a:xfrm>
              <a:off x="2064600" y="5626163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×端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2301487" y="5501164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両方向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2a. シーケンス図 - 基本（autonumber・activate・Note）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59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ユーザー</a:t>
            </a:r>
          </a:p>
        </p:txBody>
      </p:sp>
      <p:sp>
        <p:nvSpPr>
          <p:cNvPr id="5" name="Rectangle 4"/>
          <p:cNvSpPr/>
          <p:nvPr/>
        </p:nvSpPr>
        <p:spPr>
          <a:xfrm>
            <a:off x="29433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クライアント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50007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サーバー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70581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データベース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4859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433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007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581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17200" y="4122142"/>
            <a:ext cx="8109600" cy="1595320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7200" y="4122142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alt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7200" y="4122142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[認証成功]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7200" y="5059802"/>
            <a:ext cx="8109600" cy="0"/>
          </a:xfrm>
          <a:prstGeom prst="line">
            <a:avLst/>
          </a:prstGeom>
          <a:ln w="12700">
            <a:solidFill>
              <a:srgbClr val="6464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57200" y="5059802"/>
            <a:ext cx="75696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3C3C8C"/>
                </a:solidFill>
              </a:rPr>
              <a:t>[認証失敗]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8100" y="3464482"/>
            <a:ext cx="140000" cy="411037"/>
          </a:xfrm>
          <a:prstGeom prst="rect">
            <a:avLst/>
          </a:prstGeom>
          <a:solidFill>
            <a:srgbClr val="C8DCFF"/>
          </a:solidFill>
          <a:ln w="9525">
            <a:solidFill>
              <a:srgbClr val="648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30700" y="2673445"/>
            <a:ext cx="140000" cy="1810904"/>
          </a:xfrm>
          <a:prstGeom prst="rect">
            <a:avLst/>
          </a:prstGeom>
          <a:solidFill>
            <a:srgbClr val="C8DCFF"/>
          </a:solidFill>
          <a:ln w="9525">
            <a:solidFill>
              <a:srgbClr val="648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485900" y="2344615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485900" y="2124615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1. ログインボタン押下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543300" y="2673445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43300" y="2453445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2. 認証リクエスト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00700" y="3464482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00700" y="324448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3. ユーザー照会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600700" y="379331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00700" y="357331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4. ユーザー情報返却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3543300" y="440214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543300" y="418214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5. 認証トークン発行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1485900" y="473097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485900" y="451097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6. ログイン完了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3543300" y="5059802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543300" y="483980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7. 認証エラー ✕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1485900" y="538863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485900" y="516863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8. エラーメッセージ表示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80700" y="3002275"/>
            <a:ext cx="1300000" cy="380000"/>
          </a:xfrm>
          <a:prstGeom prst="rect">
            <a:avLst/>
          </a:prstGeom>
          <a:solidFill>
            <a:srgbClr val="FFFDAD"/>
          </a:solidFill>
          <a:ln>
            <a:solidFill>
              <a:srgbClr val="C8BE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/>
              <a:t>セッション確認中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457200" y="2359561"/>
            <a:ext cx="8229600" cy="1356169"/>
          </a:xfrm>
          <a:prstGeom prst="rect">
            <a:avLst/>
          </a:prstGeom>
          <a:solidFill>
            <a:srgbClr val="C8F0FF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2b. シーケンス図 - フレーム（loop・par・rect背景）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288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クライアント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20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サーバー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67152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データベース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288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5720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3152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517200" y="2718284"/>
            <a:ext cx="8109600" cy="997446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7200" y="2718284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loop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7200" y="2718284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[リトライ（最大3回）]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7200" y="3715730"/>
            <a:ext cx="8109600" cy="997446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7200" y="3715730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par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7200" y="3715730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[非同期通知]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17200" y="4354453"/>
            <a:ext cx="8109600" cy="0"/>
          </a:xfrm>
          <a:prstGeom prst="line">
            <a:avLst/>
          </a:prstGeom>
          <a:ln w="12700">
            <a:solidFill>
              <a:srgbClr val="6464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57200" y="4354453"/>
            <a:ext cx="75696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3C3C8C"/>
                </a:solidFill>
              </a:rPr>
              <a:t>[非同期ログ]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28800" y="2359561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828800" y="2139561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リクエスト送信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0" y="2998284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0" y="2778284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クエリ実行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4572000" y="3357007"/>
            <a:ext cx="27432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572000" y="3137007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結果返却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1828800" y="3995730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828800" y="3775730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完了通知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0" y="4354453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572000" y="4134453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ログ書き込み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828800" y="5182856"/>
            <a:ext cx="0" cy="300000"/>
          </a:xfrm>
          <a:prstGeom prst="bentConnector3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888800" y="4982856"/>
            <a:ext cx="74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内部状態更新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28800" y="4713176"/>
            <a:ext cx="3943200" cy="380000"/>
          </a:xfrm>
          <a:prstGeom prst="rect">
            <a:avLst/>
          </a:prstGeom>
          <a:solidFill>
            <a:srgbClr val="FFFDAD"/>
          </a:solidFill>
          <a:ln>
            <a:solidFill>
              <a:srgbClr val="C8BE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/>
              <a:t>処理完了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ガントチャート（Gantt Diagram）— 全タグ・after参照デモ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51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</a:tblGrid>
              <a:tr h="377163"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タスク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01/01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01/08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01/15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01/22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01/29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02/05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02/12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02/19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02/26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設計フェーズ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要件定義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基本設計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詳細設計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実装フェーズ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コーディング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コードレビュー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テスト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リリース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ステージング確認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本番デプロイ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5" name="Right Arrow 4"/>
          <p:cNvSpPr/>
          <p:nvPr/>
        </p:nvSpPr>
        <p:spPr>
          <a:xfrm>
            <a:off x="2396093" y="2411100"/>
            <a:ext cx="641909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ight Arrow 5"/>
          <p:cNvSpPr/>
          <p:nvPr/>
        </p:nvSpPr>
        <p:spPr>
          <a:xfrm>
            <a:off x="3038002" y="2788263"/>
            <a:ext cx="898672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ight Arrow 6"/>
          <p:cNvSpPr/>
          <p:nvPr/>
        </p:nvSpPr>
        <p:spPr>
          <a:xfrm>
            <a:off x="3936674" y="3165426"/>
            <a:ext cx="641909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ight Arrow 7"/>
          <p:cNvSpPr/>
          <p:nvPr/>
        </p:nvSpPr>
        <p:spPr>
          <a:xfrm>
            <a:off x="4578583" y="3919752"/>
            <a:ext cx="1797345" cy="264014"/>
          </a:xfrm>
          <a:prstGeom prst="rightArrow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ight Arrow 8"/>
          <p:cNvSpPr/>
          <p:nvPr/>
        </p:nvSpPr>
        <p:spPr>
          <a:xfrm>
            <a:off x="6375928" y="4296915"/>
            <a:ext cx="385145" cy="264014"/>
          </a:xfrm>
          <a:prstGeom prst="rightArrow">
            <a:avLst/>
          </a:prstGeom>
          <a:solidFill>
            <a:srgbClr val="DC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ight Arrow 9"/>
          <p:cNvSpPr/>
          <p:nvPr/>
        </p:nvSpPr>
        <p:spPr>
          <a:xfrm>
            <a:off x="6375928" y="4674078"/>
            <a:ext cx="898672" cy="264014"/>
          </a:xfrm>
          <a:prstGeom prst="rightArrow">
            <a:avLst/>
          </a:prstGeom>
          <a:solidFill>
            <a:srgbClr val="64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ight Arrow 10"/>
          <p:cNvSpPr/>
          <p:nvPr/>
        </p:nvSpPr>
        <p:spPr>
          <a:xfrm>
            <a:off x="6761073" y="5428404"/>
            <a:ext cx="256764" cy="264014"/>
          </a:xfrm>
          <a:prstGeom prst="rightArrow">
            <a:avLst/>
          </a:prstGeom>
          <a:solidFill>
            <a:srgbClr val="DC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Diamond 11"/>
          <p:cNvSpPr/>
          <p:nvPr/>
        </p:nvSpPr>
        <p:spPr>
          <a:xfrm>
            <a:off x="8416982" y="5796138"/>
            <a:ext cx="282872" cy="282872"/>
          </a:xfrm>
          <a:prstGeom prst="diamond">
            <a:avLst/>
          </a:prstGeom>
          <a:solidFill>
            <a:srgbClr val="DCA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クラス図（Class Diagram）- 全接続タイプ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pSp>
        <p:nvGrpSpPr>
          <p:cNvPr id="7" name="Group 6"/>
          <p:cNvGrpSpPr/>
          <p:nvPr/>
        </p:nvGrpSpPr>
        <p:grpSpPr>
          <a:xfrm>
            <a:off x="457200" y="1600200"/>
            <a:ext cx="1700000" cy="1080000"/>
            <a:chOff x="457200" y="1600200"/>
            <a:chExt cx="1700000" cy="1080000"/>
          </a:xfrm>
        </p:grpSpPr>
        <p:sp>
          <p:nvSpPr>
            <p:cNvPr id="4" name="Rectangle 3"/>
            <p:cNvSpPr/>
            <p:nvPr/>
          </p:nvSpPr>
          <p:spPr>
            <a:xfrm>
              <a:off x="4572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Vehicle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4572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make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4572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+drive() : void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3722000" y="1600200"/>
            <a:ext cx="1700000" cy="1080000"/>
            <a:chOff x="3722000" y="1600200"/>
            <a:chExt cx="1700000" cy="1080000"/>
          </a:xfrm>
        </p:grpSpPr>
        <p:sp>
          <p:nvSpPr>
            <p:cNvPr id="8" name="Rectangle 7"/>
            <p:cNvSpPr/>
            <p:nvPr/>
          </p:nvSpPr>
          <p:spPr>
            <a:xfrm>
              <a:off x="37220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Car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7220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doors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7220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+honk() : void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6986800" y="1600200"/>
            <a:ext cx="1700000" cy="1080000"/>
            <a:chOff x="6986800" y="1600200"/>
            <a:chExt cx="1700000" cy="1080000"/>
          </a:xfrm>
        </p:grpSpPr>
        <p:sp>
          <p:nvSpPr>
            <p:cNvPr id="12" name="Rectangle 11"/>
            <p:cNvSpPr/>
            <p:nvPr/>
          </p:nvSpPr>
          <p:spPr>
            <a:xfrm>
              <a:off x="69868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Engine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868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cylinders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9868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+ignite() : void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457200" y="3323181"/>
            <a:ext cx="1700000" cy="1080000"/>
            <a:chOff x="457200" y="3323181"/>
            <a:chExt cx="1700000" cy="1080000"/>
          </a:xfrm>
        </p:grpSpPr>
        <p:sp>
          <p:nvSpPr>
            <p:cNvPr id="16" name="Rectangle 15"/>
            <p:cNvSpPr/>
            <p:nvPr/>
          </p:nvSpPr>
          <p:spPr>
            <a:xfrm>
              <a:off x="4572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Wheel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572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size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572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3722000" y="3323181"/>
            <a:ext cx="1700000" cy="1080000"/>
            <a:chOff x="3722000" y="3323181"/>
            <a:chExt cx="1700000" cy="1080000"/>
          </a:xfrm>
        </p:grpSpPr>
        <p:sp>
          <p:nvSpPr>
            <p:cNvPr id="20" name="Rectangle 19"/>
            <p:cNvSpPr/>
            <p:nvPr/>
          </p:nvSpPr>
          <p:spPr>
            <a:xfrm>
              <a:off x="37220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Driver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7220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name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7220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+operate() : void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6986800" y="3323181"/>
            <a:ext cx="1700000" cy="1080000"/>
            <a:chOff x="6986800" y="3323181"/>
            <a:chExt cx="1700000" cy="1080000"/>
          </a:xfrm>
        </p:grpSpPr>
        <p:sp>
          <p:nvSpPr>
            <p:cNvPr id="24" name="Rectangle 23"/>
            <p:cNvSpPr/>
            <p:nvPr/>
          </p:nvSpPr>
          <p:spPr>
            <a:xfrm>
              <a:off x="69868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ILogger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9868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9868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+log() : void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457200" y="5046163"/>
            <a:ext cx="1700000" cy="1080000"/>
            <a:chOff x="457200" y="5046163"/>
            <a:chExt cx="1700000" cy="1080000"/>
          </a:xfrm>
        </p:grpSpPr>
        <p:sp>
          <p:nvSpPr>
            <p:cNvPr id="28" name="Rectangle 27"/>
            <p:cNvSpPr/>
            <p:nvPr/>
          </p:nvSpPr>
          <p:spPr>
            <a:xfrm>
              <a:off x="4572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Fuel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572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572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3722000" y="5046163"/>
            <a:ext cx="1700000" cy="1080000"/>
            <a:chOff x="3722000" y="5046163"/>
            <a:chExt cx="1700000" cy="1080000"/>
          </a:xfrm>
        </p:grpSpPr>
        <p:sp>
          <p:nvSpPr>
            <p:cNvPr id="32" name="Rectangle 31"/>
            <p:cNvSpPr/>
            <p:nvPr/>
          </p:nvSpPr>
          <p:spPr>
            <a:xfrm>
              <a:off x="37220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GPS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7220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7220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cxnSp>
        <p:nvCxnSpPr>
          <p:cNvPr id="36" name="Connector 35"/>
          <p:cNvCxnSpPr>
            <a:stCxn id="4" idx="1"/>
            <a:endCxn id="8" idx="3"/>
          </p:cNvCxnSpPr>
          <p:nvPr/>
        </p:nvCxnSpPr>
        <p:spPr>
          <a:xfrm>
            <a:off x="457200" y="1820200"/>
            <a:ext cx="4964800" cy="0"/>
          </a:xfrm>
          <a:prstGeom prst="curvedConnector3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8" idx="1"/>
            <a:endCxn id="12" idx="3"/>
          </p:cNvCxnSpPr>
          <p:nvPr/>
        </p:nvCxnSpPr>
        <p:spPr>
          <a:xfrm>
            <a:off x="3722000" y="1820200"/>
            <a:ext cx="4964800" cy="0"/>
          </a:xfrm>
          <a:prstGeom prst="curvedConnector3">
            <a:avLst/>
          </a:prstGeom>
          <a:ln>
            <a:tailEnd type="diamond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8" idx="3"/>
            <a:endCxn id="16" idx="1"/>
          </p:cNvCxnSpPr>
          <p:nvPr/>
        </p:nvCxnSpPr>
        <p:spPr>
          <a:xfrm flipH="1">
            <a:off x="457200" y="1820200"/>
            <a:ext cx="4964800" cy="1722981"/>
          </a:xfrm>
          <a:prstGeom prst="curvedConnector3">
            <a:avLst/>
          </a:prstGeom>
          <a:ln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0" idx="0"/>
            <a:endCxn id="8" idx="2"/>
          </p:cNvCxnSpPr>
          <p:nvPr/>
        </p:nvCxnSpPr>
        <p:spPr>
          <a:xfrm flipV="1">
            <a:off x="4572000" y="2040200"/>
            <a:ext cx="0" cy="128298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0" idx="2"/>
            <a:endCxn id="32" idx="0"/>
          </p:cNvCxnSpPr>
          <p:nvPr/>
        </p:nvCxnSpPr>
        <p:spPr>
          <a:xfrm>
            <a:off x="4572000" y="3763181"/>
            <a:ext cx="0" cy="1282982"/>
          </a:xfrm>
          <a:prstGeom prst="curvedConnector3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stCxn id="20" idx="3"/>
            <a:endCxn id="28" idx="1"/>
          </p:cNvCxnSpPr>
          <p:nvPr/>
        </p:nvCxnSpPr>
        <p:spPr>
          <a:xfrm flipH="1">
            <a:off x="457200" y="3543181"/>
            <a:ext cx="4964800" cy="1722982"/>
          </a:xfrm>
          <a:prstGeom prst="curvedConnector3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8" idx="1"/>
            <a:endCxn id="24" idx="3"/>
          </p:cNvCxnSpPr>
          <p:nvPr/>
        </p:nvCxnSpPr>
        <p:spPr>
          <a:xfrm>
            <a:off x="3722000" y="1820200"/>
            <a:ext cx="4964800" cy="1722981"/>
          </a:xfrm>
          <a:prstGeom prst="curvedConnector3">
            <a:avLst/>
          </a:prstGeom>
          <a:ln>
            <a:prstDash val="dash"/>
            <a:head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>
            <a:stCxn id="32" idx="3"/>
            <a:endCxn id="28" idx="1"/>
          </p:cNvCxnSpPr>
          <p:nvPr/>
        </p:nvCxnSpPr>
        <p:spPr>
          <a:xfrm flipH="1">
            <a:off x="457200" y="5266163"/>
            <a:ext cx="4964800" cy="0"/>
          </a:xfrm>
          <a:prstGeom prst="curvedConnector3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5a. 状態図（State Diagram） - 通常状態・開始/終了・遷移ラベルのデモ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Oval 3"/>
          <p:cNvSpPr/>
          <p:nvPr/>
        </p:nvSpPr>
        <p:spPr>
          <a:xfrm>
            <a:off x="4382000" y="1861498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7135320" y="4519023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完了</a:t>
            </a:r>
          </a:p>
        </p:txBody>
      </p:sp>
      <p:sp>
        <p:nvSpPr>
          <p:cNvPr id="9" name="Oval 8"/>
          <p:cNvSpPr/>
          <p:nvPr/>
        </p:nvSpPr>
        <p:spPr>
          <a:xfrm>
            <a:off x="4347000" y="5449864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447000" y="5549864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" name="Connector 10"/>
          <p:cNvCxnSpPr>
            <a:stCxn id="4" idx="2"/>
            <a:endCxn id="5" idx="0"/>
          </p:cNvCxnSpPr>
          <p:nvPr/>
        </p:nvCxnSpPr>
        <p:spPr>
          <a:xfrm>
            <a:off x="4572000" y="2241498"/>
            <a:ext cx="0" cy="46584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5" idx="2"/>
            <a:endCxn id="6" idx="0"/>
          </p:cNvCxnSpPr>
          <p:nvPr/>
        </p:nvCxnSpPr>
        <p:spPr>
          <a:xfrm>
            <a:off x="4572000" y="3207339"/>
            <a:ext cx="0" cy="4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6" idx="1"/>
            <a:endCxn id="7" idx="3"/>
          </p:cNvCxnSpPr>
          <p:nvPr/>
        </p:nvCxnSpPr>
        <p:spPr>
          <a:xfrm>
            <a:off x="3972000" y="3863181"/>
            <a:ext cx="4363320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6" idx="3"/>
            <a:endCxn id="8" idx="1"/>
          </p:cNvCxnSpPr>
          <p:nvPr/>
        </p:nvCxnSpPr>
        <p:spPr>
          <a:xfrm flipH="1">
            <a:off x="808679" y="3863181"/>
            <a:ext cx="4363321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8" idx="1"/>
            <a:endCxn id="5" idx="3"/>
          </p:cNvCxnSpPr>
          <p:nvPr/>
        </p:nvCxnSpPr>
        <p:spPr>
          <a:xfrm flipV="1">
            <a:off x="808679" y="2957339"/>
            <a:ext cx="4363321" cy="1811684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7" idx="3"/>
            <a:endCxn id="9" idx="1"/>
          </p:cNvCxnSpPr>
          <p:nvPr/>
        </p:nvCxnSpPr>
        <p:spPr>
          <a:xfrm flipH="1">
            <a:off x="4347000" y="4769023"/>
            <a:ext cx="3988320" cy="90584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3972000" y="2707339"/>
            <a:ext cx="1200000" cy="625000"/>
            <a:chOff x="3972000" y="2707339"/>
            <a:chExt cx="1200000" cy="625000"/>
          </a:xfrm>
        </p:grpSpPr>
        <p:sp>
          <p:nvSpPr>
            <p:cNvPr id="5" name="Rounded Rectangle 4"/>
            <p:cNvSpPr/>
            <p:nvPr/>
          </p:nvSpPr>
          <p:spPr>
            <a:xfrm>
              <a:off x="3972000" y="2707339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待機中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972000" y="3082339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開始</a:t>
              </a:r>
            </a:p>
          </p:txBody>
        </p:sp>
      </p:grpSp>
      <p:grpSp>
        <p:grpSpPr>
          <a:xfrm>
            <a:off x="3372000" y="3613181"/>
            <a:ext cx="2400000" cy="546814"/>
            <a:chOff x="3372000" y="3613181"/>
            <a:chExt cx="2400000" cy="546814"/>
          </a:xfrm>
        </p:grpSpPr>
        <p:sp>
          <p:nvSpPr>
            <p:cNvPr id="6" name="Rounded Rectangle 5"/>
            <p:cNvSpPr/>
            <p:nvPr/>
          </p:nvSpPr>
          <p:spPr>
            <a:xfrm>
              <a:off x="3972000" y="3613181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処理中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572000" y="390999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成功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372000" y="390999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失敗</a:t>
              </a:r>
            </a:p>
          </p:txBody>
        </p:sp>
      </p:grpSp>
      <p:grpSp>
        <p:grpSpPr>
          <a:xfrm>
            <a:off x="808679" y="4394023"/>
            <a:ext cx="1636516" cy="625000"/>
            <a:chOff x="808679" y="4394023"/>
            <a:chExt cx="1636516" cy="625000"/>
          </a:xfrm>
        </p:grpSpPr>
        <p:sp>
          <p:nvSpPr>
            <p:cNvPr id="8" name="Rounded Rectangle 7"/>
            <p:cNvSpPr/>
            <p:nvPr/>
          </p:nvSpPr>
          <p:spPr>
            <a:xfrm>
              <a:off x="808679" y="4519023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エラー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245195" y="439402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リトライ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5b. 状態図 - 並行（並列）・ノート・LR方向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272000" y="2188180"/>
            <a:ext cx="4600000" cy="2420000"/>
          </a:xfrm>
          <a:prstGeom prst="roundRect">
            <a:avLst/>
          </a:prstGeom>
          <a:solidFill>
            <a:srgbClr val="E6F0FF"/>
          </a:solidFill>
          <a:ln>
            <a:solidFill>
              <a:srgbClr val="4664a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2872000" y="2653181"/>
            <a:ext cx="3400000" cy="2420000"/>
          </a:xfrm>
          <a:prstGeom prst="roundRect">
            <a:avLst/>
          </a:prstGeom>
          <a:solidFill>
            <a:srgbClr val="EEF4FF"/>
          </a:solidFill>
          <a:ln>
            <a:solidFill>
              <a:srgbClr val="466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2872000" y="2653181"/>
            <a:ext cx="34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4664AA"/>
                </a:solidFill>
              </a:rPr>
              <a:t>Active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72000" y="3538181"/>
            <a:ext cx="4600000" cy="2420000"/>
          </a:xfrm>
          <a:prstGeom prst="roundRect">
            <a:avLst/>
          </a:prstGeom>
          <a:solidFill>
            <a:srgbClr val="E6F0FF"/>
          </a:solidFill>
          <a:ln>
            <a:solidFill>
              <a:srgbClr val="4664a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218679" y="3673181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510320" y="3638181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7610320" y="3738181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2761999" y="3418180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2761999" y="4768181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422000" y="3613181"/>
            <a:ext cx="1200000" cy="500000"/>
          </a:xfrm>
          <a:prstGeom prst="rect">
            <a:avLst/>
          </a:prstGeom>
          <a:solidFill>
            <a:srgbClr val="FFFDC8"/>
          </a:solidFill>
          <a:ln>
            <a:solidFill>
              <a:srgbClr val="A0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>
                <a:solidFill>
                  <a:srgbClr val="000000"/>
                </a:solidFill>
              </a:rPr>
              <a:t>キーボードの並行状態</a:t>
            </a:r>
          </a:p>
        </p:txBody>
      </p:sp>
      <p:cxnSp>
        <p:nvCxnSpPr>
          <p:cNvPr id="18" name="Connector 17"/>
          <p:cNvCxnSpPr>
            <a:stCxn id="8" idx="1"/>
            <a:endCxn id="5" idx="3"/>
          </p:cNvCxnSpPr>
          <p:nvPr/>
        </p:nvCxnSpPr>
        <p:spPr>
          <a:xfrm>
            <a:off x="1218679" y="3863181"/>
            <a:ext cx="5053321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11" idx="1"/>
            <a:endCxn id="12" idx="3"/>
          </p:cNvCxnSpPr>
          <p:nvPr/>
        </p:nvCxnSpPr>
        <p:spPr>
          <a:xfrm>
            <a:off x="2761999" y="3608180"/>
            <a:ext cx="2410001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12" idx="1"/>
            <a:endCxn id="13" idx="3"/>
          </p:cNvCxnSpPr>
          <p:nvPr/>
        </p:nvCxnSpPr>
        <p:spPr>
          <a:xfrm>
            <a:off x="3972000" y="3608180"/>
            <a:ext cx="28200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13" idx="3"/>
            <a:endCxn id="12" idx="1"/>
          </p:cNvCxnSpPr>
          <p:nvPr/>
        </p:nvCxnSpPr>
        <p:spPr>
          <a:xfrm flipH="1">
            <a:off x="3972000" y="3608180"/>
            <a:ext cx="28200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4" idx="1"/>
            <a:endCxn id="15" idx="3"/>
          </p:cNvCxnSpPr>
          <p:nvPr/>
        </p:nvCxnSpPr>
        <p:spPr>
          <a:xfrm>
            <a:off x="2761999" y="4958181"/>
            <a:ext cx="2410001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5" idx="1"/>
            <a:endCxn id="16" idx="3"/>
          </p:cNvCxnSpPr>
          <p:nvPr/>
        </p:nvCxnSpPr>
        <p:spPr>
          <a:xfrm>
            <a:off x="3972000" y="4958181"/>
            <a:ext cx="28200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6" idx="3"/>
            <a:endCxn id="15" idx="1"/>
          </p:cNvCxnSpPr>
          <p:nvPr/>
        </p:nvCxnSpPr>
        <p:spPr>
          <a:xfrm flipH="1">
            <a:off x="3972000" y="4958181"/>
            <a:ext cx="28200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5" idx="1"/>
            <a:endCxn id="9" idx="3"/>
          </p:cNvCxnSpPr>
          <p:nvPr/>
        </p:nvCxnSpPr>
        <p:spPr>
          <a:xfrm>
            <a:off x="2872000" y="3863181"/>
            <a:ext cx="50883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3972000" y="3358180"/>
            <a:ext cx="1800000" cy="500000"/>
            <a:chOff x="3972000" y="3358180"/>
            <a:chExt cx="1800000" cy="500000"/>
          </a:xfrm>
        </p:grpSpPr>
        <p:sp>
          <p:nvSpPr>
            <p:cNvPr id="12" name="Rounded Rectangle 11"/>
            <p:cNvSpPr/>
            <p:nvPr/>
          </p:nvSpPr>
          <p:spPr>
            <a:xfrm>
              <a:off x="3972000" y="3358180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NumLockOff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572000" y="348318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NumLock押す</a:t>
              </a:r>
            </a:p>
          </p:txBody>
        </p:sp>
      </p:grpSp>
      <p:grpSp>
        <p:grpSpPr>
          <a:xfrm>
            <a:off x="4992000" y="3358180"/>
            <a:ext cx="1800000" cy="500000"/>
            <a:chOff x="4992000" y="3358180"/>
            <a:chExt cx="1800000" cy="500000"/>
          </a:xfrm>
        </p:grpSpPr>
        <p:sp>
          <p:nvSpPr>
            <p:cNvPr id="13" name="Rounded Rectangle 12"/>
            <p:cNvSpPr/>
            <p:nvPr/>
          </p:nvSpPr>
          <p:spPr>
            <a:xfrm>
              <a:off x="5592000" y="3358180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NumLockOn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992000" y="348318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NumLock押す</a:t>
              </a:r>
            </a:p>
          </p:txBody>
        </p:sp>
      </p:grpSp>
      <p:grpSp>
        <p:grpSpPr>
          <a:xfrm>
            <a:off x="3972000" y="4708181"/>
            <a:ext cx="1800000" cy="500000"/>
            <a:chOff x="3972000" y="4708181"/>
            <a:chExt cx="1800000" cy="500000"/>
          </a:xfrm>
        </p:grpSpPr>
        <p:sp>
          <p:nvSpPr>
            <p:cNvPr id="15" name="Rounded Rectangle 14"/>
            <p:cNvSpPr/>
            <p:nvPr/>
          </p:nvSpPr>
          <p:spPr>
            <a:xfrm>
              <a:off x="3972000" y="4708181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CapsLockOff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572000" y="4833181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CapsLock押す</a:t>
              </a:r>
            </a:p>
          </p:txBody>
        </p:sp>
      </p:grpSp>
      <p:grpSp>
        <p:grpSpPr>
          <a:xfrm>
            <a:off x="4992000" y="4708181"/>
            <a:ext cx="1800000" cy="500000"/>
            <a:chOff x="4992000" y="4708181"/>
            <a:chExt cx="1800000" cy="500000"/>
          </a:xfrm>
        </p:grpSpPr>
        <p:sp>
          <p:nvSpPr>
            <p:cNvPr id="16" name="Rounded Rectangle 15"/>
            <p:cNvSpPr/>
            <p:nvPr/>
          </p:nvSpPr>
          <p:spPr>
            <a:xfrm>
              <a:off x="5592000" y="4708181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CapsLockOn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992000" y="4833181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CapsLock押す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5c. 状態図 - 分岐（choice）・複合状態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872000" y="3559023"/>
            <a:ext cx="3400000" cy="2420000"/>
          </a:xfrm>
          <a:prstGeom prst="roundRect">
            <a:avLst/>
          </a:prstGeom>
          <a:solidFill>
            <a:srgbClr val="EEF4FF"/>
          </a:solidFill>
          <a:ln>
            <a:solidFill>
              <a:srgbClr val="466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872000" y="3559023"/>
            <a:ext cx="34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4664AA"/>
                </a:solidFill>
              </a:rPr>
              <a:t>VehicleState</a:t>
            </a:r>
          </a:p>
        </p:txBody>
      </p:sp>
      <p:sp>
        <p:nvSpPr>
          <p:cNvPr id="6" name="Oval 5"/>
          <p:cNvSpPr/>
          <p:nvPr/>
        </p:nvSpPr>
        <p:spPr>
          <a:xfrm>
            <a:off x="4382000" y="1861498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8679" y="3613181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Fast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5320" y="3613181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Slow</a:t>
            </a:r>
          </a:p>
        </p:txBody>
      </p:sp>
      <p:sp>
        <p:nvSpPr>
          <p:cNvPr id="10" name="Oval 9"/>
          <p:cNvSpPr/>
          <p:nvPr/>
        </p:nvSpPr>
        <p:spPr>
          <a:xfrm>
            <a:off x="4347000" y="5449864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447000" y="5549864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4" name="Connector 13"/>
          <p:cNvCxnSpPr>
            <a:stCxn id="6" idx="2"/>
            <a:endCxn id="7" idx="0"/>
          </p:cNvCxnSpPr>
          <p:nvPr/>
        </p:nvCxnSpPr>
        <p:spPr>
          <a:xfrm>
            <a:off x="4572000" y="2241498"/>
            <a:ext cx="0" cy="46584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7" idx="3"/>
            <a:endCxn id="8" idx="1"/>
          </p:cNvCxnSpPr>
          <p:nvPr/>
        </p:nvCxnSpPr>
        <p:spPr>
          <a:xfrm flipH="1">
            <a:off x="808679" y="2957339"/>
            <a:ext cx="4363321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7" idx="1"/>
            <a:endCxn id="9" idx="3"/>
          </p:cNvCxnSpPr>
          <p:nvPr/>
        </p:nvCxnSpPr>
        <p:spPr>
          <a:xfrm>
            <a:off x="3972000" y="2957339"/>
            <a:ext cx="4363320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12" idx="2"/>
            <a:endCxn id="13" idx="0"/>
          </p:cNvCxnSpPr>
          <p:nvPr/>
        </p:nvCxnSpPr>
        <p:spPr>
          <a:xfrm>
            <a:off x="4572000" y="4554022"/>
            <a:ext cx="0" cy="85000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13" idx="0"/>
            <a:endCxn id="12" idx="2"/>
          </p:cNvCxnSpPr>
          <p:nvPr/>
        </p:nvCxnSpPr>
        <p:spPr>
          <a:xfrm flipV="1">
            <a:off x="4572000" y="4554022"/>
            <a:ext cx="0" cy="85000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8" idx="1"/>
            <a:endCxn id="4" idx="3"/>
          </p:cNvCxnSpPr>
          <p:nvPr/>
        </p:nvCxnSpPr>
        <p:spPr>
          <a:xfrm>
            <a:off x="808679" y="3863181"/>
            <a:ext cx="5463321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9" idx="3"/>
            <a:endCxn id="4" idx="1"/>
          </p:cNvCxnSpPr>
          <p:nvPr/>
        </p:nvCxnSpPr>
        <p:spPr>
          <a:xfrm flipH="1">
            <a:off x="2872000" y="3863181"/>
            <a:ext cx="5463320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4" idx="2"/>
            <a:endCxn id="10" idx="0"/>
          </p:cNvCxnSpPr>
          <p:nvPr/>
        </p:nvCxnSpPr>
        <p:spPr>
          <a:xfrm flipV="1">
            <a:off x="4572000" y="5449864"/>
            <a:ext cx="0" cy="529159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3372000" y="2707339"/>
            <a:ext cx="2400000" cy="546814"/>
            <a:chOff x="3372000" y="2707339"/>
            <a:chExt cx="2400000" cy="546814"/>
          </a:xfrm>
        </p:grpSpPr>
        <p:sp>
          <p:nvSpPr>
            <p:cNvPr id="7" name="Rounded Rectangle 6"/>
            <p:cNvSpPr/>
            <p:nvPr/>
          </p:nvSpPr>
          <p:spPr>
            <a:xfrm>
              <a:off x="3972000" y="2707339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Check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372000" y="300415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speed &gt; 80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572000" y="300415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speed &lt;=80</a:t>
              </a:r>
            </a:p>
          </p:txBody>
        </p:sp>
      </p:grpSp>
      <p:grpSp>
        <p:grpSpPr>
          <a:xfrm>
            <a:off x="3972000" y="4054022"/>
            <a:ext cx="1200000" cy="625000"/>
            <a:chOff x="3972000" y="4054022"/>
            <a:chExt cx="1200000" cy="625000"/>
          </a:xfrm>
        </p:grpSpPr>
        <p:sp>
          <p:nvSpPr>
            <p:cNvPr id="12" name="Rounded Rectangle 11"/>
            <p:cNvSpPr/>
            <p:nvPr/>
          </p:nvSpPr>
          <p:spPr>
            <a:xfrm>
              <a:off x="3972000" y="4054022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Idle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972000" y="4429022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start</a:t>
              </a:r>
            </a:p>
          </p:txBody>
        </p:sp>
      </p:grpSp>
      <p:grpSp>
        <p:grpSpPr>
          <a:xfrm>
            <a:off x="3972000" y="5279023"/>
            <a:ext cx="1200000" cy="625000"/>
            <a:chOff x="3972000" y="5279023"/>
            <a:chExt cx="1200000" cy="625000"/>
          </a:xfrm>
        </p:grpSpPr>
        <p:sp>
          <p:nvSpPr>
            <p:cNvPr id="13" name="Rounded Rectangle 12"/>
            <p:cNvSpPr/>
            <p:nvPr/>
          </p:nvSpPr>
          <p:spPr>
            <a:xfrm>
              <a:off x="3972000" y="5404023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Moving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972000" y="527902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stop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ER図（Entity Relationship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pSp>
        <p:grpSpPr>
          <a:xfrm>
            <a:off x="6019516" y="4036394"/>
            <a:ext cx="2400000" cy="1889769"/>
            <a:chOff x="6019516" y="4036394"/>
            <a:chExt cx="2400000" cy="1889769"/>
          </a:xfrm>
        </p:grpSpPr>
        <p:sp>
          <p:nvSpPr>
            <p:cNvPr id="4" name="Rectangle 3"/>
            <p:cNvSpPr/>
            <p:nvPr/>
          </p:nvSpPr>
          <p:spPr>
            <a:xfrm>
              <a:off x="6019516" y="4606163"/>
              <a:ext cx="2400000" cy="1320000"/>
            </a:xfrm>
            <a:prstGeom prst="rect">
              <a:avLst/>
            </a:prstGeom>
            <a:noFill/>
            <a:ln>
              <a:solidFill>
                <a:srgbClr val="1F49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" name="Rectangle 4"/>
            <p:cNvSpPr/>
            <p:nvPr/>
          </p:nvSpPr>
          <p:spPr>
            <a:xfrm>
              <a:off x="6019516" y="4606163"/>
              <a:ext cx="2400000" cy="42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 b="1">
                  <a:solidFill>
                    <a:srgbClr val="FFFFFF"/>
                  </a:solidFill>
                </a:rPr>
                <a:t>CUSTOMER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6019516" y="5026163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int       </a:t>
              </a:r>
              <a:r>
                <a:rPr sz="900" b="1"/>
                <a:t>  id                </a:t>
              </a:r>
              <a:r>
                <a:rPr sz="800" b="1">
                  <a:solidFill>
                    <a:srgbClr val="C40000"/>
                  </a:solidFill>
                </a:rPr>
                <a:t>  PK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6019516" y="5326163"/>
              <a:ext cx="2400000" cy="300000"/>
            </a:xfrm>
            <a:prstGeom prst="rect">
              <a:avLst/>
            </a:prstGeom>
            <a:solidFill>
              <a:srgbClr val="EBF1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0"/>
                <a:t>  name              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6019516" y="5626163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1"/>
                <a:t>  email             </a:t>
              </a:r>
              <a:r>
                <a:rPr sz="800" b="1">
                  <a:solidFill>
                    <a:srgbClr val="008000"/>
                  </a:solidFill>
                </a:rPr>
                <a:t>  UK</a:t>
              </a:r>
              <a:r>
                <a:rPr sz="800" i="1">
                  <a:solidFill>
                    <a:srgbClr val="828282"/>
                  </a:solidFill>
                </a:rPr>
                <a:t>  "Email address"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071062" y="4326250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1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6655013" y="4036394"/>
              <a:ext cx="1200000" cy="240000"/>
            </a:xfrm>
            <a:prstGeom prst="rect">
              <a:avLst/>
            </a:prstGeom>
            <a:solidFill>
              <a:srgbClr val="F5F5FF"/>
            </a:solidFill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i="1">
                  <a:solidFill>
                    <a:srgbClr val="505050"/>
                  </a:solidFill>
                </a:rPr>
                <a:t>places</a:t>
              </a:r>
            </a:p>
          </p:txBody>
        </p:sp>
      </p:grpSp>
      <p:grpSp>
        <p:grpSpPr>
          <a:xfrm>
            <a:off x="5045176" y="2502705"/>
            <a:ext cx="3441624" cy="1599913"/>
            <a:chOff x="5045176" y="2502705"/>
            <a:chExt cx="3441624" cy="1599913"/>
          </a:xfrm>
        </p:grpSpPr>
        <p:sp>
          <p:nvSpPr>
            <p:cNvPr id="9" name="Rectangle 8"/>
            <p:cNvSpPr/>
            <p:nvPr/>
          </p:nvSpPr>
          <p:spPr>
            <a:xfrm>
              <a:off x="6086800" y="2502705"/>
              <a:ext cx="2400000" cy="1320000"/>
            </a:xfrm>
            <a:prstGeom prst="rect">
              <a:avLst/>
            </a:prstGeom>
            <a:noFill/>
            <a:ln>
              <a:solidFill>
                <a:srgbClr val="1F49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" name="Rectangle 9"/>
            <p:cNvSpPr/>
            <p:nvPr/>
          </p:nvSpPr>
          <p:spPr>
            <a:xfrm>
              <a:off x="6086800" y="2502705"/>
              <a:ext cx="2400000" cy="42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 b="1">
                  <a:solidFill>
                    <a:srgbClr val="FFFFFF"/>
                  </a:solidFill>
                </a:rPr>
                <a:t>ORDER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086800" y="2922705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int       </a:t>
              </a:r>
              <a:r>
                <a:rPr sz="900" b="1"/>
                <a:t>  id                </a:t>
              </a:r>
              <a:r>
                <a:rPr sz="800" b="1">
                  <a:solidFill>
                    <a:srgbClr val="C40000"/>
                  </a:solidFill>
                </a:rPr>
                <a:t>  PK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086800" y="3222705"/>
              <a:ext cx="2400000" cy="300000"/>
            </a:xfrm>
            <a:prstGeom prst="rect">
              <a:avLst/>
            </a:prstGeom>
            <a:solidFill>
              <a:srgbClr val="EBF1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int       </a:t>
              </a:r>
              <a:r>
                <a:rPr sz="900" b="1"/>
                <a:t>  customer_id       </a:t>
              </a:r>
              <a:r>
                <a:rPr sz="800" b="1">
                  <a:solidFill>
                    <a:srgbClr val="0046B4"/>
                  </a:solidFill>
                </a:rPr>
                <a:t>  FK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086800" y="3522705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date      </a:t>
              </a:r>
              <a:r>
                <a:rPr sz="900" b="0"/>
                <a:t>  ordered_at        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085253" y="3882618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0..*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5744964" y="2785252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1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5045176" y="2721483"/>
              <a:ext cx="1200000" cy="240000"/>
            </a:xfrm>
            <a:prstGeom prst="rect">
              <a:avLst/>
            </a:prstGeom>
            <a:solidFill>
              <a:srgbClr val="F5F5FF"/>
            </a:solidFill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i="1">
                  <a:solidFill>
                    <a:srgbClr val="505050"/>
                  </a:solidFill>
                </a:rPr>
                <a:t>contains</a:t>
              </a:r>
            </a:p>
          </p:txBody>
        </p:sp>
      </p:grpSp>
      <p:grpSp>
        <p:grpSpPr>
          <a:xfrm>
            <a:off x="2496601" y="1800200"/>
            <a:ext cx="2741836" cy="1546006"/>
            <a:chOff x="2496601" y="1800200"/>
            <a:chExt cx="2741836" cy="1546006"/>
          </a:xfrm>
        </p:grpSpPr>
        <p:sp>
          <p:nvSpPr>
            <p:cNvPr id="14" name="Rectangle 13"/>
            <p:cNvSpPr/>
            <p:nvPr/>
          </p:nvSpPr>
          <p:spPr>
            <a:xfrm>
              <a:off x="2496601" y="1800200"/>
              <a:ext cx="2400000" cy="1320000"/>
            </a:xfrm>
            <a:prstGeom prst="rect">
              <a:avLst/>
            </a:prstGeom>
            <a:noFill/>
            <a:ln>
              <a:solidFill>
                <a:srgbClr val="1F49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5" name="Rectangle 14"/>
            <p:cNvSpPr/>
            <p:nvPr/>
          </p:nvSpPr>
          <p:spPr>
            <a:xfrm>
              <a:off x="2496601" y="1800200"/>
              <a:ext cx="2400000" cy="42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 b="1">
                  <a:solidFill>
                    <a:srgbClr val="FFFFFF"/>
                  </a:solidFill>
                </a:rPr>
                <a:t>LINE-ITEM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496601" y="2220200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1"/>
                <a:t>  productCode       </a:t>
              </a:r>
              <a:r>
                <a:rPr sz="800" b="1">
                  <a:solidFill>
                    <a:srgbClr val="C40000"/>
                  </a:solidFill>
                </a:rPr>
                <a:t>  PK,FK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496601" y="2520200"/>
              <a:ext cx="2400000" cy="300000"/>
            </a:xfrm>
            <a:prstGeom prst="rect">
              <a:avLst/>
            </a:prstGeom>
            <a:solidFill>
              <a:srgbClr val="EBF1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int       </a:t>
              </a:r>
              <a:r>
                <a:rPr sz="900" b="0"/>
                <a:t>  quantity          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496601" y="2820200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float     </a:t>
              </a:r>
              <a:r>
                <a:rPr sz="900" b="0"/>
                <a:t>  pricePerUnit      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888437" y="2617652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1..*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2690327" y="3126206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0..*</a:t>
              </a:r>
            </a:p>
          </p:txBody>
        </p:sp>
      </p:grpSp>
      <p:grpSp>
        <p:grpSpPr>
          <a:xfrm>
            <a:off x="657200" y="3090233"/>
            <a:ext cx="2835950" cy="1747075"/>
            <a:chOff x="657200" y="3090233"/>
            <a:chExt cx="2835950" cy="1747075"/>
          </a:xfrm>
        </p:grpSpPr>
        <p:sp>
          <p:nvSpPr>
            <p:cNvPr id="19" name="Rectangle 18"/>
            <p:cNvSpPr/>
            <p:nvPr/>
          </p:nvSpPr>
          <p:spPr>
            <a:xfrm>
              <a:off x="657200" y="3517308"/>
              <a:ext cx="2400000" cy="1320000"/>
            </a:xfrm>
            <a:prstGeom prst="rect">
              <a:avLst/>
            </a:prstGeom>
            <a:noFill/>
            <a:ln>
              <a:solidFill>
                <a:srgbClr val="1F49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0" name="Rectangle 19"/>
            <p:cNvSpPr/>
            <p:nvPr/>
          </p:nvSpPr>
          <p:spPr>
            <a:xfrm>
              <a:off x="657200" y="3517308"/>
              <a:ext cx="2400000" cy="42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 b="1">
                  <a:solidFill>
                    <a:srgbClr val="FFFFFF"/>
                  </a:solidFill>
                </a:rPr>
                <a:t>PRODUCT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57200" y="3937308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1"/>
                <a:t>  code              </a:t>
              </a:r>
              <a:r>
                <a:rPr sz="800" b="1">
                  <a:solidFill>
                    <a:srgbClr val="C40000"/>
                  </a:solidFill>
                </a:rPr>
                <a:t>  PK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57200" y="4237308"/>
              <a:ext cx="2400000" cy="300000"/>
            </a:xfrm>
            <a:prstGeom prst="rect">
              <a:avLst/>
            </a:prstGeom>
            <a:solidFill>
              <a:srgbClr val="EBF1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0"/>
                <a:t>  name              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57200" y="4537308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float     </a:t>
              </a:r>
              <a:r>
                <a:rPr sz="900" b="0"/>
                <a:t>  price             </a:t>
              </a:r>
              <a:r>
                <a:rPr sz="800" i="1">
                  <a:solidFill>
                    <a:srgbClr val="828282"/>
                  </a:solidFill>
                </a:rPr>
                <a:t>  "Unit price"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2513473" y="3291302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0..*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2293150" y="3090233"/>
              <a:ext cx="1200000" cy="240000"/>
            </a:xfrm>
            <a:prstGeom prst="rect">
              <a:avLst/>
            </a:prstGeom>
            <a:solidFill>
              <a:srgbClr val="F5F5FF"/>
            </a:solidFill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i="1">
                  <a:solidFill>
                    <a:srgbClr val="505050"/>
                  </a:solidFill>
                </a:rPr>
                <a:t>includes</a:t>
              </a:r>
            </a:p>
          </p:txBody>
        </p:sp>
      </p:grpSp>
      <p:cxnSp>
        <p:nvCxnSpPr>
          <p:cNvPr id="33" name="Connector 32"/>
          <p:cNvCxnSpPr>
            <a:stCxn id="4" idx="0"/>
            <a:endCxn id="9" idx="2"/>
          </p:cNvCxnSpPr>
          <p:nvPr/>
        </p:nvCxnSpPr>
        <p:spPr>
          <a:xfrm flipV="1">
            <a:off x="7219516" y="3822705"/>
            <a:ext cx="67284" cy="783458"/>
          </a:xfrm>
          <a:prstGeom prst="line">
            <a:avLst/>
          </a:prstGeom>
          <a:ln>
            <a:solidFill>
              <a:srgbClr val="323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stCxn id="9" idx="3"/>
            <a:endCxn id="14" idx="1"/>
          </p:cNvCxnSpPr>
          <p:nvPr/>
        </p:nvCxnSpPr>
        <p:spPr>
          <a:xfrm flipH="1" flipV="1">
            <a:off x="2496601" y="2460200"/>
            <a:ext cx="5990199" cy="702505"/>
          </a:xfrm>
          <a:prstGeom prst="line">
            <a:avLst/>
          </a:prstGeom>
          <a:ln>
            <a:solidFill>
              <a:srgbClr val="323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>
            <a:stCxn id="19" idx="1"/>
            <a:endCxn id="14" idx="3"/>
          </p:cNvCxnSpPr>
          <p:nvPr/>
        </p:nvCxnSpPr>
        <p:spPr>
          <a:xfrm flipV="1">
            <a:off x="657200" y="2460200"/>
            <a:ext cx="4239401" cy="1717108"/>
          </a:xfrm>
          <a:prstGeom prst="line">
            <a:avLst/>
          </a:prstGeom>
          <a:ln>
            <a:solidFill>
              <a:srgbClr val="32323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ユーザージャーニー図（User Journey）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journey
    title オンラインショッピング体験
    section 商品探し
        サイト訪問    : 5: ユーザー
        検索実行      : 3: ユーザー
        商品選択      : 4: ユーザー
    section 購入
        カートに追加  : 5: ユーザー
        決済手続き    : 2: ユーザー
        注文完了      : 5: ユーザー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円グラフ（Pie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pie title 言語別コード比率
    "Python" : 42
    "TypeScript" : 28
    "Rust" : 15
    "Go" : 10
    "その他" : 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象限チャート（Quadrant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quadrantChart
    title 製品ポートフォリオ分析
    x-axis 低成長 --&gt; 高成長
    y-axis 低シェア --&gt; 高シェア
    quadrant-1 スター
    quadrant-2 問題児
    quadrant-3 負け犬
    quadrant-4 金のなる木
    製品A: [0.7, 0.8]
    製品B: [0.3, 0.7]
    製品C: [0.2, 0.3]
    製品D: [0.8, 0.3]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要件図（Requirement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requirementDiagram
    requirement test_req {
        id: 1
        text: システムは99.9%の可用性を持つこと
        risk: high
        verifymethod: test
    }
    functionalRequirement login_req {
        id: 2
        text: ユーザーはログインできること
        risk: medium
        verifymethod: inspection
    }
    test_req - traces -&gt; login_req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11. Gitグラフ（Git Graph）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gitGraph
    commit id: "initial"
    commit id: "feat: add login"
    branch develop
    checkout develop
    commit id: "fix: typo"
    commit id: "feat: add API"
    checkout main
    merge develop id: "merge develop"
    commit id: "release: v1.0"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マインドマップ（Mindmap）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3822000" y="3573181"/>
            <a:ext cx="1500000" cy="580000"/>
          </a:xfrm>
          <a:prstGeom prst="ellipse">
            <a:avLst/>
          </a:prstGeom>
          <a:solidFill>
            <a:srgbClr val="4646B4"/>
          </a:solidFill>
          <a:ln>
            <a:solidFill>
              <a:srgbClr val="1E1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600">
                <a:solidFill>
                  <a:srgbClr val="FFFFFF"/>
                </a:solidFill>
              </a:rPr>
              <a:t>プログラミング言語</a:t>
            </a:r>
          </a:p>
        </p:txBody>
      </p:sp>
      <p:sp>
        <p:nvSpPr>
          <p:cNvPr id="5" name="Rectangle 4"/>
          <p:cNvSpPr/>
          <p:nvPr/>
        </p:nvSpPr>
        <p:spPr>
          <a:xfrm>
            <a:off x="5270072" y="4264839"/>
            <a:ext cx="1100000" cy="440000"/>
          </a:xfrm>
          <a:prstGeom prst="roundRect">
            <a:avLst/>
          </a:prstGeom>
          <a:solidFill>
            <a:srgbClr val="E74C3C"/>
          </a:solidFill>
          <a:ln>
            <a:solidFill>
              <a:srgbClr val="BF2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スクリプト系</a:t>
            </a:r>
          </a:p>
        </p:txBody>
      </p:sp>
      <p:sp>
        <p:nvSpPr>
          <p:cNvPr id="6" name="Rectangle 5"/>
          <p:cNvSpPr/>
          <p:nvPr/>
        </p:nvSpPr>
        <p:spPr>
          <a:xfrm>
            <a:off x="7399912" y="4146883"/>
            <a:ext cx="820000" cy="330000"/>
          </a:xfrm>
          <a:prstGeom prst="ellipse">
            <a:avLst/>
          </a:prstGeom>
          <a:solidFill>
            <a:srgbClr val="F0938A"/>
          </a:solidFill>
          <a:ln>
            <a:solidFill>
              <a:srgbClr val="C86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Python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658145" y="4941497"/>
            <a:ext cx="820000" cy="330000"/>
          </a:xfrm>
          <a:prstGeom prst="ellipse">
            <a:avLst/>
          </a:prstGeom>
          <a:solidFill>
            <a:srgbClr val="F0938A"/>
          </a:solidFill>
          <a:ln>
            <a:solidFill>
              <a:srgbClr val="C86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Ruby</a:t>
            </a:r>
          </a:p>
        </p:txBody>
      </p:sp>
      <p:sp>
        <p:nvSpPr>
          <p:cNvPr id="8" name="Rectangle 7"/>
          <p:cNvSpPr/>
          <p:nvPr/>
        </p:nvSpPr>
        <p:spPr>
          <a:xfrm>
            <a:off x="5344542" y="5451282"/>
            <a:ext cx="820000" cy="330000"/>
          </a:xfrm>
          <a:prstGeom prst="ellipse">
            <a:avLst/>
          </a:prstGeom>
          <a:solidFill>
            <a:srgbClr val="F0938A"/>
          </a:solidFill>
          <a:ln>
            <a:solidFill>
              <a:srgbClr val="C86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JavaScript</a:t>
            </a:r>
          </a:p>
        </p:txBody>
      </p:sp>
      <p:sp>
        <p:nvSpPr>
          <p:cNvPr id="9" name="Rectangle 8"/>
          <p:cNvSpPr/>
          <p:nvPr/>
        </p:nvSpPr>
        <p:spPr>
          <a:xfrm>
            <a:off x="3074805" y="4414704"/>
            <a:ext cx="1100000" cy="440000"/>
          </a:xfrm>
          <a:prstGeom prst="rect">
            <a:avLst/>
          </a:prstGeom>
          <a:solidFill>
            <a:srgbClr val="E67E22"/>
          </a:solidFill>
          <a:ln>
            <a:solidFill>
              <a:srgbClr val="BE5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静的型付け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60033" y="5559452"/>
            <a:ext cx="820000" cy="330000"/>
          </a:xfrm>
          <a:prstGeom prst="hexagon">
            <a:avLst/>
          </a:prstGeom>
          <a:solidFill>
            <a:srgbClr val="F0B17A"/>
          </a:solidFill>
          <a:ln>
            <a:solidFill>
              <a:srgbClr val="C88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Rust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67609" y="5241228"/>
            <a:ext cx="820000" cy="330000"/>
          </a:xfrm>
          <a:prstGeom prst="hexagon">
            <a:avLst/>
          </a:prstGeom>
          <a:solidFill>
            <a:srgbClr val="F0B17A"/>
          </a:solidFill>
          <a:ln>
            <a:solidFill>
              <a:srgbClr val="C88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Go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9168" y="4569509"/>
            <a:ext cx="820000" cy="330000"/>
          </a:xfrm>
          <a:prstGeom prst="roundRect">
            <a:avLst/>
          </a:prstGeom>
          <a:solidFill>
            <a:srgbClr val="F0B17A"/>
          </a:solidFill>
          <a:ln>
            <a:solidFill>
              <a:srgbClr val="C88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Java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03044" y="3418830"/>
            <a:ext cx="1100000" cy="440000"/>
          </a:xfrm>
          <a:prstGeom prst="roundRect">
            <a:avLst/>
          </a:prstGeom>
          <a:solidFill>
            <a:srgbClr val="F1C40F"/>
          </a:solidFill>
          <a:ln>
            <a:solidFill>
              <a:srgbClr val="C99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関数型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7184" y="3698181"/>
            <a:ext cx="820000" cy="330000"/>
          </a:xfrm>
          <a:prstGeom prst="irregularSeal1">
            <a:avLst/>
          </a:prstGeom>
          <a:solidFill>
            <a:srgbClr val="F6DB6F"/>
          </a:solidFill>
          <a:ln>
            <a:solidFill>
              <a:srgbClr val="CE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Haskell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09168" y="2826853"/>
            <a:ext cx="820000" cy="330000"/>
          </a:xfrm>
          <a:prstGeom prst="irregularSeal1">
            <a:avLst/>
          </a:prstGeom>
          <a:solidFill>
            <a:srgbClr val="F6DB6F"/>
          </a:solidFill>
          <a:ln>
            <a:solidFill>
              <a:srgbClr val="CE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Erlang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21017" y="2712546"/>
            <a:ext cx="1100000" cy="440000"/>
          </a:xfrm>
          <a:prstGeom prst="roundRect">
            <a:avLst/>
          </a:prstGeom>
          <a:solidFill>
            <a:srgbClr val="27AE60"/>
          </a:solidFill>
          <a:ln>
            <a:solidFill>
              <a:srgbClr val="008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Web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67609" y="2155134"/>
            <a:ext cx="820000" cy="330000"/>
          </a:xfrm>
          <a:prstGeom prst="rect">
            <a:avLst/>
          </a:prstGeom>
          <a:solidFill>
            <a:srgbClr val="7DCE9F"/>
          </a:solidFill>
          <a:ln>
            <a:solidFill>
              <a:srgbClr val="55A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HTML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60033" y="1836910"/>
            <a:ext cx="820000" cy="330000"/>
          </a:xfrm>
          <a:prstGeom prst="rect">
            <a:avLst/>
          </a:prstGeom>
          <a:solidFill>
            <a:srgbClr val="7DCE9F"/>
          </a:solidFill>
          <a:ln>
            <a:solidFill>
              <a:srgbClr val="55A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CSS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44542" y="1945080"/>
            <a:ext cx="820000" cy="330000"/>
          </a:xfrm>
          <a:prstGeom prst="roundRect">
            <a:avLst/>
          </a:prstGeom>
          <a:solidFill>
            <a:srgbClr val="7DCE9F"/>
          </a:solidFill>
          <a:ln>
            <a:solidFill>
              <a:srgbClr val="55A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TypeScript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98416" y="3207517"/>
            <a:ext cx="1100000" cy="440000"/>
          </a:xfrm>
          <a:prstGeom prst="cloud">
            <a:avLst/>
          </a:prstGeom>
          <a:solidFill>
            <a:srgbClr val="1ABC9C"/>
          </a:solidFill>
          <a:ln>
            <a:solidFill>
              <a:srgbClr val="0094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クエリ言語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58145" y="2454865"/>
            <a:ext cx="820000" cy="330000"/>
          </a:xfrm>
          <a:prstGeom prst="rect">
            <a:avLst/>
          </a:prstGeom>
          <a:solidFill>
            <a:srgbClr val="75D6C3"/>
          </a:solidFill>
          <a:ln>
            <a:solidFill>
              <a:srgbClr val="4DAE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SQL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99912" y="3249479"/>
            <a:ext cx="820000" cy="330000"/>
          </a:xfrm>
          <a:prstGeom prst="rect">
            <a:avLst/>
          </a:prstGeom>
          <a:solidFill>
            <a:srgbClr val="75D6C3"/>
          </a:solidFill>
          <a:ln>
            <a:solidFill>
              <a:srgbClr val="4DAE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GraphQL</a:t>
            </a:r>
          </a:p>
        </p:txBody>
      </p:sp>
      <p:cxnSp>
        <p:nvCxnSpPr>
          <p:cNvPr id="23" name="Connector 22"/>
          <p:cNvCxnSpPr>
            <a:stCxn id="4" idx="1"/>
            <a:endCxn id="5" idx="3"/>
          </p:cNvCxnSpPr>
          <p:nvPr/>
        </p:nvCxnSpPr>
        <p:spPr>
          <a:xfrm>
            <a:off x="3822000" y="3863181"/>
            <a:ext cx="2548072" cy="621658"/>
          </a:xfrm>
          <a:prstGeom prst="curvedConnector3">
            <a:avLst/>
          </a:prstGeom>
          <a:ln w="25400">
            <a:solidFill>
              <a:srgbClr val="E74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5" idx="1"/>
            <a:endCxn id="6" idx="3"/>
          </p:cNvCxnSpPr>
          <p:nvPr/>
        </p:nvCxnSpPr>
        <p:spPr>
          <a:xfrm flipV="1">
            <a:off x="5270072" y="4311883"/>
            <a:ext cx="2949840" cy="172956"/>
          </a:xfrm>
          <a:prstGeom prst="curvedConnector3">
            <a:avLst/>
          </a:prstGeom>
          <a:ln w="25400">
            <a:solidFill>
              <a:srgbClr val="F093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5" idx="1"/>
            <a:endCxn id="7" idx="3"/>
          </p:cNvCxnSpPr>
          <p:nvPr/>
        </p:nvCxnSpPr>
        <p:spPr>
          <a:xfrm>
            <a:off x="5270072" y="4484839"/>
            <a:ext cx="2208073" cy="621658"/>
          </a:xfrm>
          <a:prstGeom prst="curvedConnector3">
            <a:avLst/>
          </a:prstGeom>
          <a:ln w="25400">
            <a:solidFill>
              <a:srgbClr val="F093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5" idx="2"/>
            <a:endCxn id="8" idx="0"/>
          </p:cNvCxnSpPr>
          <p:nvPr/>
        </p:nvCxnSpPr>
        <p:spPr>
          <a:xfrm flipH="1">
            <a:off x="5754542" y="4704839"/>
            <a:ext cx="65530" cy="746443"/>
          </a:xfrm>
          <a:prstGeom prst="curvedConnector3">
            <a:avLst/>
          </a:prstGeom>
          <a:ln w="25400">
            <a:solidFill>
              <a:srgbClr val="F093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4" idx="3"/>
            <a:endCxn id="9" idx="1"/>
          </p:cNvCxnSpPr>
          <p:nvPr/>
        </p:nvCxnSpPr>
        <p:spPr>
          <a:xfrm flipH="1">
            <a:off x="3074805" y="3863181"/>
            <a:ext cx="2247195" cy="771523"/>
          </a:xfrm>
          <a:prstGeom prst="curvedConnector3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9" idx="2"/>
            <a:endCxn id="10" idx="0"/>
          </p:cNvCxnSpPr>
          <p:nvPr/>
        </p:nvCxnSpPr>
        <p:spPr>
          <a:xfrm>
            <a:off x="3624805" y="4854704"/>
            <a:ext cx="545228" cy="704748"/>
          </a:xfrm>
          <a:prstGeom prst="curvedConnector3">
            <a:avLst/>
          </a:prstGeom>
          <a:ln w="25400">
            <a:solidFill>
              <a:srgbClr val="F0B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9" idx="3"/>
            <a:endCxn id="11" idx="1"/>
          </p:cNvCxnSpPr>
          <p:nvPr/>
        </p:nvCxnSpPr>
        <p:spPr>
          <a:xfrm flipH="1">
            <a:off x="2267609" y="4634704"/>
            <a:ext cx="1907196" cy="771524"/>
          </a:xfrm>
          <a:prstGeom prst="curvedConnector3">
            <a:avLst/>
          </a:prstGeom>
          <a:ln w="25400">
            <a:solidFill>
              <a:srgbClr val="F0B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9" idx="3"/>
            <a:endCxn id="12" idx="1"/>
          </p:cNvCxnSpPr>
          <p:nvPr/>
        </p:nvCxnSpPr>
        <p:spPr>
          <a:xfrm flipH="1">
            <a:off x="1209168" y="4634704"/>
            <a:ext cx="2965637" cy="99805"/>
          </a:xfrm>
          <a:prstGeom prst="curvedConnector3">
            <a:avLst/>
          </a:prstGeom>
          <a:ln w="25400">
            <a:solidFill>
              <a:srgbClr val="F0B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4" idx="3"/>
            <a:endCxn id="13" idx="1"/>
          </p:cNvCxnSpPr>
          <p:nvPr/>
        </p:nvCxnSpPr>
        <p:spPr>
          <a:xfrm flipH="1" flipV="1">
            <a:off x="2403044" y="3638830"/>
            <a:ext cx="2918956" cy="224351"/>
          </a:xfrm>
          <a:prstGeom prst="curvedConnector3">
            <a:avLst/>
          </a:prstGeom>
          <a:ln w="25400">
            <a:solidFill>
              <a:srgbClr val="F1C4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3" idx="3"/>
            <a:endCxn id="14" idx="1"/>
          </p:cNvCxnSpPr>
          <p:nvPr/>
        </p:nvCxnSpPr>
        <p:spPr>
          <a:xfrm flipH="1">
            <a:off x="827184" y="3638830"/>
            <a:ext cx="2675860" cy="224351"/>
          </a:xfrm>
          <a:prstGeom prst="curvedConnector3">
            <a:avLst/>
          </a:prstGeom>
          <a:ln w="25400">
            <a:solidFill>
              <a:srgbClr val="F6DB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>
            <a:stCxn id="13" idx="3"/>
            <a:endCxn id="15" idx="1"/>
          </p:cNvCxnSpPr>
          <p:nvPr/>
        </p:nvCxnSpPr>
        <p:spPr>
          <a:xfrm flipH="1" flipV="1">
            <a:off x="1209168" y="2991853"/>
            <a:ext cx="2293876" cy="646977"/>
          </a:xfrm>
          <a:prstGeom prst="curvedConnector3">
            <a:avLst/>
          </a:prstGeom>
          <a:ln w="25400">
            <a:solidFill>
              <a:srgbClr val="F6DB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stCxn id="4" idx="0"/>
            <a:endCxn id="16" idx="2"/>
          </p:cNvCxnSpPr>
          <p:nvPr/>
        </p:nvCxnSpPr>
        <p:spPr>
          <a:xfrm flipH="1" flipV="1">
            <a:off x="4371017" y="3152546"/>
            <a:ext cx="200983" cy="420635"/>
          </a:xfrm>
          <a:prstGeom prst="curvedConnector3">
            <a:avLst/>
          </a:prstGeom>
          <a:ln w="25400">
            <a:solidFill>
              <a:srgbClr val="27AE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>
            <a:stCxn id="16" idx="3"/>
            <a:endCxn id="17" idx="1"/>
          </p:cNvCxnSpPr>
          <p:nvPr/>
        </p:nvCxnSpPr>
        <p:spPr>
          <a:xfrm flipH="1" flipV="1">
            <a:off x="2267609" y="2320134"/>
            <a:ext cx="2653408" cy="612412"/>
          </a:xfrm>
          <a:prstGeom prst="curvedConnector3">
            <a:avLst/>
          </a:prstGeom>
          <a:ln w="25400">
            <a:solidFill>
              <a:srgbClr val="7DCE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16" idx="0"/>
            <a:endCxn id="18" idx="2"/>
          </p:cNvCxnSpPr>
          <p:nvPr/>
        </p:nvCxnSpPr>
        <p:spPr>
          <a:xfrm flipH="1" flipV="1">
            <a:off x="4170033" y="2166910"/>
            <a:ext cx="200984" cy="545636"/>
          </a:xfrm>
          <a:prstGeom prst="curvedConnector3">
            <a:avLst/>
          </a:prstGeom>
          <a:ln w="25400">
            <a:solidFill>
              <a:srgbClr val="7DCE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16" idx="1"/>
            <a:endCxn id="19" idx="3"/>
          </p:cNvCxnSpPr>
          <p:nvPr/>
        </p:nvCxnSpPr>
        <p:spPr>
          <a:xfrm flipV="1">
            <a:off x="3821017" y="2110080"/>
            <a:ext cx="2343525" cy="822466"/>
          </a:xfrm>
          <a:prstGeom prst="curvedConnector3">
            <a:avLst/>
          </a:prstGeom>
          <a:ln w="25400">
            <a:solidFill>
              <a:srgbClr val="7DCE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4" idx="1"/>
            <a:endCxn id="20" idx="3"/>
          </p:cNvCxnSpPr>
          <p:nvPr/>
        </p:nvCxnSpPr>
        <p:spPr>
          <a:xfrm flipV="1">
            <a:off x="3822000" y="3427517"/>
            <a:ext cx="2776416" cy="435664"/>
          </a:xfrm>
          <a:prstGeom prst="curvedConnector3">
            <a:avLst/>
          </a:prstGeom>
          <a:ln w="25400">
            <a:solidFill>
              <a:srgbClr val="1ABC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0" idx="1"/>
            <a:endCxn id="21" idx="3"/>
          </p:cNvCxnSpPr>
          <p:nvPr/>
        </p:nvCxnSpPr>
        <p:spPr>
          <a:xfrm flipV="1">
            <a:off x="5498416" y="2619865"/>
            <a:ext cx="1979729" cy="807652"/>
          </a:xfrm>
          <a:prstGeom prst="curvedConnector3">
            <a:avLst/>
          </a:prstGeom>
          <a:ln w="25400">
            <a:solidFill>
              <a:srgbClr val="75D6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0" idx="1"/>
            <a:endCxn id="22" idx="3"/>
          </p:cNvCxnSpPr>
          <p:nvPr/>
        </p:nvCxnSpPr>
        <p:spPr>
          <a:xfrm flipV="1">
            <a:off x="5498416" y="3414479"/>
            <a:ext cx="2721496" cy="13038"/>
          </a:xfrm>
          <a:prstGeom prst="curvedConnector3">
            <a:avLst/>
          </a:prstGeom>
          <a:ln w="25400">
            <a:solidFill>
              <a:srgbClr val="75D6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13. タイムライン（Timeline）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timeline
    title ソフトウェア開発史
    1960 : アセンブリ言語
    1970 : C言語
         : Unix
    1980 : C++
         : Macintosh
    1990 : Java
         : World Wide Web
    2000 : Python普及
         : Agile開発
    2010 : クラウドコンピューティング
    2020 : AI・機械学習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14. ZenUML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zenuml
    title 注文処理
    @Actor Client
    @Database DB
    Client -&gt; Server.process(order) {
        Server -&gt; DB.save(order)
        return orderId
    }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15. サンキー図（Sankey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sankey-beta
    エネルギー源,電力,60
    エネルギー源,熱,40
    電力,家庭用,25
    電力,産業用,35
    熱,暖房,30
    熱,給湯,10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16. XYチャート（XY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xychart-beta
    title "月別売上推移"
    x-axis [1月, 2月, 3月, 4月, 5月, 6月]
    y-axis "売上（万円）" 0 --&gt; 1000
    bar [400, 500, 650, 720, 850, 900]
    line [400, 500, 650, 720, 850, 900]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17. ブロック図（Block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block-beta
    columns 3
    A["フロントエンド"]:1
    B["APIゲートウェイ"]:1
    C["バックエンド"]:1
    D["認証サービス"]:1
    E["データベース"]:1
    F["キャッシュ"]:1
    A --&gt; B
    B --&gt; C
    B --&gt; D
    C --&gt; E
    C --&gt; F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18. パケット図（Packet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packet-beta
    title TCP パケット構造
    0-15: "送信元ポート"
    16-31: "宛先ポート"
    32-63: "シーケンス番号"
    64-95: "確認応答番号"
    96-99: "データオフセット"
    100-105: "予約"
    106-111: "フラグ"
    112-127: "ウィンドウサイズ"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19. カンバン（Kanban）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kanban
    todo["To Do"]
        task1["要件定義"]
        task2["DB設計"]
    inprogress["In Progress"]
        task3["API実装"]
        task4["テスト作成"]
    done["Done"]
        task5["環境構築"]
        task6["仕様策定"]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20. アーキテクチャ図（Architecture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architecture-beta
    group cloud(cloud)[クラウド]
    service web(internet)[Webサーバー] in cloud
    service api(server)[APIサーバー] in cloud
    service db(database)[データベース] in cloud
    service cache(disk)[キャッシュ] in cloud
    web:R --&gt; L:api
    api:R --&gt; L:db
    api:B --&gt; T:cache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21. C4図（C4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C4Context
    title システムコンテキスト図
    Person(user, "ユーザー", "アプリケーションを利用する人")
    System(app, "Webアプリ", "主要なシステム")
    System_Ext(email, "メールサービス", "通知送信")
    System_Ext(payment, "決済サービス", "支払い処理")
    Rel(user, app, "利用する", "HTTPS")
    Rel(app, email, "送信する", "SMTP")
    Rel(app, payment, "呼び出す", "API")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22. Quartoネイティブ記法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スタート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39720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74868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エンド</a:t>
            </a:r>
          </a:p>
        </p:txBody>
      </p:sp>
      <p:cxnSp>
        <p:nvCxnSpPr>
          <p:cNvPr id="7" name="Connector 6"/>
          <p:cNvCxnSpPr>
            <a:stCxn id="4" idx="1"/>
            <a:endCxn id="5" idx="3"/>
          </p:cNvCxnSpPr>
          <p:nvPr/>
        </p:nvCxnSpPr>
        <p:spPr>
          <a:xfrm>
            <a:off x="457200" y="3863181"/>
            <a:ext cx="47148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stCxn id="5" idx="1"/>
            <a:endCxn id="6" idx="3"/>
          </p:cNvCxnSpPr>
          <p:nvPr/>
        </p:nvCxnSpPr>
        <p:spPr>
          <a:xfrm>
            <a:off x="3972000" y="3863181"/>
            <a:ext cx="47148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Quartoコードブロック記法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import math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>print(math.pi)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アニメーション・レイアウト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まず最初に表示</a:t>
            </a:r>
          </a:p>
          <a:p>
            <a:pPr/>
            <a:r>
              <a:rPr sz="1800"/>
              <a:t>次にこれが表示</a:t>
            </a:r>
          </a:p>
          <a:p>
            <a:pPr/>
            <a:r>
              <a:rPr sz="1800"/>
              <a:t>最後にこれが表示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非インクリメンタルリスト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一括表示アイテム1</a:t>
            </a:r>
          </a:p>
          <a:p>
            <a:pPr/>
            <a:r>
              <a:rPr sz="1800"/>
              <a:t>一括表示アイテム2</a:t>
            </a:r>
          </a:p>
          <a:p>
            <a:pPr/>
            <a:r>
              <a:rPr sz="1800"/>
              <a:t>一括表示アイテム3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2カラムレイアウト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/>
            <a:r>
              <a:rPr sz="1800"/>
              <a:t>左の項目1</a:t>
            </a:r>
          </a:p>
          <a:p>
            <a:pPr/>
            <a:r>
              <a:rPr sz="1800"/>
              <a:t>左の項目2</a:t>
            </a:r>
          </a:p>
          <a:p>
            <a:pPr/>
            <a:r>
              <a:rPr sz="1800"/>
              <a:t>左の項目3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/>
            <a:r>
              <a:rPr sz="1800"/>
              <a:t>右の項目1</a:t>
            </a:r>
          </a:p>
          <a:p>
            <a:pPr/>
            <a:r>
              <a:rPr sz="1800"/>
              <a:t>右の項目2</a:t>
            </a:r>
          </a:p>
          <a:p>
            <a:pPr/>
            <a:r>
              <a:rPr sz="1800"/>
              <a:t>右の項目3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スピーカーノート付きスライド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このスライドには発表者向けのノートが埋め込まれています。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水平区切り線（---）によって生成されたタイトルなしスライドです。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まとめ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全機能確認完了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テキスト（段落・リスト・テーブル・コード）</a:t>
            </a:r>
          </a:p>
          <a:p>
            <a:pPr/>
            <a:r>
              <a:rPr sz="1800"/>
              <a:t>数式（インライン・ブロック）</a:t>
            </a:r>
          </a:p>
          <a:p>
            <a:pPr/>
            <a:r>
              <a:rPr sz="1800"/>
              <a:t>Mermaid図（全22種類）</a:t>
            </a:r>
          </a:p>
          <a:p>
            <a:pPr lvl="1"/>
            <a:r>
              <a:rPr sz="1800"/>
              <a:t>Flowchart / Sequence / Gantt / Class / State</a:t>
            </a:r>
          </a:p>
          <a:p>
            <a:pPr lvl="1"/>
            <a:r>
              <a:rPr sz="1800"/>
              <a:t>ER / User Journey / Pie / Quadrant / Requirement</a:t>
            </a:r>
          </a:p>
          <a:p>
            <a:pPr lvl="1"/>
            <a:r>
              <a:rPr sz="1800"/>
              <a:t>Git Graph / Mindmap / Timeline / ZenUML / Sankey</a:t>
            </a:r>
          </a:p>
          <a:p>
            <a:pPr lvl="1"/>
            <a:r>
              <a:rPr sz="1800"/>
              <a:t>XY Chart / Block / Packet / Kanban / Architecture / C4</a:t>
            </a:r>
          </a:p>
          <a:p>
            <a:pPr lvl="1"/>
            <a:r>
              <a:rPr sz="1800"/>
              <a:t>Quartoネイティブ記法</a:t>
            </a:r>
          </a:p>
          <a:p>
            <a:pPr/>
            <a:r>
              <a:rPr sz="1800"/>
              <a:t>アニメーション（インクリメンタル・非インクリメンタル）</a:t>
            </a:r>
          </a:p>
          <a:p>
            <a:pPr/>
            <a:r>
              <a:rPr sz="1800"/>
              <a:t>2カラムレイアウト</a:t>
            </a:r>
          </a:p>
          <a:p>
            <a:pPr/>
            <a:r>
              <a:rPr sz="1800"/>
              <a:t>スピーカーノート</a:t>
            </a:r>
          </a:p>
          <a:p>
            <a:pPr/>
            <a:r>
              <a:rPr sz="1800"/>
              <a:t>Blank スライド（水平区切り線）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