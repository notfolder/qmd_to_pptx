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8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9"/>
    <p:sldId id="298" r:id="rId50"/>
    <p:sldId id="299" r:id="rId5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notesMaster" Target="notesMasters/notesMaster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/>
            <a:r>
              <a:rPr sz="1800"/>
              <a:t>第2レベル（ネスト）</a:t>
            </a:r>
          </a:p>
          <a:p>
            <a:pPr/>
            <a:r>
              <a:rPr sz="1800"/>
              <a:t>第2レベル（ネスト）2</a:t>
            </a:r>
          </a:p>
          <a:p>
            <a:pPr lvl="1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r>
              <a:rPr sz="1400">
                <a:latin typeface="Courier New"/>
              </a:rPr>
              <a:t>def fibonacci(n: int) -&gt; int:
    if n &lt;= 1:
        return n
    return fibonacci(n - 1) + fibonacci(n - 2)
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14:m xmlns:a14="http://schemas.microsoft.com/office/drawing/2010/main" xmlns:m="http://schemas.openxmlformats.org/officeDocument/2006/math">
              <m:oMath>
                <m:box>
                  <m:e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i"/>
                              </m:rPr>
                              <m:t>i</m:t>
                            </m:r>
                            <m:r>
                              <m:rPr>
                                <m:sty m:val="i"/>
                              </m:rPr>
                              <m:t>π</m:t>
                            </m:r>
                          </m:e>
                        </m:box>
                      </m:sup>
                    </m:sSup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1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0</m:t>
                    </m:r>
                  </m:e>
                </m:box>
              </m:oMath>
            </a14:m>
          </a:p>
        </p:txBody>
      </p:sp>
      <p:sp>
        <p:nvSpPr>
          <p:cNvPr id="6" name="TextBox 5"/>
          <p:cNvSpPr txBox="1"/>
          <p:nvPr/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フローチャート（Flowchart）— ノード形状デモ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47172" y="478703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矩形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36053" y="4342679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68907" y="3930196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スタジアム</a:t>
            </a:r>
          </a:p>
        </p:txBody>
      </p:sp>
      <p:sp>
        <p:nvSpPr>
          <p:cNvPr id="7" name="Rectangle 6"/>
          <p:cNvSpPr/>
          <p:nvPr/>
        </p:nvSpPr>
        <p:spPr>
          <a:xfrm>
            <a:off x="6082984" y="32743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サブルーチン</a:t>
            </a:r>
          </a:p>
        </p:txBody>
      </p:sp>
      <p:sp>
        <p:nvSpPr>
          <p:cNvPr id="8" name="Can 7"/>
          <p:cNvSpPr/>
          <p:nvPr/>
        </p:nvSpPr>
        <p:spPr>
          <a:xfrm>
            <a:off x="5964532" y="2558720"/>
            <a:ext cx="1200000" cy="500000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シリンダー</a:t>
            </a:r>
          </a:p>
        </p:txBody>
      </p:sp>
      <p:sp>
        <p:nvSpPr>
          <p:cNvPr id="9" name="Oval 8"/>
          <p:cNvSpPr/>
          <p:nvPr/>
        </p:nvSpPr>
        <p:spPr>
          <a:xfrm>
            <a:off x="5274744" y="2420828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円</a:t>
            </a:r>
          </a:p>
        </p:txBody>
      </p:sp>
      <p:sp>
        <p:nvSpPr>
          <p:cNvPr id="10" name="Pentagon 9"/>
          <p:cNvSpPr/>
          <p:nvPr/>
        </p:nvSpPr>
        <p:spPr>
          <a:xfrm>
            <a:off x="5165743" y="2879308"/>
            <a:ext cx="1200000" cy="500000"/>
          </a:xfrm>
          <a:prstGeom prst="homePlat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非対称</a:t>
            </a:r>
          </a:p>
        </p:txBody>
      </p:sp>
      <p:sp>
        <p:nvSpPr>
          <p:cNvPr id="11" name="Diamond 10"/>
          <p:cNvSpPr/>
          <p:nvPr/>
        </p:nvSpPr>
        <p:spPr>
          <a:xfrm>
            <a:off x="4508209" y="3233145"/>
            <a:ext cx="1200000" cy="500000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ひし形</a:t>
            </a:r>
          </a:p>
        </p:txBody>
      </p:sp>
      <p:sp>
        <p:nvSpPr>
          <p:cNvPr id="12" name="Hexagon 11"/>
          <p:cNvSpPr/>
          <p:nvPr/>
        </p:nvSpPr>
        <p:spPr>
          <a:xfrm>
            <a:off x="3796768" y="3515153"/>
            <a:ext cx="1200000" cy="500000"/>
          </a:xfrm>
          <a:prstGeom prst="hexag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六角形</a:t>
            </a:r>
          </a:p>
        </p:txBody>
      </p:sp>
      <p:sp>
        <p:nvSpPr>
          <p:cNvPr id="13" name="Parallelogram 12"/>
          <p:cNvSpPr/>
          <p:nvPr/>
        </p:nvSpPr>
        <p:spPr>
          <a:xfrm>
            <a:off x="2949541" y="3857418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右傾斜</a:t>
            </a:r>
          </a:p>
        </p:txBody>
      </p:sp>
      <p:sp>
        <p:nvSpPr>
          <p:cNvPr id="14" name="Parallelogram 13"/>
          <p:cNvSpPr/>
          <p:nvPr/>
        </p:nvSpPr>
        <p:spPr>
          <a:xfrm flipH="1">
            <a:off x="1981387" y="4302214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左傾斜</a:t>
            </a:r>
          </a:p>
        </p:txBody>
      </p:sp>
      <p:sp>
        <p:nvSpPr>
          <p:cNvPr id="15" name="Trapezoid 14"/>
          <p:cNvSpPr/>
          <p:nvPr/>
        </p:nvSpPr>
        <p:spPr>
          <a:xfrm>
            <a:off x="1238395" y="4198490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台形</a:t>
            </a:r>
          </a:p>
        </p:txBody>
      </p:sp>
      <p:sp>
        <p:nvSpPr>
          <p:cNvPr id="16" name="Trapezoid 15"/>
          <p:cNvSpPr/>
          <p:nvPr/>
        </p:nvSpPr>
        <p:spPr>
          <a:xfrm flipV="1">
            <a:off x="1436359" y="3794675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逆台形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3490317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二重円</a:t>
            </a:r>
          </a:p>
        </p:txBody>
      </p:sp>
      <p:cxnSp>
        <p:nvCxnSpPr>
          <p:cNvPr id="18" name="Connector 17"/>
          <p:cNvCxnSpPr>
            <a:stCxn id="4" idx="0"/>
            <a:endCxn id="5" idx="2"/>
          </p:cNvCxnSpPr>
          <p:nvPr/>
        </p:nvCxnSpPr>
        <p:spPr>
          <a:xfrm>
            <a:off x="5947172" y="4787030"/>
            <a:ext cx="88881" cy="55649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0"/>
            <a:endCxn id="6" idx="2"/>
          </p:cNvCxnSpPr>
          <p:nvPr/>
        </p:nvCxnSpPr>
        <p:spPr>
          <a:xfrm>
            <a:off x="6036053" y="4342679"/>
            <a:ext cx="532854" cy="87517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0"/>
            <a:endCxn id="7" idx="2"/>
          </p:cNvCxnSpPr>
          <p:nvPr/>
        </p:nvCxnSpPr>
        <p:spPr>
          <a:xfrm flipV="1">
            <a:off x="6568907" y="3774360"/>
            <a:ext cx="114077" cy="155836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0"/>
            <a:endCxn id="8" idx="2"/>
          </p:cNvCxnSpPr>
          <p:nvPr/>
        </p:nvCxnSpPr>
        <p:spPr>
          <a:xfrm flipH="1" flipV="1">
            <a:off x="6564532" y="3058720"/>
            <a:ext cx="118452" cy="21564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3"/>
            <a:endCxn id="9" idx="1"/>
          </p:cNvCxnSpPr>
          <p:nvPr/>
        </p:nvCxnSpPr>
        <p:spPr>
          <a:xfrm flipH="1" flipV="1">
            <a:off x="5274744" y="2670828"/>
            <a:ext cx="1889788" cy="137892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9" idx="2"/>
            <a:endCxn id="10" idx="0"/>
          </p:cNvCxnSpPr>
          <p:nvPr/>
        </p:nvCxnSpPr>
        <p:spPr>
          <a:xfrm flipH="1" flipV="1">
            <a:off x="5765743" y="2879308"/>
            <a:ext cx="109001" cy="4152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3"/>
            <a:endCxn id="11" idx="1"/>
          </p:cNvCxnSpPr>
          <p:nvPr/>
        </p:nvCxnSpPr>
        <p:spPr>
          <a:xfrm flipH="1">
            <a:off x="4508209" y="3129308"/>
            <a:ext cx="1857534" cy="353837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3"/>
            <a:endCxn id="12" idx="1"/>
          </p:cNvCxnSpPr>
          <p:nvPr/>
        </p:nvCxnSpPr>
        <p:spPr>
          <a:xfrm flipH="1">
            <a:off x="3796768" y="3483145"/>
            <a:ext cx="1911441" cy="282008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3"/>
            <a:endCxn id="13" idx="1"/>
          </p:cNvCxnSpPr>
          <p:nvPr/>
        </p:nvCxnSpPr>
        <p:spPr>
          <a:xfrm flipH="1">
            <a:off x="2949541" y="3765153"/>
            <a:ext cx="2047227" cy="342265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3"/>
            <a:endCxn id="14" idx="1"/>
          </p:cNvCxnSpPr>
          <p:nvPr/>
        </p:nvCxnSpPr>
        <p:spPr>
          <a:xfrm flipH="1">
            <a:off x="1981387" y="4107418"/>
            <a:ext cx="2168154" cy="444796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3"/>
            <a:endCxn id="15" idx="1"/>
          </p:cNvCxnSpPr>
          <p:nvPr/>
        </p:nvCxnSpPr>
        <p:spPr>
          <a:xfrm flipH="1" flipV="1">
            <a:off x="1238395" y="4448490"/>
            <a:ext cx="1942992" cy="103724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0"/>
            <a:endCxn id="16" idx="2"/>
          </p:cNvCxnSpPr>
          <p:nvPr/>
        </p:nvCxnSpPr>
        <p:spPr>
          <a:xfrm>
            <a:off x="1838395" y="4198490"/>
            <a:ext cx="197964" cy="96185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3"/>
            <a:endCxn id="17" idx="1"/>
          </p:cNvCxnSpPr>
          <p:nvPr/>
        </p:nvCxnSpPr>
        <p:spPr>
          <a:xfrm flipH="1" flipV="1">
            <a:off x="457200" y="3740317"/>
            <a:ext cx="2179159" cy="304358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1b. フローチャート— リンク種別・ラベルデモ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680327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開始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7675" y="501180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25223" y="475504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処理2</a:t>
            </a:r>
          </a:p>
        </p:txBody>
      </p:sp>
      <p:sp>
        <p:nvSpPr>
          <p:cNvPr id="7" name="Rectangle 6"/>
          <p:cNvSpPr/>
          <p:nvPr/>
        </p:nvSpPr>
        <p:spPr>
          <a:xfrm>
            <a:off x="5918060" y="381690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5561" y="288083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丸端</a:t>
            </a:r>
          </a:p>
        </p:txBody>
      </p:sp>
      <p:sp>
        <p:nvSpPr>
          <p:cNvPr id="9" name="Rectangle 8"/>
          <p:cNvSpPr/>
          <p:nvPr/>
        </p:nvSpPr>
        <p:spPr>
          <a:xfrm>
            <a:off x="3761027" y="260897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×端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40670" y="2037778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17452" y="216794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2" name="Connector 11"/>
          <p:cNvCxnSpPr>
            <a:stCxn id="4" idx="0"/>
            <a:endCxn id="5" idx="2"/>
          </p:cNvCxnSpPr>
          <p:nvPr/>
        </p:nvCxnSpPr>
        <p:spPr>
          <a:xfrm flipV="1">
            <a:off x="4280327" y="5511807"/>
            <a:ext cx="437348" cy="114356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49001" y="5408985"/>
            <a:ext cx="9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通常矢印</a:t>
            </a:r>
          </a:p>
        </p:txBody>
      </p:sp>
      <p:cxnSp>
        <p:nvCxnSpPr>
          <p:cNvPr id="14" name="Connector 13"/>
          <p:cNvCxnSpPr>
            <a:stCxn id="5" idx="1"/>
            <a:endCxn id="6" idx="3"/>
          </p:cNvCxnSpPr>
          <p:nvPr/>
        </p:nvCxnSpPr>
        <p:spPr>
          <a:xfrm flipV="1">
            <a:off x="4117675" y="5005047"/>
            <a:ext cx="2707548" cy="256760"/>
          </a:xfrm>
          <a:prstGeom prst="line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21449" y="4973427"/>
            <a:ext cx="9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点線矢印</a:t>
            </a:r>
          </a:p>
        </p:txBody>
      </p:sp>
      <p:cxnSp>
        <p:nvCxnSpPr>
          <p:cNvPr id="16" name="Connector 15"/>
          <p:cNvCxnSpPr>
            <a:stCxn id="6" idx="0"/>
            <a:endCxn id="7" idx="2"/>
          </p:cNvCxnSpPr>
          <p:nvPr/>
        </p:nvCxnSpPr>
        <p:spPr>
          <a:xfrm flipV="1">
            <a:off x="6225223" y="4316905"/>
            <a:ext cx="292837" cy="438142"/>
          </a:xfrm>
          <a:prstGeom prst="line">
            <a:avLst/>
          </a:prstGeom>
          <a:ln w="38100"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921641" y="4375976"/>
            <a:ext cx="9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太線矢印</a:t>
            </a:r>
          </a:p>
        </p:txBody>
      </p:sp>
      <p:cxnSp>
        <p:nvCxnSpPr>
          <p:cNvPr id="18" name="Connector 17"/>
          <p:cNvCxnSpPr>
            <a:stCxn id="7" idx="0"/>
            <a:endCxn id="8" idx="2"/>
          </p:cNvCxnSpPr>
          <p:nvPr/>
        </p:nvCxnSpPr>
        <p:spPr>
          <a:xfrm flipH="1" flipV="1">
            <a:off x="5615561" y="3380833"/>
            <a:ext cx="902499" cy="436072"/>
          </a:xfrm>
          <a:prstGeom prst="line">
            <a:avLst/>
          </a:prstGeom>
          <a:ln>
            <a:head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8" idx="3"/>
            <a:endCxn id="9" idx="1"/>
          </p:cNvCxnSpPr>
          <p:nvPr/>
        </p:nvCxnSpPr>
        <p:spPr>
          <a:xfrm flipH="1" flipV="1">
            <a:off x="3761027" y="2858975"/>
            <a:ext cx="2454534" cy="271858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9" idx="3"/>
            <a:endCxn id="10" idx="1"/>
          </p:cNvCxnSpPr>
          <p:nvPr/>
        </p:nvCxnSpPr>
        <p:spPr>
          <a:xfrm flipH="1" flipV="1">
            <a:off x="2440670" y="2287778"/>
            <a:ext cx="2520357" cy="571197"/>
          </a:xfrm>
          <a:prstGeom prst="line">
            <a:avLst/>
          </a:prstGeom>
          <a:ln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250848" y="2413376"/>
            <a:ext cx="9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両方向</a:t>
            </a:r>
          </a:p>
        </p:txBody>
      </p:sp>
      <p:cxnSp>
        <p:nvCxnSpPr>
          <p:cNvPr id="22" name="Connector 21"/>
          <p:cNvCxnSpPr>
            <a:stCxn id="10" idx="3"/>
            <a:endCxn id="11" idx="1"/>
          </p:cNvCxnSpPr>
          <p:nvPr/>
        </p:nvCxnSpPr>
        <p:spPr>
          <a:xfrm flipH="1">
            <a:off x="1217452" y="2287778"/>
            <a:ext cx="2423218" cy="130162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シーケンス図（Sequence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sequenceDiagram
    participant A as クライアント
    participant B as サーバー
    participant C as データベース
    A-&gt;&gt;B: リクエスト送信
    B-&gt;&gt;C: クエリ実行
    C--&gt;&gt;B: 結果返却
    B--&gt;&gt;A: レスポンス返却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ガントチャート（Gantt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gantt
    title プロジェクト計画
    dateFormat YYYY-MM-DD
    section 設計
        要件定義  :done, des1, 2024-01-01, 2024-01-07
        基本設計  :done, des2, 2024-01-08, 7d
    section 実装
        コーディング :active, dev1, 2024-01-15, 14d
        テスト       :        dev2, after dev1, 7d
    section リリース
        デプロイ :milestone, 2024-02-05, 1d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クラス図（Class Diagram）- 全接続タイプ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7" name="Group 6"/>
          <p:cNvGrpSpPr/>
          <p:nvPr/>
        </p:nvGrpSpPr>
        <p:grpSpPr>
          <a:xfrm>
            <a:off x="2646128" y="3712943"/>
            <a:ext cx="1700000" cy="1080000"/>
            <a:chOff x="2646128" y="3712943"/>
            <a:chExt cx="1700000" cy="1080000"/>
          </a:xfrm>
        </p:grpSpPr>
        <p:sp>
          <p:nvSpPr>
            <p:cNvPr id="4" name="Rectangle 3"/>
            <p:cNvSpPr/>
            <p:nvPr/>
          </p:nvSpPr>
          <p:spPr>
            <a:xfrm>
              <a:off x="2646128" y="371294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Vehicle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2646128" y="415294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make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646128" y="447294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+drive() : void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412505" y="3517401"/>
            <a:ext cx="1700000" cy="1080000"/>
            <a:chOff x="2412505" y="3517401"/>
            <a:chExt cx="1700000" cy="1080000"/>
          </a:xfrm>
        </p:grpSpPr>
        <p:sp>
          <p:nvSpPr>
            <p:cNvPr id="8" name="Rectangle 7"/>
            <p:cNvSpPr/>
            <p:nvPr/>
          </p:nvSpPr>
          <p:spPr>
            <a:xfrm>
              <a:off x="2412505" y="351740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Car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2412505" y="395740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doors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412505" y="427740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+honk() : void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2456119" y="2008198"/>
            <a:ext cx="1700000" cy="1080000"/>
            <a:chOff x="2456119" y="2008198"/>
            <a:chExt cx="1700000" cy="1080000"/>
          </a:xfrm>
        </p:grpSpPr>
        <p:sp>
          <p:nvSpPr>
            <p:cNvPr id="12" name="Rectangle 11"/>
            <p:cNvSpPr/>
            <p:nvPr/>
          </p:nvSpPr>
          <p:spPr>
            <a:xfrm>
              <a:off x="2456119" y="2008198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Engine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456119" y="2448198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cylinders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456119" y="2768198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+ignite() : void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1193357" y="3805983"/>
            <a:ext cx="1700000" cy="1080000"/>
            <a:chOff x="1193357" y="3805983"/>
            <a:chExt cx="1700000" cy="1080000"/>
          </a:xfrm>
        </p:grpSpPr>
        <p:sp>
          <p:nvSpPr>
            <p:cNvPr id="16" name="Rectangle 15"/>
            <p:cNvSpPr/>
            <p:nvPr/>
          </p:nvSpPr>
          <p:spPr>
            <a:xfrm>
              <a:off x="1193357" y="380598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Wheel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193357" y="424598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size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193357" y="456598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4888961" y="3071587"/>
            <a:ext cx="1700000" cy="1080000"/>
            <a:chOff x="4888961" y="3071587"/>
            <a:chExt cx="1700000" cy="1080000"/>
          </a:xfrm>
        </p:grpSpPr>
        <p:sp>
          <p:nvSpPr>
            <p:cNvPr id="20" name="Rectangle 19"/>
            <p:cNvSpPr/>
            <p:nvPr/>
          </p:nvSpPr>
          <p:spPr>
            <a:xfrm>
              <a:off x="4888961" y="3071587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Driver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888961" y="3511587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name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4888961" y="3831587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+operate() : void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2988896" y="4958861"/>
            <a:ext cx="1700000" cy="1080000"/>
            <a:chOff x="2988896" y="4958861"/>
            <a:chExt cx="1700000" cy="1080000"/>
          </a:xfrm>
        </p:grpSpPr>
        <p:sp>
          <p:nvSpPr>
            <p:cNvPr id="24" name="Rectangle 23"/>
            <p:cNvSpPr/>
            <p:nvPr/>
          </p:nvSpPr>
          <p:spPr>
            <a:xfrm>
              <a:off x="2988896" y="495886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ILogger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2988896" y="539886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2988896" y="571886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+log() : void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6986800" y="2728920"/>
            <a:ext cx="1700000" cy="1080000"/>
            <a:chOff x="6986800" y="2728920"/>
            <a:chExt cx="1700000" cy="1080000"/>
          </a:xfrm>
        </p:grpSpPr>
        <p:sp>
          <p:nvSpPr>
            <p:cNvPr id="28" name="Rectangle 27"/>
            <p:cNvSpPr/>
            <p:nvPr/>
          </p:nvSpPr>
          <p:spPr>
            <a:xfrm>
              <a:off x="6986800" y="272892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Fuel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986800" y="316892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6986800" y="348892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6203229" y="2781555"/>
            <a:ext cx="1700000" cy="1080000"/>
            <a:chOff x="6203229" y="2781555"/>
            <a:chExt cx="1700000" cy="1080000"/>
          </a:xfrm>
        </p:grpSpPr>
        <p:sp>
          <p:nvSpPr>
            <p:cNvPr id="32" name="Rectangle 31"/>
            <p:cNvSpPr/>
            <p:nvPr/>
          </p:nvSpPr>
          <p:spPr>
            <a:xfrm>
              <a:off x="6203229" y="2781555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GPS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6203229" y="3221555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6203229" y="3541555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cxnSp>
        <p:nvCxnSpPr>
          <p:cNvPr id="36" name="Connector 35"/>
          <p:cNvCxnSpPr>
            <a:stCxn id="4" idx="0"/>
            <a:endCxn id="8" idx="2"/>
          </p:cNvCxnSpPr>
          <p:nvPr/>
        </p:nvCxnSpPr>
        <p:spPr>
          <a:xfrm flipH="1">
            <a:off x="3262505" y="3712943"/>
            <a:ext cx="233623" cy="244458"/>
          </a:xfrm>
          <a:prstGeom prst="line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8" idx="0"/>
            <a:endCxn id="12" idx="2"/>
          </p:cNvCxnSpPr>
          <p:nvPr/>
        </p:nvCxnSpPr>
        <p:spPr>
          <a:xfrm flipV="1">
            <a:off x="3262505" y="2448198"/>
            <a:ext cx="43614" cy="1069203"/>
          </a:xfrm>
          <a:prstGeom prst="line">
            <a:avLst/>
          </a:prstGeom>
          <a:ln>
            <a:tailEnd type="diamond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8" idx="3"/>
            <a:endCxn id="16" idx="1"/>
          </p:cNvCxnSpPr>
          <p:nvPr/>
        </p:nvCxnSpPr>
        <p:spPr>
          <a:xfrm flipH="1">
            <a:off x="1193357" y="3737401"/>
            <a:ext cx="2919148" cy="288582"/>
          </a:xfrm>
          <a:prstGeom prst="line">
            <a:avLst/>
          </a:prstGeom>
          <a:ln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3"/>
            <a:endCxn id="8" idx="1"/>
          </p:cNvCxnSpPr>
          <p:nvPr/>
        </p:nvCxnSpPr>
        <p:spPr>
          <a:xfrm flipH="1">
            <a:off x="2412505" y="3291587"/>
            <a:ext cx="4176456" cy="445814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1"/>
            <a:endCxn id="32" idx="3"/>
          </p:cNvCxnSpPr>
          <p:nvPr/>
        </p:nvCxnSpPr>
        <p:spPr>
          <a:xfrm flipV="1">
            <a:off x="4888961" y="3001555"/>
            <a:ext cx="3014268" cy="290032"/>
          </a:xfrm>
          <a:prstGeom prst="line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0" idx="1"/>
            <a:endCxn id="28" idx="3"/>
          </p:cNvCxnSpPr>
          <p:nvPr/>
        </p:nvCxnSpPr>
        <p:spPr>
          <a:xfrm flipV="1">
            <a:off x="4888961" y="2948920"/>
            <a:ext cx="3797839" cy="342667"/>
          </a:xfrm>
          <a:prstGeom prst="line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8" idx="2"/>
            <a:endCxn id="24" idx="0"/>
          </p:cNvCxnSpPr>
          <p:nvPr/>
        </p:nvCxnSpPr>
        <p:spPr>
          <a:xfrm>
            <a:off x="3262505" y="3957401"/>
            <a:ext cx="576391" cy="1001460"/>
          </a:xfrm>
          <a:prstGeom prst="line">
            <a:avLst/>
          </a:prstGeom>
          <a:ln>
            <a:prstDash val="dash"/>
            <a:head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2" idx="1"/>
            <a:endCxn id="28" idx="3"/>
          </p:cNvCxnSpPr>
          <p:nvPr/>
        </p:nvCxnSpPr>
        <p:spPr>
          <a:xfrm flipV="1">
            <a:off x="6203229" y="2948920"/>
            <a:ext cx="2483571" cy="5263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状態図（State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3907422" y="2095949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root_start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3734954" y="305500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待機中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4229427" y="364951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処理中</a:t>
            </a:r>
          </a:p>
        </p:txBody>
      </p:sp>
      <p:sp>
        <p:nvSpPr>
          <p:cNvPr id="7" name="Rectangle 6"/>
          <p:cNvSpPr/>
          <p:nvPr/>
        </p:nvSpPr>
        <p:spPr>
          <a:xfrm>
            <a:off x="3224463" y="486889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完了</a:t>
            </a:r>
          </a:p>
        </p:txBody>
      </p:sp>
      <p:sp>
        <p:nvSpPr>
          <p:cNvPr id="8" name="Rectangle 7"/>
          <p:cNvSpPr/>
          <p:nvPr/>
        </p:nvSpPr>
        <p:spPr>
          <a:xfrm>
            <a:off x="4973140" y="23835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エラー</a:t>
            </a:r>
          </a:p>
        </p:txBody>
      </p:sp>
      <p:sp>
        <p:nvSpPr>
          <p:cNvPr id="9" name="Rectangle 8"/>
          <p:cNvSpPr/>
          <p:nvPr/>
        </p:nvSpPr>
        <p:spPr>
          <a:xfrm>
            <a:off x="3762591" y="562616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root_end</a:t>
            </a:r>
          </a:p>
        </p:txBody>
      </p:sp>
      <p:cxnSp>
        <p:nvCxnSpPr>
          <p:cNvPr id="10" name="Connector 9"/>
          <p:cNvCxnSpPr>
            <a:stCxn id="4" idx="2"/>
            <a:endCxn id="5" idx="0"/>
          </p:cNvCxnSpPr>
          <p:nvPr/>
        </p:nvCxnSpPr>
        <p:spPr>
          <a:xfrm flipH="1">
            <a:off x="4334954" y="2595949"/>
            <a:ext cx="172468" cy="4590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2"/>
            <a:endCxn id="6" idx="0"/>
          </p:cNvCxnSpPr>
          <p:nvPr/>
        </p:nvCxnSpPr>
        <p:spPr>
          <a:xfrm>
            <a:off x="4334954" y="3555006"/>
            <a:ext cx="494473" cy="9451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6" idx="2"/>
            <a:endCxn id="7" idx="0"/>
          </p:cNvCxnSpPr>
          <p:nvPr/>
        </p:nvCxnSpPr>
        <p:spPr>
          <a:xfrm flipH="1">
            <a:off x="3824463" y="4149517"/>
            <a:ext cx="1004964" cy="7193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6" idx="0"/>
            <a:endCxn id="8" idx="2"/>
          </p:cNvCxnSpPr>
          <p:nvPr/>
        </p:nvCxnSpPr>
        <p:spPr>
          <a:xfrm flipV="1">
            <a:off x="4829427" y="2883560"/>
            <a:ext cx="743713" cy="7659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8" idx="3"/>
            <a:endCxn id="5" idx="1"/>
          </p:cNvCxnSpPr>
          <p:nvPr/>
        </p:nvCxnSpPr>
        <p:spPr>
          <a:xfrm flipH="1">
            <a:off x="3734954" y="2633560"/>
            <a:ext cx="2438186" cy="6714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2"/>
            <a:endCxn id="9" idx="0"/>
          </p:cNvCxnSpPr>
          <p:nvPr/>
        </p:nvCxnSpPr>
        <p:spPr>
          <a:xfrm>
            <a:off x="3824463" y="5368892"/>
            <a:ext cx="538128" cy="2572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ER図（Entity Relationship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7486800" y="51524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CUSTOMER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933580" y="331041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104438" y="189608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LINE-ITEM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1363180" y="409376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PRODUCT</a:t>
            </a:r>
          </a:p>
        </p:txBody>
      </p:sp>
      <p:cxnSp>
        <p:nvCxnSpPr>
          <p:cNvPr id="8" name="Connector 7"/>
          <p:cNvCxnSpPr>
            <a:stCxn id="4" idx="0"/>
            <a:endCxn id="5" idx="2"/>
          </p:cNvCxnSpPr>
          <p:nvPr/>
        </p:nvCxnSpPr>
        <p:spPr>
          <a:xfrm flipH="1" flipV="1">
            <a:off x="5533580" y="3810410"/>
            <a:ext cx="2553220" cy="13420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 flipH="1" flipV="1">
            <a:off x="2104438" y="2146087"/>
            <a:ext cx="4029142" cy="14143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7" idx="0"/>
            <a:endCxn id="6" idx="2"/>
          </p:cNvCxnSpPr>
          <p:nvPr/>
        </p:nvCxnSpPr>
        <p:spPr>
          <a:xfrm flipV="1">
            <a:off x="1963180" y="2396087"/>
            <a:ext cx="741258" cy="16976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ユーザージャーニー図（User Journey）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journey
    title オンラインショッピング体験
    section 商品探し
        サイト訪問    : 5: ユーザー
        検索実行      : 3: ユーザー
        商品選択      : 4: ユーザー
    section 購入
        カートに追加  : 5: ユーザー
        決済手続き    : 2: ユーザー
        注文完了      : 5: ユーザー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円グラフ（Pie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pie title 言語別コード比率
    "Python" : 42
    "TypeScript" : 28
    "Rust" : 15
    "Go" : 10
    "その他" : 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象限チャート（Quadrant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quadrantChart
    title 製品ポートフォリオ分析
    x-axis 低成長 --&gt; 高成長
    y-axis 低シェア --&gt; 高シェア
    quadrant-1 スター
    quadrant-2 問題児
    quadrant-3 負け犬
    quadrant-4 金のなる木
    製品A: [0.7, 0.8]
    製品B: [0.3, 0.7]
    製品C: [0.2, 0.3]
    製品D: [0.8, 0.3]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要件図（Requirement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requirementDiagram
    requirement test_req {
        id: 1
        text: システムは99.9%の可用性を持つこと
        risk: high
        verifymethod: test
    }
    functionalRequirement login_req {
        id: 2
        text: ユーザーはログインできること
        risk: medium
        verifymethod: inspection
    }
    test_req - traces -&gt; login_req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Gitグラフ（Git Graph）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gitGraph
    commit id: "initial"
    commit id: "feat: add login"
    branch develop
    checkout develop
    commit id: "fix: typo"
    commit id: "feat: add API"
    checkout main
    merge develop id: "merge develop"
    commit id: "release: v1.0"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マインドマップ（Mindmap）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2800400" y="342446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qmd_to_pptx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600" y="185182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入力形式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210344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Markdown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1436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出力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PPTX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600" y="386480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機能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86800" y="310993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数式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Mermaid図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11642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テーブル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86800" y="461967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コード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43600" y="537454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利用方法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86800" y="512291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ライブラリ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86800" y="562616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MCPサーバー</a:t>
            </a:r>
          </a:p>
        </p:txBody>
      </p:sp>
      <p:cxnSp>
        <p:nvCxnSpPr>
          <p:cNvPr id="18" name="Connector 17"/>
          <p:cNvCxnSpPr>
            <a:stCxn id="4" idx="0"/>
            <a:endCxn id="5" idx="2"/>
          </p:cNvCxnSpPr>
          <p:nvPr/>
        </p:nvCxnSpPr>
        <p:spPr>
          <a:xfrm flipV="1">
            <a:off x="3400400" y="2351822"/>
            <a:ext cx="2343200" cy="10726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 flipV="1">
            <a:off x="5143600" y="1850200"/>
            <a:ext cx="3543200" cy="251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5" idx="1"/>
            <a:endCxn id="7" idx="3"/>
          </p:cNvCxnSpPr>
          <p:nvPr/>
        </p:nvCxnSpPr>
        <p:spPr>
          <a:xfrm>
            <a:off x="5143600" y="2101822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4" idx="1"/>
            <a:endCxn id="8" idx="3"/>
          </p:cNvCxnSpPr>
          <p:nvPr/>
        </p:nvCxnSpPr>
        <p:spPr>
          <a:xfrm flipV="1">
            <a:off x="2800400" y="2856690"/>
            <a:ext cx="3543200" cy="817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5143600" y="2856690"/>
            <a:ext cx="35432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4" idx="1"/>
            <a:endCxn id="10" idx="3"/>
          </p:cNvCxnSpPr>
          <p:nvPr/>
        </p:nvCxnSpPr>
        <p:spPr>
          <a:xfrm>
            <a:off x="2800400" y="3674464"/>
            <a:ext cx="3543200" cy="4403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 flipV="1">
            <a:off x="5143600" y="3359936"/>
            <a:ext cx="3543200" cy="754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0" idx="1"/>
            <a:endCxn id="12" idx="3"/>
          </p:cNvCxnSpPr>
          <p:nvPr/>
        </p:nvCxnSpPr>
        <p:spPr>
          <a:xfrm flipV="1">
            <a:off x="5143600" y="3863181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0" idx="1"/>
            <a:endCxn id="13" idx="3"/>
          </p:cNvCxnSpPr>
          <p:nvPr/>
        </p:nvCxnSpPr>
        <p:spPr>
          <a:xfrm>
            <a:off x="5143600" y="4114804"/>
            <a:ext cx="3543200" cy="251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0" idx="1"/>
            <a:endCxn id="14" idx="3"/>
          </p:cNvCxnSpPr>
          <p:nvPr/>
        </p:nvCxnSpPr>
        <p:spPr>
          <a:xfrm>
            <a:off x="5143600" y="4114804"/>
            <a:ext cx="3543200" cy="754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4" idx="2"/>
            <a:endCxn id="15" idx="0"/>
          </p:cNvCxnSpPr>
          <p:nvPr/>
        </p:nvCxnSpPr>
        <p:spPr>
          <a:xfrm>
            <a:off x="3400400" y="3924464"/>
            <a:ext cx="2343200" cy="145007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1"/>
            <a:endCxn id="16" idx="3"/>
          </p:cNvCxnSpPr>
          <p:nvPr/>
        </p:nvCxnSpPr>
        <p:spPr>
          <a:xfrm flipV="1">
            <a:off x="5143600" y="5372917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5" idx="1"/>
            <a:endCxn id="17" idx="3"/>
          </p:cNvCxnSpPr>
          <p:nvPr/>
        </p:nvCxnSpPr>
        <p:spPr>
          <a:xfrm>
            <a:off x="5143600" y="5624540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タイムライン（Timeline）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timeline
    title ソフトウェア開発史
    1960 : アセンブリ言語
    1970 : C言語
         : Unix
    1980 : C++
         : Macintosh
    1990 : Java
         : World Wide Web
    2000 : Python普及
         : Agile開発
    2010 : クラウドコンピューティング
    2020 : AI・機械学習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ZenUML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zenuml
    title 注文処理
    @Actor Client
    @Database DB
    Client -&gt; Server.process(order) {
        Server -&gt; DB.save(order)
        return orderId
    }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サンキー図（Sankey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sankey-beta
    エネルギー源,電力,60
    エネルギー源,熱,40
    電力,家庭用,25
    電力,産業用,35
    熱,暖房,30
    熱,給湯,10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XYチャート（XY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xychart-beta
    title "月別売上推移"
    x-axis [1月, 2月, 3月, 4月, 5月, 6月]
    y-axis "売上（万円）" 0 --&gt; 1000
    bar [400, 500, 650, 720, 850, 900]
    line [400, 500, 650, 720, 850, 900]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ブロック図（Block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block-beta
    columns 3
    A["フロントエンド"]:1
    B["APIゲートウェイ"]:1
    C["バックエンド"]:1
    D["認証サービス"]:1
    E["データベース"]:1
    F["キャッシュ"]:1
    A --&gt; B
    B --&gt; C
    B --&gt; D
    C --&gt; E
    C --&gt; F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パケット図（Packet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packet-beta
    title TCP パケット構造
    0-15: "送信元ポート"
    16-31: "宛先ポート"
    32-63: "シーケンス番号"
    64-95: "確認応答番号"
    96-99: "データオフセット"
    100-105: "予約"
    106-111: "フラグ"
    112-127: "ウィンドウサイズ"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カンバン（Kanban）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kanban
    todo["To Do"]
        task1["要件定義"]
        task2["DB設計"]
    inprogress["In Progress"]
        task3["API実装"]
        task4["テスト作成"]
    done["Done"]
        task5["環境構築"]
        task6["仕様策定"]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アーキテクチャ図（Architecture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architecture-beta
    group cloud(cloud)[クラウド]
    service web(internet)[Webサーバー] in cloud
    service api(server)[APIサーバー] in cloud
    service db(database)[データベース] in cloud
    service cache(disk)[キャッシュ] in cloud
    web:R --&gt; L:api
    api:R --&gt; L:db
    api:B --&gt; T:cache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C4図（C4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C4Context
    title システムコンテキスト図
    Person(user, "ユーザー", "アプリケーションを利用する人")
    System(app, "Webアプリ", "主要なシステム")
    System_Ext(email, "メールサービス", "通知送信")
    System_Ext(payment, "決済サービス", "支払い処理")
    Rel(user, app, "利用する", "HTTPS")
    Rel(app, email, "送信する", "SMTP")
    Rel(app, payment, "呼び出す", "API")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7271770" y="434881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スタート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4187029" y="358152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90921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エンド</a:t>
            </a:r>
          </a:p>
        </p:txBody>
      </p:sp>
      <p:cxnSp>
        <p:nvCxnSpPr>
          <p:cNvPr id="7" name="Connector 6"/>
          <p:cNvCxnSpPr>
            <a:stCxn id="4" idx="3"/>
            <a:endCxn id="5" idx="1"/>
          </p:cNvCxnSpPr>
          <p:nvPr/>
        </p:nvCxnSpPr>
        <p:spPr>
          <a:xfrm flipH="1" flipV="1">
            <a:off x="4187029" y="3831520"/>
            <a:ext cx="4284741" cy="7672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3"/>
            <a:endCxn id="6" idx="1"/>
          </p:cNvCxnSpPr>
          <p:nvPr/>
        </p:nvCxnSpPr>
        <p:spPr>
          <a:xfrm flipH="1" flipV="1">
            <a:off x="457200" y="3159210"/>
            <a:ext cx="4929829" cy="67231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r>
              <a:rPr sz="1400">
                <a:latin typeface="Courier New"/>
              </a:rPr>
              <a:t>import math
print(math.pi)
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Mermaid図（全22種類）</a:t>
            </a:r>
          </a:p>
          <a:p>
            <a:pPr/>
            <a:r>
              <a:rPr sz="1800"/>
              <a:t>Flowchart / Sequence / Gantt / Class / State</a:t>
            </a:r>
          </a:p>
          <a:p>
            <a:pPr/>
            <a:r>
              <a:rPr sz="1800"/>
              <a:t>ER / User Journey / Pie / Quadrant / Requirement</a:t>
            </a:r>
          </a:p>
          <a:p>
            <a:pPr/>
            <a:r>
              <a:rPr sz="1800"/>
              <a:t>Git Graph / Mindmap / Timeline / ZenUML / Sankey</a:t>
            </a:r>
          </a:p>
          <a:p>
            <a:pPr/>
            <a:r>
              <a:rPr sz="1800"/>
              <a:t>XY Chart / Block / Packet / Kanban / Architecture / C4</a:t>
            </a:r>
          </a:p>
          <a:p>
            <a:pPr/>
            <a:r>
              <a:rPr sz="1800"/>
              <a:t>Quartoネイティブ記法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