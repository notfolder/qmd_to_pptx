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9"/>
    <p:sldId id="308" r:id="rId60"/>
    <p:sldId id="309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notesMaster" Target="notesMasters/notesMaster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言語別コード比率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Python</c:v>
                </c:pt>
                <c:pt idx="1">
                  <c:v>TypeScript</c:v>
                </c:pt>
                <c:pt idx="2">
                  <c:v>Rust</c:v>
                </c:pt>
                <c:pt idx="3">
                  <c:v>Go</c:v>
                </c:pt>
                <c:pt idx="4">
                  <c:v>その他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28.0</c:v>
                </c:pt>
                <c:pt idx="2">
                  <c:v>15.0</c:v>
                </c:pt>
                <c:pt idx="3">
                  <c:v>10.0</c:v>
                </c:pt>
                <c:pt idx="4">
                  <c:v>5.0</c:v>
                </c:pt>
              </c:numCache>
            </c:numRef>
          </c:val>
        </c:ser>
        <c:dLbls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800" b="1"/>
              <a:t>売上内訳（百万円）</a:t>
            </a:r>
          </a:p>
        </c:rich>
      </c:tx>
      <c:layout/>
      <c:overlay val="0"/>
    </c:title>
    <c:autoTitleDeleted val="0"/>
    <c:plotArea>
      <c:pieChart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製品A</c:v>
                </c:pt>
                <c:pt idx="1">
                  <c:v>製品B</c:v>
                </c:pt>
                <c:pt idx="2">
                  <c:v>製品C</c:v>
                </c:pt>
                <c:pt idx="3">
                  <c:v>サービス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120.5</c:v>
                </c:pt>
                <c:pt idx="1">
                  <c:v>87.3</c:v>
                </c:pt>
                <c:pt idx="2">
                  <c:v>54.0</c:v>
                </c:pt>
                <c:pt idx="3">
                  <c:v>38.2</c:v>
                </c:pt>
              </c:numCache>
            </c:numRef>
          </c:val>
        </c:ser>
        <c:dLbls>
          <c:dLblPos val="bestFit"/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3"/>
            <a:endCxn id="5" idx="1"/>
          </p:cNvCxnSpPr>
          <p:nvPr/>
        </p:nvCxnSpPr>
        <p:spPr>
          <a:xfrm>
            <a:off x="165720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3"/>
            <a:endCxn id="6" idx="1"/>
          </p:cNvCxnSpPr>
          <p:nvPr/>
        </p:nvCxnSpPr>
        <p:spPr>
          <a:xfrm>
            <a:off x="306312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3"/>
            <a:endCxn id="7" idx="1"/>
          </p:cNvCxnSpPr>
          <p:nvPr/>
        </p:nvCxnSpPr>
        <p:spPr>
          <a:xfrm>
            <a:off x="446904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3"/>
            <a:endCxn id="8" idx="1"/>
          </p:cNvCxnSpPr>
          <p:nvPr/>
        </p:nvCxnSpPr>
        <p:spPr>
          <a:xfrm>
            <a:off x="587496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3"/>
            <a:endCxn id="9" idx="1"/>
          </p:cNvCxnSpPr>
          <p:nvPr/>
        </p:nvCxnSpPr>
        <p:spPr>
          <a:xfrm>
            <a:off x="7280880" y="2437860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1"/>
            <a:endCxn id="10" idx="3"/>
          </p:cNvCxnSpPr>
          <p:nvPr/>
        </p:nvCxnSpPr>
        <p:spPr>
          <a:xfrm flipH="1">
            <a:off x="1657200" y="2437860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3"/>
            <a:endCxn id="11" idx="1"/>
          </p:cNvCxnSpPr>
          <p:nvPr/>
        </p:nvCxnSpPr>
        <p:spPr>
          <a:xfrm>
            <a:off x="165720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3"/>
            <a:endCxn id="12" idx="1"/>
          </p:cNvCxnSpPr>
          <p:nvPr/>
        </p:nvCxnSpPr>
        <p:spPr>
          <a:xfrm>
            <a:off x="306312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>
            <a:off x="446904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>
            <a:off x="587496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7280880" y="3863181"/>
            <a:ext cx="2059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H="1">
            <a:off x="1657200" y="3863181"/>
            <a:ext cx="5829600" cy="142532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1"/>
          </p:cNvCxnSpPr>
          <p:nvPr/>
        </p:nvCxnSpPr>
        <p:spPr>
          <a:xfrm>
            <a:off x="1657200" y="5288502"/>
            <a:ext cx="58296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1"/>
            <a:endCxn id="6" idx="3"/>
          </p:cNvCxnSpPr>
          <p:nvPr/>
        </p:nvCxnSpPr>
        <p:spPr>
          <a:xfrm flipH="1">
            <a:off x="16572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7" idx="1"/>
          </p:cNvCxnSpPr>
          <p:nvPr/>
        </p:nvCxnSpPr>
        <p:spPr>
          <a:xfrm>
            <a:off x="5172000" y="2655392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3"/>
            <a:endCxn id="11" idx="1"/>
          </p:cNvCxnSpPr>
          <p:nvPr/>
        </p:nvCxnSpPr>
        <p:spPr>
          <a:xfrm>
            <a:off x="1657200" y="4265777"/>
            <a:ext cx="11432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3"/>
            <a:endCxn id="12" idx="1"/>
          </p:cNvCxnSpPr>
          <p:nvPr/>
        </p:nvCxnSpPr>
        <p:spPr>
          <a:xfrm>
            <a:off x="1657200" y="4265777"/>
            <a:ext cx="34864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3"/>
            <a:endCxn id="14" idx="1"/>
          </p:cNvCxnSpPr>
          <p:nvPr/>
        </p:nvCxnSpPr>
        <p:spPr>
          <a:xfrm>
            <a:off x="16572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5172000" y="5070970"/>
            <a:ext cx="2314800" cy="8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" name="グループ 33"/>
          <p:cNvGrpSpPr/>
          <p:nvPr/>
        </p:nvGrpSpPr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グループ 27"/>
          <p:cNvGrpSpPr/>
          <p:nvPr/>
        </p:nvGrpSpPr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nvGrpSpPr>
          <p:cNvPr id="29" name="グループ 29"/>
          <p:cNvGrpSpPr/>
          <p:nvPr/>
        </p:nvGrpSpPr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nvGrpSpPr>
          <p:cNvPr id="30" name="グループ 30"/>
          <p:cNvGrpSpPr/>
          <p:nvPr/>
        </p:nvGrpSpPr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3"/>
            <a:endCxn id="8" idx="1"/>
          </p:cNvCxnSpPr>
          <p:nvPr/>
        </p:nvCxnSpPr>
        <p:spPr>
          <a:xfrm>
            <a:off x="2157200" y="1820200"/>
            <a:ext cx="15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3"/>
            <a:endCxn id="12" idx="1"/>
          </p:cNvCxnSpPr>
          <p:nvPr/>
        </p:nvCxnSpPr>
        <p:spPr>
          <a:xfrm>
            <a:off x="5422000" y="1820200"/>
            <a:ext cx="15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1"/>
            <a:endCxn id="16" idx="3"/>
          </p:cNvCxnSpPr>
          <p:nvPr/>
        </p:nvCxnSpPr>
        <p:spPr>
          <a:xfrm flipH="1">
            <a:off x="2157200" y="1820200"/>
            <a:ext cx="15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1"/>
            <a:endCxn id="28" idx="3"/>
          </p:cNvCxnSpPr>
          <p:nvPr/>
        </p:nvCxnSpPr>
        <p:spPr>
          <a:xfrm flipH="1">
            <a:off x="2157200" y="3543181"/>
            <a:ext cx="15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3"/>
            <a:endCxn id="24" idx="1"/>
          </p:cNvCxnSpPr>
          <p:nvPr/>
        </p:nvCxnSpPr>
        <p:spPr>
          <a:xfrm>
            <a:off x="5422000" y="1820200"/>
            <a:ext cx="15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1"/>
            <a:endCxn id="28" idx="3"/>
          </p:cNvCxnSpPr>
          <p:nvPr/>
        </p:nvCxnSpPr>
        <p:spPr>
          <a:xfrm flipH="1">
            <a:off x="2157200" y="5266163"/>
            <a:ext cx="15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3"/>
            <a:endCxn id="7" idx="1"/>
          </p:cNvCxnSpPr>
          <p:nvPr/>
        </p:nvCxnSpPr>
        <p:spPr>
          <a:xfrm>
            <a:off x="5172000" y="3863181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1"/>
            <a:endCxn id="8" idx="3"/>
          </p:cNvCxnSpPr>
          <p:nvPr/>
        </p:nvCxnSpPr>
        <p:spPr>
          <a:xfrm flipH="1">
            <a:off x="2008679" y="3863181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3"/>
            <a:endCxn id="5" idx="1"/>
          </p:cNvCxnSpPr>
          <p:nvPr/>
        </p:nvCxnSpPr>
        <p:spPr>
          <a:xfrm flipV="1">
            <a:off x="2008679" y="2957339"/>
            <a:ext cx="1963321" cy="1811684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1"/>
            <a:endCxn id="9" idx="3"/>
          </p:cNvCxnSpPr>
          <p:nvPr/>
        </p:nvCxnSpPr>
        <p:spPr>
          <a:xfrm flipH="1">
            <a:off x="4797000" y="4769023"/>
            <a:ext cx="2338320" cy="90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 21"/>
          <p:cNvGrpSpPr/>
          <p:nvPr/>
        </p:nvGrpSpPr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nvGrpSpPr>
          <p:cNvPr id="22" name="グループ 22"/>
          <p:cNvGrpSpPr/>
          <p:nvPr/>
        </p:nvGrpSpPr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nvGrpSpPr>
          <p:cNvPr id="23" name="グループ 23"/>
          <p:cNvGrpSpPr/>
          <p:nvPr/>
        </p:nvGrpSpPr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3"/>
            <a:endCxn id="4" idx="1"/>
          </p:cNvCxnSpPr>
          <p:nvPr/>
        </p:nvCxnSpPr>
        <p:spPr>
          <a:xfrm>
            <a:off x="1598679" y="3863181"/>
            <a:ext cx="127332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3"/>
            <a:endCxn id="12" idx="1"/>
          </p:cNvCxnSpPr>
          <p:nvPr/>
        </p:nvCxnSpPr>
        <p:spPr>
          <a:xfrm>
            <a:off x="3141999" y="3608180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3"/>
            <a:endCxn id="13" idx="1"/>
          </p:cNvCxnSpPr>
          <p:nvPr/>
        </p:nvCxnSpPr>
        <p:spPr>
          <a:xfrm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1"/>
            <a:endCxn id="12" idx="3"/>
          </p:cNvCxnSpPr>
          <p:nvPr/>
        </p:nvCxnSpPr>
        <p:spPr>
          <a:xfrm flipH="1">
            <a:off x="5172000" y="3608180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3"/>
            <a:endCxn id="15" idx="1"/>
          </p:cNvCxnSpPr>
          <p:nvPr/>
        </p:nvCxnSpPr>
        <p:spPr>
          <a:xfrm>
            <a:off x="3141999" y="4958181"/>
            <a:ext cx="830001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3"/>
            <a:endCxn id="16" idx="1"/>
          </p:cNvCxnSpPr>
          <p:nvPr/>
        </p:nvCxnSpPr>
        <p:spPr>
          <a:xfrm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1"/>
            <a:endCxn id="15" idx="3"/>
          </p:cNvCxnSpPr>
          <p:nvPr/>
        </p:nvCxnSpPr>
        <p:spPr>
          <a:xfrm flipH="1">
            <a:off x="5172000" y="4958181"/>
            <a:ext cx="4200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4" idx="3"/>
            <a:endCxn id="9" idx="1"/>
          </p:cNvCxnSpPr>
          <p:nvPr/>
        </p:nvCxnSpPr>
        <p:spPr>
          <a:xfrm>
            <a:off x="6272000" y="3863181"/>
            <a:ext cx="123832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グループ 30"/>
          <p:cNvGrpSpPr/>
          <p:nvPr/>
        </p:nvGrpSpPr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1" name="グループ 31"/>
          <p:cNvGrpSpPr/>
          <p:nvPr/>
        </p:nvGrpSpPr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nvGrpSpPr>
          <p:cNvPr id="32" name="グループ 32"/>
          <p:cNvGrpSpPr/>
          <p:nvPr/>
        </p:nvGrpSpPr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nvGrpSpPr>
          <p:cNvPr id="33" name="グループ 33"/>
          <p:cNvGrpSpPr/>
          <p:nvPr/>
        </p:nvGrpSpPr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1"/>
            <a:endCxn id="8" idx="3"/>
          </p:cNvCxnSpPr>
          <p:nvPr/>
        </p:nvCxnSpPr>
        <p:spPr>
          <a:xfrm flipH="1">
            <a:off x="2008679" y="2957339"/>
            <a:ext cx="19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3"/>
            <a:endCxn id="9" idx="1"/>
          </p:cNvCxnSpPr>
          <p:nvPr/>
        </p:nvCxnSpPr>
        <p:spPr>
          <a:xfrm>
            <a:off x="5172000" y="2957339"/>
            <a:ext cx="19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3"/>
            <a:endCxn id="4" idx="1"/>
          </p:cNvCxnSpPr>
          <p:nvPr/>
        </p:nvCxnSpPr>
        <p:spPr>
          <a:xfrm>
            <a:off x="2008679" y="3863181"/>
            <a:ext cx="863321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1"/>
            <a:endCxn id="4" idx="3"/>
          </p:cNvCxnSpPr>
          <p:nvPr/>
        </p:nvCxnSpPr>
        <p:spPr>
          <a:xfrm flipH="1">
            <a:off x="6272000" y="3863181"/>
            <a:ext cx="863320" cy="905842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グループ 26"/>
          <p:cNvGrpSpPr/>
          <p:nvPr/>
        </p:nvGrpSpPr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nvGrpSpPr>
          <p:cNvPr id="27" name="グループ 27"/>
          <p:cNvGrpSpPr/>
          <p:nvPr/>
        </p:nvGrpSpPr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nvGrpSpPr>
          <p:cNvPr id="28" name="グループ 28"/>
          <p:cNvGrpSpPr/>
          <p:nvPr/>
        </p:nvGrpSpPr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33" name="グループ 33"/>
          <p:cNvGrpSpPr/>
          <p:nvPr/>
        </p:nvGrpSpPr>
        <p:grpSpPr>
          <a:xfrm>
            <a:off x="6019516" y="4036394"/>
            <a:ext cx="2400000" cy="1889769"/>
            <a:chOff x="6019516" y="4036394"/>
            <a:chExt cx="2400000" cy="1889769"/>
          </a:xfrm>
        </p:grpSpPr>
        <p:sp>
          <p:nvSpPr>
            <p:cNvPr id="4" name="Rectangle 3"/>
            <p:cNvSpPr/>
            <p:nvPr/>
          </p:nvSpPr>
          <p:spPr>
            <a:xfrm>
              <a:off x="6019516" y="4606163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" name="Rectangle 4"/>
            <p:cNvSpPr/>
            <p:nvPr/>
          </p:nvSpPr>
          <p:spPr>
            <a:xfrm>
              <a:off x="6019516" y="4606163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CUSTOMER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019516" y="50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019516" y="5326163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019516" y="5626163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email             </a:t>
              </a:r>
              <a:r>
                <a:rPr sz="800" b="1">
                  <a:solidFill>
                    <a:srgbClr val="008000"/>
                  </a:solidFill>
                </a:rPr>
                <a:t>  UK</a:t>
              </a:r>
              <a:r>
                <a:rPr sz="800" i="1">
                  <a:solidFill>
                    <a:srgbClr val="828282"/>
                  </a:solidFill>
                </a:rPr>
                <a:t>  "Email address"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071062" y="4326250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655013" y="4036394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places</a:t>
              </a:r>
            </a:p>
          </p:txBody>
        </p:sp>
      </p:grpSp>
      <p:grpSp>
        <p:nvGrpSpPr>
          <p:cNvPr id="34" name="グループ 34"/>
          <p:cNvGrpSpPr/>
          <p:nvPr/>
        </p:nvGrpSpPr>
        <p:grpSpPr>
          <a:xfrm>
            <a:off x="5045176" y="2502705"/>
            <a:ext cx="3441624" cy="1599913"/>
            <a:chOff x="5045176" y="2502705"/>
            <a:chExt cx="3441624" cy="1599913"/>
          </a:xfrm>
        </p:grpSpPr>
        <p:sp>
          <p:nvSpPr>
            <p:cNvPr id="9" name="Rectangle 8"/>
            <p:cNvSpPr/>
            <p:nvPr/>
          </p:nvSpPr>
          <p:spPr>
            <a:xfrm>
              <a:off x="6086800" y="2502705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Rectangle 9"/>
            <p:cNvSpPr/>
            <p:nvPr/>
          </p:nvSpPr>
          <p:spPr>
            <a:xfrm>
              <a:off x="6086800" y="2502705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ORDER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086800" y="29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id  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086800" y="3222705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1"/>
                <a:t>  customer_id       </a:t>
              </a:r>
              <a:r>
                <a:rPr sz="800" b="1">
                  <a:solidFill>
                    <a:srgbClr val="0046B4"/>
                  </a:solidFill>
                </a:rPr>
                <a:t>  FK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086800" y="3522705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date      </a:t>
              </a:r>
              <a:r>
                <a:rPr sz="900" b="0"/>
                <a:t>  ordered_at       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085253" y="3882618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744964" y="27852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45176" y="272148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contains</a:t>
              </a:r>
            </a:p>
          </p:txBody>
        </p:sp>
      </p:grpSp>
      <p:grpSp>
        <p:nvGrpSpPr>
          <p:cNvPr id="35" name="グループ 35"/>
          <p:cNvGrpSpPr/>
          <p:nvPr/>
        </p:nvGrpSpPr>
        <p:grpSpPr>
          <a:xfrm>
            <a:off x="2496601" y="1800200"/>
            <a:ext cx="2741836" cy="1546006"/>
            <a:chOff x="2496601" y="1800200"/>
            <a:chExt cx="2741836" cy="1546006"/>
          </a:xfrm>
        </p:grpSpPr>
        <p:sp>
          <p:nvSpPr>
            <p:cNvPr id="14" name="Rectangle 13"/>
            <p:cNvSpPr/>
            <p:nvPr/>
          </p:nvSpPr>
          <p:spPr>
            <a:xfrm>
              <a:off x="2496601" y="1800200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2496601" y="1800200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LINE-ITEM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496601" y="22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productCode       </a:t>
              </a:r>
              <a:r>
                <a:rPr sz="800" b="1">
                  <a:solidFill>
                    <a:srgbClr val="C40000"/>
                  </a:solidFill>
                </a:rPr>
                <a:t>  PK,FK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496601" y="2520200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int       </a:t>
              </a:r>
              <a:r>
                <a:rPr sz="900" b="0"/>
                <a:t>  quantity          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496601" y="2820200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pricePerUnit      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888437" y="261765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1..*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690327" y="3126206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</p:grpSp>
      <p:grpSp>
        <p:nvGrpSpPr>
          <p:cNvPr id="36" name="グループ 36"/>
          <p:cNvGrpSpPr/>
          <p:nvPr/>
        </p:nvGrpSpPr>
        <p:grpSpPr>
          <a:xfrm>
            <a:off x="657200" y="3090233"/>
            <a:ext cx="2835950" cy="1747075"/>
            <a:chOff x="657200" y="3090233"/>
            <a:chExt cx="2835950" cy="1747075"/>
          </a:xfrm>
        </p:grpSpPr>
        <p:sp>
          <p:nvSpPr>
            <p:cNvPr id="19" name="Rectangle 18"/>
            <p:cNvSpPr/>
            <p:nvPr/>
          </p:nvSpPr>
          <p:spPr>
            <a:xfrm>
              <a:off x="657200" y="3517308"/>
              <a:ext cx="2400000" cy="1320000"/>
            </a:xfrm>
            <a:prstGeom prst="rect">
              <a:avLst/>
            </a:prstGeom>
            <a:noFill/>
            <a:ln>
              <a:solidFill>
                <a:srgbClr val="1F497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Rectangle 19"/>
            <p:cNvSpPr/>
            <p:nvPr/>
          </p:nvSpPr>
          <p:spPr>
            <a:xfrm>
              <a:off x="657200" y="3517308"/>
              <a:ext cx="2400000" cy="42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 b="1">
                  <a:solidFill>
                    <a:srgbClr val="FFFFFF"/>
                  </a:solidFill>
                </a:rPr>
                <a:t>PRODUCT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57200" y="39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1"/>
                <a:t>  code              </a:t>
              </a:r>
              <a:r>
                <a:rPr sz="800" b="1">
                  <a:solidFill>
                    <a:srgbClr val="C40000"/>
                  </a:solidFill>
                </a:rPr>
                <a:t>  PK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57200" y="4237308"/>
              <a:ext cx="2400000" cy="300000"/>
            </a:xfrm>
            <a:prstGeom prst="rect">
              <a:avLst/>
            </a:prstGeom>
            <a:solidFill>
              <a:srgbClr val="EBF1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string    </a:t>
              </a:r>
              <a:r>
                <a:rPr sz="900" b="0"/>
                <a:t>  name              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57200" y="4537308"/>
              <a:ext cx="2400000" cy="3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 lIns="80000" tIns="30000" rIns="80000" bIns="30000"/>
            <a:lstStyle/>
            <a:p>
              <a:pPr algn="ctr"/>
              <a:r>
                <a:rPr sz="900">
                  <a:solidFill>
                    <a:srgbClr val="646464"/>
                  </a:solidFill>
                </a:rPr>
                <a:t>float     </a:t>
              </a:r>
              <a:r>
                <a:rPr sz="900" b="0"/>
                <a:t>  price             </a:t>
              </a:r>
              <a:r>
                <a:rPr sz="800" i="1">
                  <a:solidFill>
                    <a:srgbClr val="828282"/>
                  </a:solidFill>
                </a:rPr>
                <a:t>  "Unit price"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13473" y="3291302"/>
              <a:ext cx="350000" cy="22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b="1">
                  <a:solidFill>
                    <a:srgbClr val="323232"/>
                  </a:solidFill>
                </a:rPr>
                <a:t>0..*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293150" y="3090233"/>
              <a:ext cx="1200000" cy="240000"/>
            </a:xfrm>
            <a:prstGeom prst="rect">
              <a:avLst/>
            </a:prstGeom>
            <a:solidFill>
              <a:srgbClr val="F5F5FF"/>
            </a:solidFill>
            <a:ln>
              <a:noFill/>
            </a:ln>
          </p:spPr>
          <p:txBody>
            <a:bodyPr wrap="none">
              <a:spAutoFit/>
            </a:bodyPr>
            <a:lstStyle/>
            <a:p>
              <a:pPr algn="ctr"/>
              <a:r>
                <a:rPr sz="900" i="1">
                  <a:solidFill>
                    <a:srgbClr val="505050"/>
                  </a:solidFill>
                </a:rPr>
                <a:t>includes</a:t>
              </a:r>
            </a:p>
          </p:txBody>
        </p:sp>
      </p:grpSp>
      <p:cxnSp>
        <p:nvCxnSpPr>
          <p:cNvPr id="37" name="Connector 36"/>
          <p:cNvCxnSpPr>
            <a:stCxn id="4" idx="0"/>
            <a:endCxn id="9" idx="2"/>
          </p:cNvCxnSpPr>
          <p:nvPr/>
        </p:nvCxnSpPr>
        <p:spPr>
          <a:xfrm flipV="1">
            <a:off x="7219516" y="3822705"/>
            <a:ext cx="67284" cy="783458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1"/>
            <a:endCxn id="14" idx="3"/>
          </p:cNvCxnSpPr>
          <p:nvPr/>
        </p:nvCxnSpPr>
        <p:spPr>
          <a:xfrm flipH="1" flipV="1">
            <a:off x="4896601" y="2460200"/>
            <a:ext cx="1190199" cy="702505"/>
          </a:xfrm>
          <a:prstGeom prst="line">
            <a:avLst/>
          </a:prstGeom>
          <a:ln>
            <a:solidFill>
              <a:srgbClr val="323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9" idx="3"/>
            <a:endCxn id="14" idx="1"/>
          </p:cNvCxnSpPr>
          <p:nvPr/>
        </p:nvCxnSpPr>
        <p:spPr>
          <a:xfrm flipV="1" flipH="1">
            <a:off x="2496601" y="2460200"/>
            <a:ext cx="560599" cy="1717108"/>
          </a:xfrm>
          <a:prstGeom prst="line">
            <a:avLst/>
          </a:prstGeom>
          <a:ln>
            <a:solidFill>
              <a:srgbClr val="32323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5431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オンラインショッピング体験</a:t>
            </a:r>
          </a:p>
        </p:txBody>
      </p:sp>
      <p:sp>
        <p:nvSpPr>
          <p:cNvPr id="5" name="Oval 4"/>
          <p:cNvSpPr/>
          <p:nvPr/>
        </p:nvSpPr>
        <p:spPr>
          <a:xfrm>
            <a:off x="537200" y="2263315"/>
            <a:ext cx="160000" cy="16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7200" y="2143315"/>
            <a:ext cx="7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28283C"/>
                </a:solidFill>
              </a:rPr>
              <a:t>ユーザー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7200" y="2143315"/>
            <a:ext cx="3539800" cy="796569"/>
          </a:xfrm>
          <a:prstGeom prst="roundRect">
            <a:avLst/>
          </a:prstGeom>
          <a:solidFill>
            <a:srgbClr val="5B4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商品探し</a:t>
            </a:r>
          </a:p>
        </p:txBody>
      </p:sp>
      <p:sp>
        <p:nvSpPr>
          <p:cNvPr id="8" name="Oval 7"/>
          <p:cNvSpPr/>
          <p:nvPr/>
        </p:nvSpPr>
        <p:spPr>
          <a:xfrm>
            <a:off x="1602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97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サイト訪問</a:t>
            </a:r>
          </a:p>
        </p:txBody>
      </p:sp>
      <p:sp>
        <p:nvSpPr>
          <p:cNvPr id="10" name="Oval 9"/>
          <p:cNvSpPr/>
          <p:nvPr/>
        </p:nvSpPr>
        <p:spPr>
          <a:xfrm>
            <a:off x="2035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7995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938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検索実行</a:t>
            </a:r>
          </a:p>
        </p:txBody>
      </p:sp>
      <p:sp>
        <p:nvSpPr>
          <p:cNvPr id="13" name="Oval 12"/>
          <p:cNvSpPr/>
          <p:nvPr/>
        </p:nvSpPr>
        <p:spPr>
          <a:xfrm>
            <a:off x="32321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961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904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5B4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商品選択</a:t>
            </a:r>
          </a:p>
        </p:txBody>
      </p:sp>
      <p:sp>
        <p:nvSpPr>
          <p:cNvPr id="16" name="Oval 15"/>
          <p:cNvSpPr/>
          <p:nvPr/>
        </p:nvSpPr>
        <p:spPr>
          <a:xfrm>
            <a:off x="44287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47000" y="2143315"/>
            <a:ext cx="3539800" cy="796569"/>
          </a:xfrm>
          <a:prstGeom prst="roundRect">
            <a:avLst/>
          </a:prstGeom>
          <a:solidFill>
            <a:srgbClr val="2E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購入</a:t>
            </a:r>
          </a:p>
        </p:txBody>
      </p:sp>
      <p:sp>
        <p:nvSpPr>
          <p:cNvPr id="18" name="Oval 17"/>
          <p:cNvSpPr/>
          <p:nvPr/>
        </p:nvSpPr>
        <p:spPr>
          <a:xfrm>
            <a:off x="51927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70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カートに追加</a:t>
            </a:r>
          </a:p>
        </p:txBody>
      </p:sp>
      <p:sp>
        <p:nvSpPr>
          <p:cNvPr id="20" name="Oval 19"/>
          <p:cNvSpPr/>
          <p:nvPr/>
        </p:nvSpPr>
        <p:spPr>
          <a:xfrm>
            <a:off x="56253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93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36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決済手続き</a:t>
            </a:r>
          </a:p>
        </p:txBody>
      </p:sp>
      <p:sp>
        <p:nvSpPr>
          <p:cNvPr id="23" name="Oval 22"/>
          <p:cNvSpPr/>
          <p:nvPr/>
        </p:nvSpPr>
        <p:spPr>
          <a:xfrm>
            <a:off x="68219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85901" y="2969884"/>
            <a:ext cx="1055197" cy="1055197"/>
          </a:xfrm>
          <a:prstGeom prst="ellipse">
            <a:avLst/>
          </a:prstGeom>
          <a:solidFill>
            <a:srgbClr val="FFFDC8"/>
          </a:solidFill>
          <a:ln w="9525">
            <a:solidFill>
              <a:srgbClr val="C8B4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/>
              <a:t>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200" y="4095081"/>
            <a:ext cx="1066600" cy="1274168"/>
          </a:xfrm>
          <a:prstGeom prst="roundRect">
            <a:avLst/>
          </a:prstGeom>
          <a:solidFill>
            <a:srgbClr val="F5F5FA"/>
          </a:solidFill>
          <a:ln w="19050">
            <a:solidFill>
              <a:srgbClr val="2E6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28283C"/>
                </a:solidFill>
              </a:rPr>
              <a:t>注文完了</a:t>
            </a:r>
          </a:p>
        </p:txBody>
      </p:sp>
      <p:sp>
        <p:nvSpPr>
          <p:cNvPr id="26" name="Oval 25"/>
          <p:cNvSpPr/>
          <p:nvPr/>
        </p:nvSpPr>
        <p:spPr>
          <a:xfrm>
            <a:off x="8018500" y="5672705"/>
            <a:ext cx="190000" cy="190000"/>
          </a:xfrm>
          <a:prstGeom prst="ellipse">
            <a:avLst/>
          </a:prstGeom>
          <a:solidFill>
            <a:srgbClr val="8FBC8F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8a. 円グラフ（Pie Chart） - パーセント表示（showData なし）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8b. 円グラフ（Pie Chart） - パーセント + 実数値表示（showData あり）: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3620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E1E3C"/>
                </a:solidFill>
              </a:rPr>
              <a:t>製品ポートフォリオ分析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1033272" y="1962277"/>
            <a:ext cx="3826764" cy="1878275"/>
          </a:xfrm>
          <a:prstGeom prst="rect">
            <a:avLst/>
          </a:prstGeom>
          <a:solidFill>
            <a:srgbClr val="D0E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60036" y="1962277"/>
            <a:ext cx="3826764" cy="1878275"/>
          </a:xfrm>
          <a:prstGeom prst="rect">
            <a:avLst/>
          </a:prstGeom>
          <a:solidFill>
            <a:srgbClr val="ECE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3272" y="3840552"/>
            <a:ext cx="3826764" cy="1878275"/>
          </a:xfrm>
          <a:prstGeom prst="rect">
            <a:avLst/>
          </a:prstGeom>
          <a:solidFill>
            <a:srgbClr val="FFF4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0036" y="3840552"/>
            <a:ext cx="3826764" cy="1878275"/>
          </a:xfrm>
          <a:prstGeom prst="rect">
            <a:avLst/>
          </a:prstGeom>
          <a:solidFill>
            <a:srgbClr val="D0F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" y="1962277"/>
            <a:ext cx="7653528" cy="3756550"/>
          </a:xfrm>
          <a:prstGeom prst="rect">
            <a:avLst/>
          </a:prstGeom>
          <a:noFill/>
          <a:ln w="1905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33272" y="3840552"/>
            <a:ext cx="7653528" cy="0"/>
          </a:xfrm>
          <a:prstGeom prst="line">
            <a:avLst/>
          </a:prstGeom>
          <a:ln w="1270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60036" y="1962277"/>
            <a:ext cx="0" cy="3756550"/>
          </a:xfrm>
          <a:prstGeom prst="line">
            <a:avLst/>
          </a:prstGeom>
          <a:ln w="1270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83272" y="2012277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850A0"/>
                </a:solidFill>
              </a:rPr>
              <a:t>問題児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036" y="2012277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03CA0"/>
                </a:solidFill>
              </a:rPr>
              <a:t>スター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3272" y="3890552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8641E"/>
                </a:solidFill>
              </a:rPr>
              <a:t>負け犬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0036" y="3890552"/>
            <a:ext cx="3726764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E7846"/>
                </a:solidFill>
              </a:rPr>
              <a:t>金のなる木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5718827"/>
            <a:ext cx="3826764" cy="407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低成長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0036" y="5718827"/>
            <a:ext cx="3826764" cy="407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05064"/>
                </a:solidFill>
              </a:rPr>
              <a:t>高成長</a:t>
            </a:r>
          </a:p>
        </p:txBody>
      </p:sp>
      <p:sp>
        <p:nvSpPr>
          <p:cNvPr id="18" name="TextBox 17"/>
          <p:cNvSpPr txBox="1"/>
          <p:nvPr/>
        </p:nvSpPr>
        <p:spPr>
          <a:xfrm rot="16200000">
            <a:off x="-193901" y="4501653"/>
            <a:ext cx="1878275" cy="55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低シェア</a:t>
            </a:r>
          </a:p>
        </p:txBody>
      </p:sp>
      <p:sp>
        <p:nvSpPr>
          <p:cNvPr id="19" name="TextBox 18"/>
          <p:cNvSpPr txBox="1"/>
          <p:nvPr/>
        </p:nvSpPr>
        <p:spPr>
          <a:xfrm rot="16200000">
            <a:off x="-193901" y="2623378"/>
            <a:ext cx="1878275" cy="556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505064"/>
                </a:solidFill>
              </a:rPr>
              <a:t>高シェア</a:t>
            </a:r>
          </a:p>
        </p:txBody>
      </p:sp>
      <p:sp>
        <p:nvSpPr>
          <p:cNvPr id="20" name="Oval 19"/>
          <p:cNvSpPr/>
          <p:nvPr/>
        </p:nvSpPr>
        <p:spPr>
          <a:xfrm>
            <a:off x="6343116" y="2665961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0741" y="2786211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製品A</a:t>
            </a:r>
          </a:p>
        </p:txBody>
      </p:sp>
      <p:sp>
        <p:nvSpPr>
          <p:cNvPr id="22" name="Oval 21"/>
          <p:cNvSpPr/>
          <p:nvPr/>
        </p:nvSpPr>
        <p:spPr>
          <a:xfrm>
            <a:off x="3281705" y="304161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9330" y="316186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製品B</a:t>
            </a:r>
          </a:p>
        </p:txBody>
      </p:sp>
      <p:sp>
        <p:nvSpPr>
          <p:cNvPr id="24" name="Oval 23"/>
          <p:cNvSpPr/>
          <p:nvPr/>
        </p:nvSpPr>
        <p:spPr>
          <a:xfrm>
            <a:off x="2516352" y="454423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63977" y="466448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製品C</a:t>
            </a:r>
          </a:p>
        </p:txBody>
      </p:sp>
      <p:sp>
        <p:nvSpPr>
          <p:cNvPr id="26" name="Oval 25"/>
          <p:cNvSpPr/>
          <p:nvPr/>
        </p:nvSpPr>
        <p:spPr>
          <a:xfrm>
            <a:off x="7108469" y="4544237"/>
            <a:ext cx="95250" cy="95250"/>
          </a:xfrm>
          <a:prstGeom prst="ellipse">
            <a:avLst/>
          </a:prstGeom>
          <a:solidFill>
            <a:srgbClr val="808080"/>
          </a:solidFill>
          <a:ln w="9525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6094" y="4664487"/>
            <a:ext cx="80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323232"/>
                </a:solidFill>
              </a:rPr>
              <a:t>製品D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2372000" y="2933181"/>
            <a:ext cx="2000000" cy="1860000"/>
            <a:chOff x="2372000" y="2933181"/>
            <a:chExt cx="2000000" cy="1860000"/>
          </a:xfrm>
        </p:grpSpPr>
        <p:sp>
          <p:nvSpPr>
            <p:cNvPr id="4" name="Rectangle 3"/>
            <p:cNvSpPr/>
            <p:nvPr/>
          </p:nvSpPr>
          <p:spPr>
            <a:xfrm>
              <a:off x="2372000" y="2933181"/>
              <a:ext cx="2000000" cy="320000"/>
            </a:xfrm>
            <a:prstGeom prst="rect">
              <a:avLst/>
            </a:prstGeom>
            <a:solidFill>
              <a:srgbClr val="A0C8F0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30000" bIns="30000"/>
            <a:lstStyle/>
            <a:p>
              <a:pPr algn="ctr"/>
              <a:r>
                <a:rPr sz="900" i="1">
                  <a:solidFill>
                    <a:srgbClr val="1E1E3C"/>
                  </a:solidFill>
                </a:rPr>
                <a:t>&lt;&lt;Requirement&gt;&gt;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2372000" y="3253181"/>
              <a:ext cx="2000000" cy="380000"/>
            </a:xfrm>
            <a:prstGeom prst="rect">
              <a:avLst/>
            </a:prstGeom>
            <a:solidFill>
              <a:srgbClr val="D0E8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40000" bIns="40000"/>
            <a:lstStyle/>
            <a:p>
              <a:pPr algn="ctr"/>
              <a:r>
                <a:rPr sz="1100" b="1" i="0">
                  <a:solidFill>
                    <a:srgbClr val="1E1E3C"/>
                  </a:solidFill>
                </a:rPr>
                <a:t>test_req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372000" y="3633181"/>
              <a:ext cx="2000000" cy="1160000"/>
            </a:xfrm>
            <a:prstGeom prst="rect">
              <a:avLst/>
            </a:prstGeom>
            <a:solidFill>
              <a:srgbClr val="EEF7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60000" tIns="40000" bIns="40000"/>
            <a:lstStyle/>
            <a:p>
              <a:pPr algn="l"/>
              <a:r>
                <a:rPr sz="900" b="0">
                  <a:solidFill>
                    <a:srgbClr val="282828"/>
                  </a:solidFill>
                </a:rPr>
                <a:t>ID: 1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Text: </a:t>
              </a:r>
              <a:r>
                <a:rPr sz="900" b="0" i="0">
                  <a:solidFill>
                    <a:srgbClr val="282828"/>
                  </a:solidFill>
                </a:rPr>
                <a:t>システムは99.9%の可用性を持つこと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Risk: High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Verification: Test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772000" y="2933181"/>
            <a:ext cx="2000000" cy="1860000"/>
            <a:chOff x="4772000" y="2933181"/>
            <a:chExt cx="2000000" cy="1860000"/>
          </a:xfrm>
        </p:grpSpPr>
        <p:sp>
          <p:nvSpPr>
            <p:cNvPr id="8" name="Rectangle 7"/>
            <p:cNvSpPr/>
            <p:nvPr/>
          </p:nvSpPr>
          <p:spPr>
            <a:xfrm>
              <a:off x="4772000" y="2933181"/>
              <a:ext cx="2000000" cy="320000"/>
            </a:xfrm>
            <a:prstGeom prst="rect">
              <a:avLst/>
            </a:prstGeom>
            <a:solidFill>
              <a:srgbClr val="C8A0F0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30000" bIns="30000"/>
            <a:lstStyle/>
            <a:p>
              <a:pPr algn="ctr"/>
              <a:r>
                <a:rPr sz="900" i="1">
                  <a:solidFill>
                    <a:srgbClr val="1E1E3C"/>
                  </a:solidFill>
                </a:rPr>
                <a:t>&lt;&lt;Functional Requirement&gt;&gt;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772000" y="3253181"/>
              <a:ext cx="2000000" cy="380000"/>
            </a:xfrm>
            <a:prstGeom prst="rect">
              <a:avLst/>
            </a:prstGeom>
            <a:solidFill>
              <a:srgbClr val="E8D0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60000" rIns="60000" tIns="40000" bIns="40000"/>
            <a:lstStyle/>
            <a:p>
              <a:pPr algn="ctr"/>
              <a:r>
                <a:rPr sz="1100" b="1" i="0">
                  <a:solidFill>
                    <a:srgbClr val="1E1E3C"/>
                  </a:solidFill>
                </a:rPr>
                <a:t>login_req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772000" y="3633181"/>
              <a:ext cx="2000000" cy="1160000"/>
            </a:xfrm>
            <a:prstGeom prst="rect">
              <a:avLst/>
            </a:prstGeom>
            <a:solidFill>
              <a:srgbClr val="F7EEFF"/>
            </a:solidFill>
            <a:ln w="12700">
              <a:solidFill>
                <a:srgbClr val="646E8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60000" tIns="40000" bIns="40000"/>
            <a:lstStyle/>
            <a:p>
              <a:pPr algn="l"/>
              <a:r>
                <a:rPr sz="900" b="0">
                  <a:solidFill>
                    <a:srgbClr val="282828"/>
                  </a:solidFill>
                </a:rPr>
                <a:t>ID: 2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Text: </a:t>
              </a:r>
              <a:r>
                <a:rPr sz="900" b="0" i="0">
                  <a:solidFill>
                    <a:srgbClr val="282828"/>
                  </a:solidFill>
                </a:rPr>
                <a:t>ユーザーはログインできること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Risk: Medium</a:t>
              </a:r>
            </a:p>
            <a:p>
              <a:pPr algn="l"/>
              <a:r>
                <a:rPr sz="900" b="0">
                  <a:solidFill>
                    <a:srgbClr val="282828"/>
                  </a:solidFill>
                </a:rPr>
                <a:t>Verification: Inspection</a:t>
              </a:r>
            </a:p>
          </p:txBody>
        </p:sp>
      </p:grpSp>
      <p:cxnSp>
        <p:nvCxnSpPr>
          <p:cNvPr id="12" name="Connector 11"/>
          <p:cNvCxnSpPr>
            <a:stCxn id="5" idx="3"/>
            <a:endCxn id="9" idx="1"/>
          </p:cNvCxnSpPr>
          <p:nvPr/>
        </p:nvCxnSpPr>
        <p:spPr>
          <a:xfrm>
            <a:off x="4372000" y="3443181"/>
            <a:ext cx="400000" cy="0"/>
          </a:xfrm>
          <a:prstGeom prst="line">
            <a:avLst/>
          </a:prstGeom>
          <a:ln w="12700">
            <a:solidFill>
              <a:srgbClr val="505A6E"/>
            </a:solidFill>
            <a:headEnd type="arrow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72000" y="3318181"/>
            <a:ext cx="800000" cy="2500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algn="ctr"/>
            <a:r>
              <a:rPr sz="900" i="1">
                <a:solidFill>
                  <a:srgbClr val="3C3C50"/>
                </a:solidFill>
              </a:rPr>
              <a:t>«traces»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11a. Gitグラフ — 基本構造（LR方向）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2797000" y="4238181"/>
            <a:ext cx="4000000" cy="0"/>
          </a:xfrm>
          <a:prstGeom prst="line">
            <a:avLst/>
          </a:prstGeom>
          <a:ln w="38100">
            <a:solidFill>
              <a:srgbClr val="58D6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597000" y="3488181"/>
            <a:ext cx="1600000" cy="0"/>
          </a:xfrm>
          <a:prstGeom prst="line">
            <a:avLst/>
          </a:prstGeom>
          <a:ln w="38100">
            <a:solidFill>
              <a:srgbClr val="E8A8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07200" y="4138181"/>
            <a:ext cx="700000" cy="200000"/>
          </a:xfrm>
          <a:prstGeom prst="roundRect">
            <a:avLst/>
          </a:prstGeom>
          <a:solidFill>
            <a:srgbClr val="58D68D"/>
          </a:solidFill>
          <a:ln w="9525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7200" y="3388181"/>
            <a:ext cx="700000" cy="200000"/>
          </a:xfrm>
          <a:prstGeom prst="roundRect">
            <a:avLst/>
          </a:prstGeom>
          <a:solidFill>
            <a:srgbClr val="E8A838"/>
          </a:solidFill>
          <a:ln w="9525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develop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197000" y="3488181"/>
            <a:ext cx="800000" cy="750000"/>
          </a:xfrm>
          <a:prstGeom prst="line">
            <a:avLst/>
          </a:prstGeom>
          <a:ln w="25400">
            <a:solidFill>
              <a:srgbClr val="E8A8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617000" y="4058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17000" y="4058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17000" y="3308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17000" y="3308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17000" y="4058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92000" y="4133181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17000" y="4058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7000" y="4448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initial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97000" y="4448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feat: add login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7000" y="3698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fix: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7000" y="3698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feat: add 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7000" y="4448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merge develop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000" y="4448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release: v1.0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11b. Gitグラフ — コミットタイプ全種（NORMAL/REVERSE/HIGHLIGHT）とタグ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3197000" y="3863181"/>
            <a:ext cx="3200000" cy="0"/>
          </a:xfrm>
          <a:prstGeom prst="line">
            <a:avLst/>
          </a:prstGeom>
          <a:ln w="38100">
            <a:solidFill>
              <a:srgbClr val="E8A8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07200" y="3763181"/>
            <a:ext cx="700000" cy="200000"/>
          </a:xfrm>
          <a:prstGeom prst="roundRect">
            <a:avLst/>
          </a:prstGeom>
          <a:solidFill>
            <a:srgbClr val="E8A838"/>
          </a:solidFill>
          <a:ln w="9525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6" name="Oval 5"/>
          <p:cNvSpPr/>
          <p:nvPr/>
        </p:nvSpPr>
        <p:spPr>
          <a:xfrm>
            <a:off x="3017000" y="368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7000" y="368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000" y="3683181"/>
            <a:ext cx="360000" cy="360000"/>
          </a:xfrm>
          <a:prstGeom prst="rect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17000" y="368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000" y="368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47000" y="343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start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7000" y="343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v1.0.0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7000" y="343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v1.0.1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Normal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Reverse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Highlight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Tagged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Normal2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11c. Gitグラフ — 複数ブランチ・マージ・チェリーピック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1597000" y="4613181"/>
            <a:ext cx="4000000" cy="0"/>
          </a:xfrm>
          <a:prstGeom prst="line">
            <a:avLst/>
          </a:prstGeom>
          <a:ln w="38100">
            <a:solidFill>
              <a:srgbClr val="EC70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97000" y="3113181"/>
            <a:ext cx="6400000" cy="0"/>
          </a:xfrm>
          <a:prstGeom prst="line">
            <a:avLst/>
          </a:prstGeom>
          <a:ln w="38100">
            <a:solidFill>
              <a:srgbClr val="E8A8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97000" y="3863181"/>
            <a:ext cx="5600000" cy="0"/>
          </a:xfrm>
          <a:prstGeom prst="line">
            <a:avLst/>
          </a:prstGeom>
          <a:ln w="38100">
            <a:solidFill>
              <a:srgbClr val="58D6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07200" y="4513181"/>
            <a:ext cx="700000" cy="200000"/>
          </a:xfrm>
          <a:prstGeom prst="roundRect">
            <a:avLst/>
          </a:prstGeom>
          <a:solidFill>
            <a:srgbClr val="EC7063"/>
          </a:solidFill>
          <a:ln w="9525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7200" y="3013181"/>
            <a:ext cx="700000" cy="200000"/>
          </a:xfrm>
          <a:prstGeom prst="roundRect">
            <a:avLst/>
          </a:prstGeom>
          <a:solidFill>
            <a:srgbClr val="E8A838"/>
          </a:solidFill>
          <a:ln w="9525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develop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7200" y="3763181"/>
            <a:ext cx="700000" cy="200000"/>
          </a:xfrm>
          <a:prstGeom prst="roundRect">
            <a:avLst/>
          </a:prstGeom>
          <a:solidFill>
            <a:srgbClr val="58D68D"/>
          </a:solidFill>
          <a:ln w="9525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release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97000" y="3113181"/>
            <a:ext cx="800000" cy="1500000"/>
          </a:xfrm>
          <a:prstGeom prst="line">
            <a:avLst/>
          </a:prstGeom>
          <a:ln w="25400">
            <a:solidFill>
              <a:srgbClr val="E8A8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417000" y="4433181"/>
            <a:ext cx="360000" cy="360000"/>
          </a:xfrm>
          <a:prstGeom prst="ellipse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17000" y="3683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17000" y="4433181"/>
            <a:ext cx="360000" cy="360000"/>
          </a:xfrm>
          <a:prstGeom prst="ellipse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17000" y="293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17000" y="4433181"/>
            <a:ext cx="360000" cy="360000"/>
          </a:xfrm>
          <a:prstGeom prst="ellipse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92000" y="4508181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C70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17000" y="4433181"/>
            <a:ext cx="360000" cy="360000"/>
          </a:xfrm>
          <a:prstGeom prst="ellipse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17000" y="3683181"/>
            <a:ext cx="360000" cy="360000"/>
          </a:xfrm>
          <a:prstGeom prst="ellipse">
            <a:avLst/>
          </a:prstGeom>
          <a:solidFill>
            <a:srgbClr val="A769C8"/>
          </a:solidFill>
          <a:ln w="19050">
            <a:solidFill>
              <a:srgbClr val="7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700" b="1">
                <a:solidFill>
                  <a:srgbClr val="FFFFFF"/>
                </a:solidFill>
              </a:rPr>
              <a:t>cp</a:t>
            </a:r>
          </a:p>
        </p:txBody>
      </p:sp>
      <p:sp>
        <p:nvSpPr>
          <p:cNvPr id="19" name="Oval 18"/>
          <p:cNvSpPr/>
          <p:nvPr/>
        </p:nvSpPr>
        <p:spPr>
          <a:xfrm>
            <a:off x="7017000" y="3683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17000" y="293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7000" y="418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merge-tag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7000" y="343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MERGE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7000" y="48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ZERO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7000" y="48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97000" y="33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7000" y="48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MERGE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97000" y="48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TWO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6-010952a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7000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THREE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97000" y="33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11d. Gitグラフ — Git Flowモデル（hotfix/feature/release）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1407204" y="5363181"/>
            <a:ext cx="6026304" cy="0"/>
          </a:xfrm>
          <a:prstGeom prst="line">
            <a:avLst/>
          </a:prstGeom>
          <a:ln w="38100">
            <a:solidFill>
              <a:srgbClr val="AF7A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407204" y="2363181"/>
            <a:ext cx="753288" cy="0"/>
          </a:xfrm>
          <a:prstGeom prst="line">
            <a:avLst/>
          </a:prstGeom>
          <a:ln w="38100">
            <a:solidFill>
              <a:srgbClr val="E8A8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913780" y="3113181"/>
            <a:ext cx="5273016" cy="0"/>
          </a:xfrm>
          <a:prstGeom prst="line">
            <a:avLst/>
          </a:prstGeom>
          <a:ln w="38100">
            <a:solidFill>
              <a:srgbClr val="58D6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667068" y="3863181"/>
            <a:ext cx="1506576" cy="0"/>
          </a:xfrm>
          <a:prstGeom prst="line">
            <a:avLst/>
          </a:prstGeom>
          <a:ln w="38100">
            <a:solidFill>
              <a:srgbClr val="EC70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26932" y="4613181"/>
            <a:ext cx="753288" cy="0"/>
          </a:xfrm>
          <a:prstGeom prst="line">
            <a:avLst/>
          </a:prstGeom>
          <a:ln w="38100">
            <a:solidFill>
              <a:srgbClr val="5DA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7200" y="5263181"/>
            <a:ext cx="700000" cy="200000"/>
          </a:xfrm>
          <a:prstGeom prst="roundRect">
            <a:avLst/>
          </a:prstGeom>
          <a:solidFill>
            <a:srgbClr val="AF7AC5"/>
          </a:solidFill>
          <a:ln w="9525">
            <a:solidFill>
              <a:srgbClr val="7A55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7200" y="2263181"/>
            <a:ext cx="700000" cy="200000"/>
          </a:xfrm>
          <a:prstGeom prst="roundRect">
            <a:avLst/>
          </a:prstGeom>
          <a:solidFill>
            <a:srgbClr val="E8A838"/>
          </a:solidFill>
          <a:ln w="9525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hotfix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7200" y="3013181"/>
            <a:ext cx="700000" cy="200000"/>
          </a:xfrm>
          <a:prstGeom prst="roundRect">
            <a:avLst/>
          </a:prstGeom>
          <a:solidFill>
            <a:srgbClr val="58D68D"/>
          </a:solidFill>
          <a:ln w="9525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develop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7200" y="3763181"/>
            <a:ext cx="700000" cy="200000"/>
          </a:xfrm>
          <a:prstGeom prst="roundRect">
            <a:avLst/>
          </a:prstGeom>
          <a:solidFill>
            <a:srgbClr val="EC7063"/>
          </a:solidFill>
          <a:ln w="9525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feature/login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200" y="4513181"/>
            <a:ext cx="700000" cy="200000"/>
          </a:xfrm>
          <a:prstGeom prst="roundRect">
            <a:avLst/>
          </a:prstGeom>
          <a:solidFill>
            <a:srgbClr val="5DADE2"/>
          </a:solidFill>
          <a:ln w="9525">
            <a:solidFill>
              <a:srgbClr val="4179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release/v1.0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60492" y="2363181"/>
            <a:ext cx="753288" cy="3000000"/>
          </a:xfrm>
          <a:prstGeom prst="line">
            <a:avLst/>
          </a:prstGeom>
          <a:ln w="25400">
            <a:solidFill>
              <a:srgbClr val="E8A8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173644" y="3113181"/>
            <a:ext cx="753288" cy="750000"/>
          </a:xfrm>
          <a:prstGeom prst="line">
            <a:avLst/>
          </a:prstGeom>
          <a:ln w="25400">
            <a:solidFill>
              <a:srgbClr val="EC706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680220" y="4613181"/>
            <a:ext cx="753288" cy="750000"/>
          </a:xfrm>
          <a:prstGeom prst="line">
            <a:avLst/>
          </a:prstGeom>
          <a:ln w="25400">
            <a:solidFill>
              <a:srgbClr val="5DADE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6680220" y="3113181"/>
            <a:ext cx="1506576" cy="1500000"/>
          </a:xfrm>
          <a:prstGeom prst="line">
            <a:avLst/>
          </a:prstGeom>
          <a:ln w="25400">
            <a:solidFill>
              <a:srgbClr val="5DADE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227204" y="5183181"/>
            <a:ext cx="360000" cy="360000"/>
          </a:xfrm>
          <a:prstGeom prst="ellipse">
            <a:avLst/>
          </a:prstGeom>
          <a:solidFill>
            <a:srgbClr val="AF7AC5"/>
          </a:solidFill>
          <a:ln w="19050">
            <a:solidFill>
              <a:srgbClr val="7A55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980492" y="2183181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✕</a:t>
            </a:r>
          </a:p>
        </p:txBody>
      </p:sp>
      <p:sp>
        <p:nvSpPr>
          <p:cNvPr id="20" name="Oval 19"/>
          <p:cNvSpPr/>
          <p:nvPr/>
        </p:nvSpPr>
        <p:spPr>
          <a:xfrm>
            <a:off x="2733780" y="5183181"/>
            <a:ext cx="360000" cy="360000"/>
          </a:xfrm>
          <a:prstGeom prst="ellipse">
            <a:avLst/>
          </a:prstGeom>
          <a:solidFill>
            <a:srgbClr val="AF7AC5"/>
          </a:solidFill>
          <a:ln w="19050">
            <a:solidFill>
              <a:srgbClr val="7A55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08780" y="5258181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F7A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87068" y="2933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40356" y="3683181"/>
            <a:ext cx="360000" cy="360000"/>
          </a:xfrm>
          <a:prstGeom prst="ellipse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93644" y="3683181"/>
            <a:ext cx="360000" cy="360000"/>
          </a:xfrm>
          <a:prstGeom prst="rect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46932" y="2933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821932" y="3008181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00220" y="4433181"/>
            <a:ext cx="360000" cy="360000"/>
          </a:xfrm>
          <a:prstGeom prst="ellipse">
            <a:avLst/>
          </a:prstGeom>
          <a:solidFill>
            <a:srgbClr val="5DADE2"/>
          </a:solidFill>
          <a:ln w="19050">
            <a:solidFill>
              <a:srgbClr val="4179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53508" y="5183181"/>
            <a:ext cx="360000" cy="360000"/>
          </a:xfrm>
          <a:prstGeom prst="ellipse">
            <a:avLst/>
          </a:prstGeom>
          <a:solidFill>
            <a:srgbClr val="AF7AC5"/>
          </a:solidFill>
          <a:ln w="19050">
            <a:solidFill>
              <a:srgbClr val="7A55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28508" y="5258181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F7A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06796" y="2933181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081796" y="3008181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663780" y="493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v0.1.1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30220" y="418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v1.0-rc1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83508" y="4933181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v1.0.0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204" y="55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init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60492" y="25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hotfix-1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3780" y="55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merge-hotfix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7068" y="33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dev-1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0356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login-1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644" y="40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login-2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6932" y="33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merge-login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0220" y="48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rc-1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33508" y="557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release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86796" y="3323181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">
                <a:solidFill>
                  <a:srgbClr val="505050"/>
                </a:solidFill>
              </a:rPr>
              <a:t>back-merge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11e. Gitグラフ — TB方向（上→下）とbranch order指定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3447000" y="2050200"/>
            <a:ext cx="0" cy="4000000"/>
          </a:xfrm>
          <a:prstGeom prst="line">
            <a:avLst/>
          </a:prstGeom>
          <a:ln w="38100">
            <a:solidFill>
              <a:srgbClr val="E8A8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97000" y="2050200"/>
            <a:ext cx="0" cy="2400000"/>
          </a:xfrm>
          <a:prstGeom prst="line">
            <a:avLst/>
          </a:prstGeom>
          <a:ln w="38100">
            <a:solidFill>
              <a:srgbClr val="5DA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947000" y="2050200"/>
            <a:ext cx="0" cy="1600000"/>
          </a:xfrm>
          <a:prstGeom prst="line">
            <a:avLst/>
          </a:prstGeom>
          <a:ln w="38100">
            <a:solidFill>
              <a:srgbClr val="EC70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197000" y="2050200"/>
            <a:ext cx="0" cy="800000"/>
          </a:xfrm>
          <a:prstGeom prst="line">
            <a:avLst/>
          </a:prstGeom>
          <a:ln w="38100">
            <a:solidFill>
              <a:srgbClr val="58D6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97000" y="1725200"/>
            <a:ext cx="700000" cy="200000"/>
          </a:xfrm>
          <a:prstGeom prst="roundRect">
            <a:avLst/>
          </a:prstGeom>
          <a:solidFill>
            <a:srgbClr val="E8A838"/>
          </a:solidFill>
          <a:ln w="9525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7000" y="1725200"/>
            <a:ext cx="700000" cy="200000"/>
          </a:xfrm>
          <a:prstGeom prst="roundRect">
            <a:avLst/>
          </a:prstGeom>
          <a:solidFill>
            <a:srgbClr val="5DADE2"/>
          </a:solidFill>
          <a:ln w="9525">
            <a:solidFill>
              <a:srgbClr val="4179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test1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7000" y="1725200"/>
            <a:ext cx="700000" cy="200000"/>
          </a:xfrm>
          <a:prstGeom prst="roundRect">
            <a:avLst/>
          </a:prstGeom>
          <a:solidFill>
            <a:srgbClr val="EC7063"/>
          </a:solidFill>
          <a:ln w="9525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test2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7000" y="1725200"/>
            <a:ext cx="700000" cy="200000"/>
          </a:xfrm>
          <a:prstGeom prst="roundRect">
            <a:avLst/>
          </a:prstGeom>
          <a:solidFill>
            <a:srgbClr val="58D68D"/>
          </a:solidFill>
          <a:ln w="9525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test3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447000" y="2850200"/>
            <a:ext cx="750000" cy="3200000"/>
          </a:xfrm>
          <a:prstGeom prst="line">
            <a:avLst/>
          </a:prstGeom>
          <a:ln w="25400">
            <a:solidFill>
              <a:srgbClr val="58D68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267000" y="1870200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017000" y="2670200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67000" y="3470200"/>
            <a:ext cx="360000" cy="360000"/>
          </a:xfrm>
          <a:prstGeom prst="ellipse">
            <a:avLst/>
          </a:prstGeom>
          <a:solidFill>
            <a:srgbClr val="EC7063"/>
          </a:solidFill>
          <a:ln w="19050">
            <a:solidFill>
              <a:srgbClr val="A54E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17000" y="4270200"/>
            <a:ext cx="360000" cy="360000"/>
          </a:xfrm>
          <a:prstGeom prst="ellipse">
            <a:avLst/>
          </a:prstGeom>
          <a:solidFill>
            <a:srgbClr val="5DADE2"/>
          </a:solidFill>
          <a:ln w="19050">
            <a:solidFill>
              <a:srgbClr val="4179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67000" y="5070200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67000" y="5870200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42000" y="5945200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8A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717000" y="5950200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merged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000" y="1960200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000" y="2760200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t3-1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000" y="3560200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t2-1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00" y="4360200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t1-1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000" y="5160200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main-1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000" y="5960200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mT3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11f. Gitグラフ — BT方向（下→上）とメッセージ付きコミット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cxnSp>
        <p:nvCxnSpPr>
          <p:cNvPr id="4" name="Connector 3"/>
          <p:cNvCxnSpPr/>
          <p:nvPr/>
        </p:nvCxnSpPr>
        <p:spPr>
          <a:xfrm flipV="1">
            <a:off x="4947000" y="2426163"/>
            <a:ext cx="0" cy="3200000"/>
          </a:xfrm>
          <a:prstGeom prst="line">
            <a:avLst/>
          </a:prstGeom>
          <a:ln w="38100">
            <a:solidFill>
              <a:srgbClr val="58D6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197000" y="4026163"/>
            <a:ext cx="0" cy="1600000"/>
          </a:xfrm>
          <a:prstGeom prst="line">
            <a:avLst/>
          </a:prstGeom>
          <a:ln w="38100">
            <a:solidFill>
              <a:srgbClr val="E8A8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97000" y="1725200"/>
            <a:ext cx="700000" cy="200000"/>
          </a:xfrm>
          <a:prstGeom prst="roundRect">
            <a:avLst/>
          </a:prstGeom>
          <a:solidFill>
            <a:srgbClr val="58D68D"/>
          </a:solidFill>
          <a:ln w="9525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7000" y="1725200"/>
            <a:ext cx="700000" cy="200000"/>
          </a:xfrm>
          <a:prstGeom prst="roundRect">
            <a:avLst/>
          </a:prstGeom>
          <a:solidFill>
            <a:srgbClr val="E8A838"/>
          </a:solidFill>
          <a:ln w="9525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feature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4197000" y="3226163"/>
            <a:ext cx="750000" cy="800000"/>
          </a:xfrm>
          <a:prstGeom prst="line">
            <a:avLst/>
          </a:prstGeom>
          <a:ln w="25400">
            <a:solidFill>
              <a:srgbClr val="E8A83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767000" y="5446163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7000" y="4646163"/>
            <a:ext cx="360000" cy="360000"/>
          </a:xfrm>
          <a:prstGeom prst="rect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017000" y="3846163"/>
            <a:ext cx="360000" cy="360000"/>
          </a:xfrm>
          <a:prstGeom prst="ellipse">
            <a:avLst/>
          </a:prstGeom>
          <a:solidFill>
            <a:srgbClr val="E8A838"/>
          </a:solidFill>
          <a:ln w="19050">
            <a:solidFill>
              <a:srgbClr val="A275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67000" y="3046163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42000" y="3121163"/>
            <a:ext cx="210000" cy="21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8D6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67000" y="2246163"/>
            <a:ext cx="360000" cy="360000"/>
          </a:xfrm>
          <a:prstGeom prst="ellipse">
            <a:avLst/>
          </a:prstGeom>
          <a:solidFill>
            <a:srgbClr val="58D68D"/>
          </a:solidFill>
          <a:ln w="19050">
            <a:solidFill>
              <a:srgbClr val="3D9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17000" y="5526163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7000" y="3126163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v2.0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7000" y="2326163"/>
            <a:ext cx="500000" cy="200000"/>
          </a:xfrm>
          <a:prstGeom prst="roundRect">
            <a:avLst/>
          </a:prstGeom>
          <a:solidFill>
            <a:srgbClr val="FFFDCE"/>
          </a:solidFill>
          <a:ln w="9525">
            <a:solidFill>
              <a:srgbClr val="96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650" b="0">
                <a:solidFill>
                  <a:srgbClr val="504600"/>
                </a:solidFill>
              </a:rPr>
              <a:t>v2.0.1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000" y="5536163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000" y="4736163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000" y="3936163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f2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000" y="3136163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merge-f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7000" y="2336163"/>
            <a:ext cx="80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600">
                <a:solidFill>
                  <a:srgbClr val="505050"/>
                </a:solidFill>
              </a:rPr>
              <a:t>v2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822000" y="3573181"/>
            <a:ext cx="1500000" cy="5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6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270072" y="4264839"/>
            <a:ext cx="1100000" cy="44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399912" y="4146883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658145" y="4941497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4542" y="5451282"/>
            <a:ext cx="820000" cy="33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4805" y="4414704"/>
            <a:ext cx="1100000" cy="44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0033" y="5559452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609" y="5241228"/>
            <a:ext cx="820000" cy="33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9168" y="4569509"/>
            <a:ext cx="820000" cy="33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3044" y="3418830"/>
            <a:ext cx="1100000" cy="44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7184" y="3698181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9168" y="2826853"/>
            <a:ext cx="820000" cy="33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21017" y="2712546"/>
            <a:ext cx="1100000" cy="44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609" y="2155134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033" y="1836910"/>
            <a:ext cx="820000" cy="33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4542" y="1945080"/>
            <a:ext cx="820000" cy="33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416" y="3207517"/>
            <a:ext cx="1100000" cy="44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58145" y="2454865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99912" y="3249479"/>
            <a:ext cx="820000" cy="33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3"/>
            <a:endCxn id="5" idx="1"/>
          </p:cNvCxnSpPr>
          <p:nvPr/>
        </p:nvCxnSpPr>
        <p:spPr>
          <a:xfrm flipH="1">
            <a:off x="5270072" y="3863181"/>
            <a:ext cx="51928" cy="621658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3"/>
            <a:endCxn id="6" idx="1"/>
          </p:cNvCxnSpPr>
          <p:nvPr/>
        </p:nvCxnSpPr>
        <p:spPr>
          <a:xfrm flipV="1">
            <a:off x="6370072" y="4311883"/>
            <a:ext cx="1029840" cy="172956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3"/>
            <a:endCxn id="7" idx="1"/>
          </p:cNvCxnSpPr>
          <p:nvPr/>
        </p:nvCxnSpPr>
        <p:spPr>
          <a:xfrm>
            <a:off x="6370072" y="4484839"/>
            <a:ext cx="288073" cy="621658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54542" y="4704839"/>
            <a:ext cx="65530" cy="746443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1"/>
            <a:endCxn id="9" idx="3"/>
          </p:cNvCxnSpPr>
          <p:nvPr/>
        </p:nvCxnSpPr>
        <p:spPr>
          <a:xfrm>
            <a:off x="3822000" y="3863181"/>
            <a:ext cx="352805" cy="771523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24805" y="4854704"/>
            <a:ext cx="545228" cy="70474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1"/>
            <a:endCxn id="11" idx="3"/>
          </p:cNvCxnSpPr>
          <p:nvPr/>
        </p:nvCxnSpPr>
        <p:spPr>
          <a:xfrm>
            <a:off x="3074805" y="4634704"/>
            <a:ext cx="12804" cy="771524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1"/>
            <a:endCxn id="12" idx="3"/>
          </p:cNvCxnSpPr>
          <p:nvPr/>
        </p:nvCxnSpPr>
        <p:spPr>
          <a:xfrm flipH="1">
            <a:off x="2029168" y="4634704"/>
            <a:ext cx="1045637" cy="99805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1"/>
            <a:endCxn id="13" idx="3"/>
          </p:cNvCxnSpPr>
          <p:nvPr/>
        </p:nvCxnSpPr>
        <p:spPr>
          <a:xfrm flipH="1" flipV="1">
            <a:off x="3503044" y="3638830"/>
            <a:ext cx="318956" cy="224351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1"/>
            <a:endCxn id="14" idx="3"/>
          </p:cNvCxnSpPr>
          <p:nvPr/>
        </p:nvCxnSpPr>
        <p:spPr>
          <a:xfrm flipH="1">
            <a:off x="1647184" y="3638830"/>
            <a:ext cx="755860" cy="224351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1"/>
            <a:endCxn id="15" idx="3"/>
          </p:cNvCxnSpPr>
          <p:nvPr/>
        </p:nvCxnSpPr>
        <p:spPr>
          <a:xfrm flipH="1" flipV="1">
            <a:off x="2029168" y="2991853"/>
            <a:ext cx="373876" cy="646977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71017" y="3152546"/>
            <a:ext cx="200983" cy="420635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1"/>
            <a:endCxn id="17" idx="3"/>
          </p:cNvCxnSpPr>
          <p:nvPr/>
        </p:nvCxnSpPr>
        <p:spPr>
          <a:xfrm flipH="1" flipV="1">
            <a:off x="3087609" y="2320134"/>
            <a:ext cx="733408" cy="61241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70033" y="2166910"/>
            <a:ext cx="200984" cy="54563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3"/>
            <a:endCxn id="19" idx="1"/>
          </p:cNvCxnSpPr>
          <p:nvPr/>
        </p:nvCxnSpPr>
        <p:spPr>
          <a:xfrm flipV="1">
            <a:off x="4921017" y="2110080"/>
            <a:ext cx="423525" cy="822466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3"/>
            <a:endCxn id="20" idx="1"/>
          </p:cNvCxnSpPr>
          <p:nvPr/>
        </p:nvCxnSpPr>
        <p:spPr>
          <a:xfrm flipV="1">
            <a:off x="5322000" y="3427517"/>
            <a:ext cx="176416" cy="435664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21" idx="1"/>
          </p:cNvCxnSpPr>
          <p:nvPr/>
        </p:nvCxnSpPr>
        <p:spPr>
          <a:xfrm flipV="1">
            <a:off x="6598416" y="2619865"/>
            <a:ext cx="59729" cy="807652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3"/>
            <a:endCxn id="22" idx="1"/>
          </p:cNvCxnSpPr>
          <p:nvPr/>
        </p:nvCxnSpPr>
        <p:spPr>
          <a:xfrm flipV="1">
            <a:off x="6598416" y="3414479"/>
            <a:ext cx="801496" cy="13038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3"/>
            <a:endCxn id="5" idx="1"/>
          </p:cNvCxnSpPr>
          <p:nvPr/>
        </p:nvCxnSpPr>
        <p:spPr>
          <a:xfrm>
            <a:off x="16572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3"/>
            <a:endCxn id="6" idx="1"/>
          </p:cNvCxnSpPr>
          <p:nvPr/>
        </p:nvCxnSpPr>
        <p:spPr>
          <a:xfrm>
            <a:off x="5172000" y="3863181"/>
            <a:ext cx="2314800" cy="0"/>
          </a:xfrm>
          <a:prstGeom prst="curvedConnector3">
            <a:avLst/>
          </a:prstGeom>
          <a:ln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Mermaid図（全22種類+）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Graph（a-f: 6バリエーション）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