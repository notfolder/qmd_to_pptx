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2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3"/>
    <p:sldId id="302" r:id="rId54"/>
    <p:sldId id="303" r:id="rId5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notesMaster" Target="notesMasters/notesMaster1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これはスピーカーノートです。発表者ビューでのみ表示されます。
「2カラムレイアウト」について補足説明をここに記入します。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r>
              <a:rPr b="1" sz="3600"/>
              <a:t>全機能デモプレゼンテーション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r>
              <a:rPr sz="1800"/>
              <a:t>qmd-to-pptx テスト
2026-03-15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テキスト系機能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段落テスト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複数の段落を含むスライドも正しく処理されます。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順序なしリスト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第1レベルのアイテム</a:t>
            </a:r>
          </a:p>
          <a:p>
            <a:pPr/>
            <a:r>
              <a:rPr sz="1800"/>
              <a:t>第1レベルのアイテム2</a:t>
            </a:r>
          </a:p>
          <a:p>
            <a:pPr lvl="1"/>
            <a:r>
              <a:rPr sz="1800"/>
              <a:t>第2レベル（ネスト）</a:t>
            </a:r>
          </a:p>
          <a:p>
            <a:pPr lvl="1"/>
            <a:r>
              <a:rPr sz="1800"/>
              <a:t>第2レベル（ネスト）2</a:t>
            </a:r>
          </a:p>
          <a:p>
            <a:pPr lvl="2"/>
            <a:r>
              <a:rPr sz="1800"/>
              <a:t>第3レベル（深いネスト）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順序付きリスト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buAutoNum type="arabicPeriod"/>
            </a:pPr>
            <a:r>
              <a:rPr sz="1800"/>
              <a:t>最初のステップ</a:t>
            </a:r>
          </a:p>
          <a:p>
            <a:pPr>
              <a:buAutoNum type="arabicPeriod"/>
            </a:pPr>
            <a:r>
              <a:rPr sz="1800"/>
              <a:t>二番目のステップ</a:t>
            </a:r>
          </a:p>
          <a:p>
            <a:pPr>
              <a:buAutoNum type="arabicPeriod"/>
            </a:pPr>
            <a:r>
              <a:rPr sz="1800"/>
              <a:t>三番目のステップ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テーブル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00200"/>
          <a:ext cx="8229600" cy="45259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1131490">
                <a:tc>
                  <a:txBody>
                    <a:bodyPr/>
                    <a:lstStyle/>
                    <a:p>
                      <a:r>
                        <a:rPr b="1"/>
                        <a:t>言語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型付け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パラダイム</a:t>
                      </a:r>
                    </a:p>
                  </a:txBody>
                  <a:tcPr/>
                </a:tc>
              </a:tr>
              <a:tr h="1131490">
                <a:tc>
                  <a:txBody>
                    <a:bodyPr/>
                    <a:lstStyle/>
                    <a:p>
                      <a:r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動的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マルチパラダイム</a:t>
                      </a:r>
                    </a:p>
                  </a:txBody>
                  <a:tcPr/>
                </a:tc>
              </a:tr>
              <a:tr h="1131490">
                <a:tc>
                  <a:txBody>
                    <a:bodyPr/>
                    <a:lstStyle/>
                    <a:p>
                      <a:r>
                        <a:t>Rust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静的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システム</a:t>
                      </a:r>
                    </a:p>
                  </a:txBody>
                  <a:tcPr/>
                </a:tc>
              </a:tr>
              <a:tr h="1131493">
                <a:tc>
                  <a:txBody>
                    <a:bodyPr/>
                    <a:lstStyle/>
                    <a:p>
                      <a:r>
                        <a:t>Haskell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静的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関数型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コードブロック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none"/>
          <a:lstStyle/>
          <a:p>
            <a:pPr>
              <a:buNone/>
            </a:pPr>
            <a:r>
              <a:rPr lang="" dirty="0" sz="1400">
                <a:latin typeface="Courier New"/>
              </a:rPr>
              <a:t>def fibonacci(n: int) -&gt; int: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 xml:space="preserve">    if n &lt;= 1: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 xml:space="preserve">        return n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 xml:space="preserve">    return fibonacci(n - 1) + fibonacci(n - 2)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数式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インライン数式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円の面積は </a:t>
            </a:r>
            <a:r>
              <a:t/>
            </a:r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i"/>
                      </m:rPr>
                      <m:t>π</m:t>
                    </m:r>
                    <m:sSup>
                      <m:e>
                        <m:r>
                          <m:rPr>
                            <m:sty m:val="i"/>
                          </m:rPr>
                          <m:t>r</m:t>
                        </m:r>
                      </m:e>
                      <m:sup>
                        <m:r>
                          <m:rPr>
                            <m:sty m:val="p"/>
                          </m:rPr>
                          <m:t>2</m:t>
                        </m:r>
                      </m:sup>
                    </m:sSup>
                  </m:e>
                </m:box>
              </m:oMath>
            </a14:m>
            <a:r>
              <a:rPr sz="1800"/>
              <a:t> で、
円周は </a:t>
            </a:r>
            <a:r>
              <a:t/>
            </a:r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2</m:t>
                    </m:r>
                    <m:r>
                      <m:rPr>
                        <m:sty m:val="i"/>
                      </m:rPr>
                      <m:t>π</m:t>
                    </m:r>
                    <m:r>
                      <m:rPr>
                        <m:sty m:val="i"/>
                      </m:rPr>
                      <m:t>r</m:t>
                    </m:r>
                  </m:e>
                </m:box>
              </m:oMath>
            </a14:m>
            <a:r>
              <a:rPr sz="1800"/>
              <a:t> で表されます。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ブロック数式（ディスプレイ数式）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二次方程式の解の公式：</a:t>
            </a:r>
          </a:p>
          <a:p/>
          <a:p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f>
                      <m:num>
                        <m:box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rPr>
                                <m:sty m:val="i"/>
                              </m:rPr>
                              <m:t>b</m:t>
                            </m:r>
                            <m:r>
                              <m:rPr>
                                <m:sty m:val="i"/>
                              </m:rPr>
                              <m:t>±</m:t>
                            </m:r>
                            <m:rad>
                              <m:e>
                                <m:box>
                                  <m:e>
                                    <m:box>
                                      <m:e>
                                        <m:sSup>
                                          <m:e>
                                            <m:r>
                                              <m:rPr>
                                                <m:sty m:val="i"/>
                                              </m:rPr>
                                              <m:t>b</m:t>
                                            </m:r>
                                          </m:e>
                                          <m:sup>
                                            <m:r>
                                              <m:rPr>
                                                <m:sty m:val="p"/>
                                              </m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m:rPr>
                                            <m:sty m:val="p"/>
                                          </m:rPr>
                                          <m:t>−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m:t>4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a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c</m:t>
                                        </m:r>
                                      </m:e>
                                    </m:box>
                                  </m:e>
                                </m:box>
                              </m:e>
                            </m:rad>
                          </m:e>
                        </m:box>
                      </m:num>
                      <m:den>
                        <m:box>
                          <m:e>
                            <m:r>
                              <m:rPr>
                                <m:sty m:val="p"/>
                              </m:rPr>
                              <m:t>2</m:t>
                            </m:r>
                            <m:r>
                              <m:rPr>
                                <m:sty m:val="i"/>
                              </m:rPr>
                              <m:t>a</m:t>
                            </m:r>
                          </m:e>
                        </m:box>
                      </m:den>
                    </m:f>
                  </m:e>
                </m:box>
              </m:oMath>
            </a14:m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複雑な数式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正規分布の確率密度関数：</a:t>
            </a:r>
          </a:p>
          <a:p/>
          <a:p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f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i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f>
                      <m:num>
                        <m:box>
                          <m:e>
                            <m:r>
                              <m:rPr>
                                <m:sty m:val="p"/>
                              </m:rPr>
                              <m:t>1</m:t>
                            </m:r>
                          </m:e>
                        </m:box>
                      </m:num>
                      <m:den>
                        <m:box>
                          <m:e>
                            <m:r>
                              <m:rPr>
                                <m:sty m:val="i"/>
                              </m:rPr>
                              <m:t>σ</m:t>
                            </m:r>
                            <m:rad>
                              <m:e>
                                <m:box>
                                  <m:e>
                                    <m:box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π</m:t>
                                        </m:r>
                                      </m:e>
                                    </m:box>
                                  </m:e>
                                </m:box>
                              </m:e>
                            </m:rad>
                          </m:e>
                        </m:box>
                      </m:den>
                    </m:f>
                    <m:sSup>
                      <m:e>
                        <m:r>
                          <m:rPr>
                            <m:sty m:val="i"/>
                          </m:rPr>
                          <m:t>e</m:t>
                        </m:r>
                      </m:e>
                      <m:sup>
                        <m:box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f>
                              <m:num>
                                <m:box>
                                  <m:e>
                                    <m:r>
                                      <m:rPr>
                                        <m:sty m:val="p"/>
                                      </m:rPr>
                                      <m:t>(</m:t>
                                    </m:r>
                                    <m:r>
                                      <m:rPr>
                                        <m:sty m:val="i"/>
                                      </m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−</m:t>
                                    </m:r>
                                    <m:r>
                                      <m:rPr>
                                        <m:sty m:val="i"/>
                                      </m:rPr>
                                      <m:t>μ</m:t>
                                    </m:r>
                                    <m:sSup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</m:sup>
                                    </m:sSup>
                                  </m:e>
                                </m:box>
                              </m:num>
                              <m:den>
                                <m:box>
                                  <m:e>
                                    <m:r>
                                      <m:rPr>
                                        <m:sty m:val="p"/>
                                      </m:rPr>
                                      <m:t>2</m:t>
                                    </m:r>
                                    <m:sSup>
                                      <m:e>
                                        <m:r>
                                          <m:rPr>
                                            <m:sty m:val="i"/>
                                          </m:rPr>
                                          <m:t>σ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</m:sup>
                                    </m:sSup>
                                  </m:e>
                                </m:box>
                              </m:den>
                            </m:f>
                          </m:e>
                        </m:box>
                      </m:sup>
                    </m:sSup>
                  </m:e>
                </m:box>
              </m:oMath>
            </a14:m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Mermaid図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フローチャート（Flowchart）— ノード形状デモ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218786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矩形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63120" y="218786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丸角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69040" y="218786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スタジアム</a:t>
            </a:r>
          </a:p>
        </p:txBody>
      </p:sp>
      <p:sp>
        <p:nvSpPr>
          <p:cNvPr id="7" name="Rectangle 6"/>
          <p:cNvSpPr/>
          <p:nvPr/>
        </p:nvSpPr>
        <p:spPr>
          <a:xfrm>
            <a:off x="4674960" y="218786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サブルーチン</a:t>
            </a:r>
          </a:p>
        </p:txBody>
      </p:sp>
      <p:sp>
        <p:nvSpPr>
          <p:cNvPr id="8" name="Can 7"/>
          <p:cNvSpPr/>
          <p:nvPr/>
        </p:nvSpPr>
        <p:spPr>
          <a:xfrm>
            <a:off x="6080880" y="2187860"/>
            <a:ext cx="1200000" cy="500000"/>
          </a:xfrm>
          <a:prstGeom prst="ca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シリンダー</a:t>
            </a:r>
          </a:p>
        </p:txBody>
      </p:sp>
      <p:sp>
        <p:nvSpPr>
          <p:cNvPr id="9" name="Oval 8"/>
          <p:cNvSpPr/>
          <p:nvPr/>
        </p:nvSpPr>
        <p:spPr>
          <a:xfrm>
            <a:off x="7486800" y="2187860"/>
            <a:ext cx="1200000" cy="500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円</a:t>
            </a:r>
          </a:p>
        </p:txBody>
      </p:sp>
      <p:sp>
        <p:nvSpPr>
          <p:cNvPr id="10" name="Pentagon 9"/>
          <p:cNvSpPr/>
          <p:nvPr/>
        </p:nvSpPr>
        <p:spPr>
          <a:xfrm>
            <a:off x="457200" y="3613181"/>
            <a:ext cx="1200000" cy="500000"/>
          </a:xfrm>
          <a:prstGeom prst="homePlat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非対称</a:t>
            </a:r>
          </a:p>
        </p:txBody>
      </p:sp>
      <p:sp>
        <p:nvSpPr>
          <p:cNvPr id="11" name="Diamond 10"/>
          <p:cNvSpPr/>
          <p:nvPr/>
        </p:nvSpPr>
        <p:spPr>
          <a:xfrm>
            <a:off x="1863120" y="3613181"/>
            <a:ext cx="1200000" cy="500000"/>
          </a:xfrm>
          <a:prstGeom prst="diamon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ひし形</a:t>
            </a:r>
          </a:p>
        </p:txBody>
      </p:sp>
      <p:sp>
        <p:nvSpPr>
          <p:cNvPr id="12" name="Hexagon 11"/>
          <p:cNvSpPr/>
          <p:nvPr/>
        </p:nvSpPr>
        <p:spPr>
          <a:xfrm>
            <a:off x="3269040" y="3613181"/>
            <a:ext cx="1200000" cy="500000"/>
          </a:xfrm>
          <a:prstGeom prst="hexago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六角形</a:t>
            </a:r>
          </a:p>
        </p:txBody>
      </p:sp>
      <p:sp>
        <p:nvSpPr>
          <p:cNvPr id="13" name="Parallelogram 12"/>
          <p:cNvSpPr/>
          <p:nvPr/>
        </p:nvSpPr>
        <p:spPr>
          <a:xfrm>
            <a:off x="4674960" y="3613181"/>
            <a:ext cx="1200000" cy="500000"/>
          </a:xfrm>
          <a:prstGeom prst="parallelogram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右傾斜</a:t>
            </a:r>
          </a:p>
        </p:txBody>
      </p:sp>
      <p:sp>
        <p:nvSpPr>
          <p:cNvPr id="14" name="Parallelogram 13"/>
          <p:cNvSpPr/>
          <p:nvPr/>
        </p:nvSpPr>
        <p:spPr>
          <a:xfrm flipH="1">
            <a:off x="6080880" y="3613181"/>
            <a:ext cx="1200000" cy="500000"/>
          </a:xfrm>
          <a:prstGeom prst="parallelogram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左傾斜</a:t>
            </a:r>
          </a:p>
        </p:txBody>
      </p:sp>
      <p:sp>
        <p:nvSpPr>
          <p:cNvPr id="15" name="Trapezoid 14"/>
          <p:cNvSpPr/>
          <p:nvPr/>
        </p:nvSpPr>
        <p:spPr>
          <a:xfrm>
            <a:off x="7486800" y="3613181"/>
            <a:ext cx="1200000" cy="500000"/>
          </a:xfrm>
          <a:prstGeom prst="trapezoi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台形</a:t>
            </a:r>
          </a:p>
        </p:txBody>
      </p:sp>
      <p:sp>
        <p:nvSpPr>
          <p:cNvPr id="16" name="Trapezoid 15"/>
          <p:cNvSpPr/>
          <p:nvPr/>
        </p:nvSpPr>
        <p:spPr>
          <a:xfrm flipV="1">
            <a:off x="457200" y="5038502"/>
            <a:ext cx="1200000" cy="500000"/>
          </a:xfrm>
          <a:prstGeom prst="trapezoi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逆台形</a:t>
            </a:r>
          </a:p>
        </p:txBody>
      </p:sp>
      <p:sp>
        <p:nvSpPr>
          <p:cNvPr id="17" name="Oval 16"/>
          <p:cNvSpPr/>
          <p:nvPr/>
        </p:nvSpPr>
        <p:spPr>
          <a:xfrm>
            <a:off x="7486800" y="5038502"/>
            <a:ext cx="1200000" cy="500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二重円</a:t>
            </a:r>
          </a:p>
        </p:txBody>
      </p:sp>
      <p:cxnSp>
        <p:nvCxnSpPr>
          <p:cNvPr id="18" name="Connector 17"/>
          <p:cNvCxnSpPr>
            <a:stCxn id="4" idx="1"/>
            <a:endCxn id="5" idx="3"/>
          </p:cNvCxnSpPr>
          <p:nvPr/>
        </p:nvCxnSpPr>
        <p:spPr>
          <a:xfrm>
            <a:off x="457200" y="2437860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5" idx="1"/>
            <a:endCxn id="6" idx="3"/>
          </p:cNvCxnSpPr>
          <p:nvPr/>
        </p:nvCxnSpPr>
        <p:spPr>
          <a:xfrm>
            <a:off x="1863120" y="2437860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6" idx="1"/>
            <a:endCxn id="7" idx="3"/>
          </p:cNvCxnSpPr>
          <p:nvPr/>
        </p:nvCxnSpPr>
        <p:spPr>
          <a:xfrm>
            <a:off x="3269040" y="2437860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7" idx="1"/>
            <a:endCxn id="8" idx="3"/>
          </p:cNvCxnSpPr>
          <p:nvPr/>
        </p:nvCxnSpPr>
        <p:spPr>
          <a:xfrm>
            <a:off x="4674960" y="2437860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1"/>
            <a:endCxn id="9" idx="3"/>
          </p:cNvCxnSpPr>
          <p:nvPr/>
        </p:nvCxnSpPr>
        <p:spPr>
          <a:xfrm>
            <a:off x="6080880" y="2437860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9" idx="3"/>
            <a:endCxn id="10" idx="1"/>
          </p:cNvCxnSpPr>
          <p:nvPr/>
        </p:nvCxnSpPr>
        <p:spPr>
          <a:xfrm flipH="1">
            <a:off x="457200" y="2437860"/>
            <a:ext cx="8229600" cy="142532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0" idx="1"/>
            <a:endCxn id="11" idx="3"/>
          </p:cNvCxnSpPr>
          <p:nvPr/>
        </p:nvCxnSpPr>
        <p:spPr>
          <a:xfrm>
            <a:off x="457200" y="3863181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1" idx="1"/>
            <a:endCxn id="12" idx="3"/>
          </p:cNvCxnSpPr>
          <p:nvPr/>
        </p:nvCxnSpPr>
        <p:spPr>
          <a:xfrm>
            <a:off x="1863120" y="3863181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2" idx="1"/>
            <a:endCxn id="13" idx="3"/>
          </p:cNvCxnSpPr>
          <p:nvPr/>
        </p:nvCxnSpPr>
        <p:spPr>
          <a:xfrm>
            <a:off x="3269040" y="3863181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3" idx="1"/>
            <a:endCxn id="14" idx="3"/>
          </p:cNvCxnSpPr>
          <p:nvPr/>
        </p:nvCxnSpPr>
        <p:spPr>
          <a:xfrm>
            <a:off x="4674960" y="3863181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14" idx="1"/>
            <a:endCxn id="15" idx="3"/>
          </p:cNvCxnSpPr>
          <p:nvPr/>
        </p:nvCxnSpPr>
        <p:spPr>
          <a:xfrm>
            <a:off x="6080880" y="3863181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5" idx="3"/>
            <a:endCxn id="16" idx="1"/>
          </p:cNvCxnSpPr>
          <p:nvPr/>
        </p:nvCxnSpPr>
        <p:spPr>
          <a:xfrm flipH="1">
            <a:off x="457200" y="3863181"/>
            <a:ext cx="8229600" cy="142532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6" idx="1"/>
            <a:endCxn id="17" idx="3"/>
          </p:cNvCxnSpPr>
          <p:nvPr/>
        </p:nvCxnSpPr>
        <p:spPr>
          <a:xfrm>
            <a:off x="457200" y="5288502"/>
            <a:ext cx="82296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1b. フローチャート— 枝分かれ構造デモ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972000" y="160020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開始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21058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処理A</a:t>
            </a:r>
          </a:p>
        </p:txBody>
      </p:sp>
      <p:sp>
        <p:nvSpPr>
          <p:cNvPr id="7" name="Rectangle 6"/>
          <p:cNvSpPr/>
          <p:nvPr/>
        </p:nvSpPr>
        <p:spPr>
          <a:xfrm>
            <a:off x="7486800" y="321058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処理B</a:t>
            </a:r>
          </a:p>
        </p:txBody>
      </p:sp>
      <p:sp>
        <p:nvSpPr>
          <p:cNvPr id="9" name="Rectangle 8"/>
          <p:cNvSpPr/>
          <p:nvPr/>
        </p:nvSpPr>
        <p:spPr>
          <a:xfrm>
            <a:off x="7486800" y="401577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結果1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004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結果2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436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結果3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868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72000" y="5626163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終了</a:t>
            </a:r>
          </a:p>
        </p:txBody>
      </p:sp>
      <p:cxnSp>
        <p:nvCxnSpPr>
          <p:cNvPr id="15" name="Connector 14"/>
          <p:cNvCxnSpPr>
            <a:stCxn id="4" idx="2"/>
            <a:endCxn id="5" idx="0"/>
          </p:cNvCxnSpPr>
          <p:nvPr/>
        </p:nvCxnSpPr>
        <p:spPr>
          <a:xfrm>
            <a:off x="4572000" y="2100200"/>
            <a:ext cx="0" cy="30519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5" idx="3"/>
            <a:endCxn id="6" idx="1"/>
          </p:cNvCxnSpPr>
          <p:nvPr/>
        </p:nvCxnSpPr>
        <p:spPr>
          <a:xfrm flipH="1">
            <a:off x="457200" y="2655392"/>
            <a:ext cx="47148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5" idx="1"/>
            <a:endCxn id="7" idx="3"/>
          </p:cNvCxnSpPr>
          <p:nvPr/>
        </p:nvCxnSpPr>
        <p:spPr>
          <a:xfrm>
            <a:off x="3972000" y="2655392"/>
            <a:ext cx="47148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6" idx="2"/>
            <a:endCxn id="8" idx="0"/>
          </p:cNvCxnSpPr>
          <p:nvPr/>
        </p:nvCxnSpPr>
        <p:spPr>
          <a:xfrm>
            <a:off x="1057200" y="3710585"/>
            <a:ext cx="0" cy="30519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7" idx="2"/>
            <a:endCxn id="9" idx="0"/>
          </p:cNvCxnSpPr>
          <p:nvPr/>
        </p:nvCxnSpPr>
        <p:spPr>
          <a:xfrm>
            <a:off x="8086800" y="3710585"/>
            <a:ext cx="0" cy="30519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2"/>
            <a:endCxn id="10" idx="0"/>
          </p:cNvCxnSpPr>
          <p:nvPr/>
        </p:nvCxnSpPr>
        <p:spPr>
          <a:xfrm>
            <a:off x="1057200" y="4515777"/>
            <a:ext cx="0" cy="3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8" idx="1"/>
            <a:endCxn id="11" idx="3"/>
          </p:cNvCxnSpPr>
          <p:nvPr/>
        </p:nvCxnSpPr>
        <p:spPr>
          <a:xfrm>
            <a:off x="457200" y="4265777"/>
            <a:ext cx="35432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8" idx="1"/>
            <a:endCxn id="12" idx="3"/>
          </p:cNvCxnSpPr>
          <p:nvPr/>
        </p:nvCxnSpPr>
        <p:spPr>
          <a:xfrm>
            <a:off x="457200" y="4265777"/>
            <a:ext cx="58864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9" idx="2"/>
            <a:endCxn id="13" idx="0"/>
          </p:cNvCxnSpPr>
          <p:nvPr/>
        </p:nvCxnSpPr>
        <p:spPr>
          <a:xfrm>
            <a:off x="8086800" y="4515777"/>
            <a:ext cx="0" cy="3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0" idx="1"/>
            <a:endCxn id="14" idx="3"/>
          </p:cNvCxnSpPr>
          <p:nvPr/>
        </p:nvCxnSpPr>
        <p:spPr>
          <a:xfrm>
            <a:off x="457200" y="5070970"/>
            <a:ext cx="47148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1" idx="2"/>
            <a:endCxn id="14" idx="0"/>
          </p:cNvCxnSpPr>
          <p:nvPr/>
        </p:nvCxnSpPr>
        <p:spPr>
          <a:xfrm>
            <a:off x="3400400" y="5320970"/>
            <a:ext cx="1171600" cy="3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>
            <a:stCxn id="12" idx="2"/>
            <a:endCxn id="14" idx="0"/>
          </p:cNvCxnSpPr>
          <p:nvPr/>
        </p:nvCxnSpPr>
        <p:spPr>
          <a:xfrm flipH="1">
            <a:off x="4572000" y="5320970"/>
            <a:ext cx="1171600" cy="3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stCxn id="13" idx="3"/>
            <a:endCxn id="14" idx="1"/>
          </p:cNvCxnSpPr>
          <p:nvPr/>
        </p:nvCxnSpPr>
        <p:spPr>
          <a:xfrm flipH="1">
            <a:off x="3972000" y="5070970"/>
            <a:ext cx="47148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grpSpPr>
          <a:xfrm>
            <a:off x="3372000" y="2405392"/>
            <a:ext cx="2400000" cy="512451"/>
            <a:chOff x="3372000" y="2405392"/>
            <a:chExt cx="2400000" cy="512451"/>
          </a:xfrm>
        </p:grpSpPr>
        <p:sp>
          <p:nvSpPr>
            <p:cNvPr id="5" name="Diamond 4"/>
            <p:cNvSpPr/>
            <p:nvPr/>
          </p:nvSpPr>
          <p:spPr>
            <a:xfrm>
              <a:off x="3972000" y="2405392"/>
              <a:ext cx="1200000" cy="500000"/>
            </a:xfrm>
            <a:prstGeom prst="diamond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条件判定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372000" y="266784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はい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572000" y="266784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いいえ</a:t>
              </a:r>
            </a:p>
          </p:txBody>
        </p:sp>
      </p:grpSp>
      <p:grpSp>
        <p:grpSpPr>
          <a:xfrm>
            <a:off x="457200" y="4015777"/>
            <a:ext cx="1800000" cy="625000"/>
            <a:chOff x="457200" y="4015777"/>
            <a:chExt cx="1800000" cy="625000"/>
          </a:xfrm>
        </p:grpSpPr>
        <p:sp>
          <p:nvSpPr>
            <p:cNvPr id="8" name="Diamond 7"/>
            <p:cNvSpPr/>
            <p:nvPr/>
          </p:nvSpPr>
          <p:spPr>
            <a:xfrm>
              <a:off x="457200" y="4015777"/>
              <a:ext cx="1200000" cy="500000"/>
            </a:xfrm>
            <a:prstGeom prst="diamond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さらに分岐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57200" y="4390777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ケース1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57200" y="4346954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ケース2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057200" y="4243865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ケース3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1c. フローチャート— リンク種別・ラベルデモ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7" name="Rectangle 6"/>
          <p:cNvSpPr/>
          <p:nvPr/>
        </p:nvSpPr>
        <p:spPr>
          <a:xfrm>
            <a:off x="2064600" y="401577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処理3</a:t>
            </a:r>
          </a:p>
        </p:txBody>
      </p:sp>
      <p:sp>
        <p:nvSpPr>
          <p:cNvPr id="8" name="Rectangle 7"/>
          <p:cNvSpPr/>
          <p:nvPr/>
        </p:nvSpPr>
        <p:spPr>
          <a:xfrm>
            <a:off x="20646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丸端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794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79400" y="294218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79400" y="428417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79400" y="5626163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終了</a:t>
            </a:r>
          </a:p>
        </p:txBody>
      </p:sp>
      <p:cxnSp>
        <p:nvCxnSpPr>
          <p:cNvPr id="14" name="Connector 13"/>
          <p:cNvCxnSpPr>
            <a:stCxn id="4" idx="2"/>
            <a:endCxn id="5" idx="0"/>
          </p:cNvCxnSpPr>
          <p:nvPr/>
        </p:nvCxnSpPr>
        <p:spPr>
          <a:xfrm>
            <a:off x="2664600" y="2100200"/>
            <a:ext cx="0" cy="30519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5" idx="2"/>
            <a:endCxn id="6" idx="0"/>
          </p:cNvCxnSpPr>
          <p:nvPr/>
        </p:nvCxnSpPr>
        <p:spPr>
          <a:xfrm>
            <a:off x="2664600" y="2905392"/>
            <a:ext cx="0" cy="305193"/>
          </a:xfrm>
          <a:prstGeom prst="curvedConnector3">
            <a:avLst/>
          </a:prstGeom>
          <a:ln>
            <a:prstDash val="dash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6" idx="2"/>
            <a:endCxn id="7" idx="0"/>
          </p:cNvCxnSpPr>
          <p:nvPr/>
        </p:nvCxnSpPr>
        <p:spPr>
          <a:xfrm>
            <a:off x="2664600" y="3710585"/>
            <a:ext cx="0" cy="305192"/>
          </a:xfrm>
          <a:prstGeom prst="curvedConnector3">
            <a:avLst/>
          </a:prstGeom>
          <a:ln w="38100"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7" idx="2"/>
            <a:endCxn id="8" idx="0"/>
          </p:cNvCxnSpPr>
          <p:nvPr/>
        </p:nvCxnSpPr>
        <p:spPr>
          <a:xfrm>
            <a:off x="2664600" y="4515777"/>
            <a:ext cx="0" cy="305193"/>
          </a:xfrm>
          <a:prstGeom prst="curvedConnector3">
            <a:avLst/>
          </a:prstGeom>
          <a:ln>
            <a:headEnd type="oval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8" idx="2"/>
            <a:endCxn id="9" idx="0"/>
          </p:cNvCxnSpPr>
          <p:nvPr/>
        </p:nvCxnSpPr>
        <p:spPr>
          <a:xfrm>
            <a:off x="2664600" y="5320970"/>
            <a:ext cx="0" cy="3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9" idx="0"/>
            <a:endCxn id="10" idx="2"/>
          </p:cNvCxnSpPr>
          <p:nvPr/>
        </p:nvCxnSpPr>
        <p:spPr>
          <a:xfrm flipV="1">
            <a:off x="2664600" y="2100200"/>
            <a:ext cx="3814800" cy="3525963"/>
          </a:xfrm>
          <a:prstGeom prst="curvedConnector3">
            <a:avLst/>
          </a:prstGeom>
          <a:ln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0" idx="2"/>
            <a:endCxn id="11" idx="0"/>
          </p:cNvCxnSpPr>
          <p:nvPr/>
        </p:nvCxnSpPr>
        <p:spPr>
          <a:xfrm>
            <a:off x="6479400" y="2100200"/>
            <a:ext cx="0" cy="841987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1" idx="2"/>
            <a:endCxn id="12" idx="0"/>
          </p:cNvCxnSpPr>
          <p:nvPr/>
        </p:nvCxnSpPr>
        <p:spPr>
          <a:xfrm>
            <a:off x="6479400" y="3442187"/>
            <a:ext cx="0" cy="841988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2" idx="2"/>
            <a:endCxn id="13" idx="0"/>
          </p:cNvCxnSpPr>
          <p:nvPr/>
        </p:nvCxnSpPr>
        <p:spPr>
          <a:xfrm>
            <a:off x="6479400" y="4784175"/>
            <a:ext cx="0" cy="841988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grpSpPr>
          <a:xfrm>
            <a:off x="2064600" y="1600200"/>
            <a:ext cx="1200000" cy="625000"/>
            <a:chOff x="2064600" y="1600200"/>
            <a:chExt cx="1200000" cy="625000"/>
          </a:xfrm>
        </p:grpSpPr>
        <p:sp>
          <p:nvSpPr>
            <p:cNvPr id="4" name="Rounded Rectangle 3"/>
            <p:cNvSpPr/>
            <p:nvPr/>
          </p:nvSpPr>
          <p:spPr>
            <a:xfrm>
              <a:off x="2064600" y="1600200"/>
              <a:ext cx="1200000" cy="500000"/>
            </a:xfrm>
            <a:prstGeom prst="round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開始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2064600" y="1975200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通常矢印</a:t>
              </a:r>
            </a:p>
          </p:txBody>
        </p:sp>
      </p:grpSp>
      <p:grpSp>
        <p:grpSpPr>
          <a:xfrm>
            <a:off x="2064600" y="2405392"/>
            <a:ext cx="1200000" cy="625000"/>
            <a:chOff x="2064600" y="2405392"/>
            <a:chExt cx="1200000" cy="625000"/>
          </a:xfrm>
        </p:grpSpPr>
        <p:sp>
          <p:nvSpPr>
            <p:cNvPr id="5" name="Rectangle 4"/>
            <p:cNvSpPr/>
            <p:nvPr/>
          </p:nvSpPr>
          <p:spPr>
            <a:xfrm>
              <a:off x="2064600" y="2405392"/>
              <a:ext cx="1200000" cy="50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処理1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064600" y="2780392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点線矢印</a:t>
              </a:r>
            </a:p>
          </p:txBody>
        </p:sp>
      </p:grpSp>
      <p:grpSp>
        <p:grpSpPr>
          <a:xfrm>
            <a:off x="2064600" y="3210585"/>
            <a:ext cx="1200000" cy="625000"/>
            <a:chOff x="2064600" y="3210585"/>
            <a:chExt cx="1200000" cy="625000"/>
          </a:xfrm>
        </p:grpSpPr>
        <p:sp>
          <p:nvSpPr>
            <p:cNvPr id="6" name="Rectangle 5"/>
            <p:cNvSpPr/>
            <p:nvPr/>
          </p:nvSpPr>
          <p:spPr>
            <a:xfrm>
              <a:off x="2064600" y="3210585"/>
              <a:ext cx="1200000" cy="50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処理2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2064600" y="3585585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太線矢印</a:t>
              </a:r>
            </a:p>
          </p:txBody>
        </p:sp>
      </p:grpSp>
      <p:grpSp>
        <p:grpSpPr>
          <a:xfrm>
            <a:off x="2064600" y="5501164"/>
            <a:ext cx="1436887" cy="624999"/>
            <a:chOff x="2064600" y="5501164"/>
            <a:chExt cx="1436887" cy="624999"/>
          </a:xfrm>
        </p:grpSpPr>
        <p:sp>
          <p:nvSpPr>
            <p:cNvPr id="9" name="Rectangle 8"/>
            <p:cNvSpPr/>
            <p:nvPr/>
          </p:nvSpPr>
          <p:spPr>
            <a:xfrm>
              <a:off x="2064600" y="5626163"/>
              <a:ext cx="1200000" cy="50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×端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2301487" y="5501164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両方向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2a. シーケンス図 - 基本（autonumber・activate・Note）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85900" y="160020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ユーザー</a:t>
            </a:r>
          </a:p>
        </p:txBody>
      </p:sp>
      <p:sp>
        <p:nvSpPr>
          <p:cNvPr id="5" name="Rectangle 4"/>
          <p:cNvSpPr/>
          <p:nvPr/>
        </p:nvSpPr>
        <p:spPr>
          <a:xfrm>
            <a:off x="29433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クライアント</a:t>
            </a:r>
          </a:p>
        </p:txBody>
      </p:sp>
      <p:sp>
        <p:nvSpPr>
          <p:cNvPr id="6" name="Rectangle 5"/>
          <p:cNvSpPr/>
          <p:nvPr/>
        </p:nvSpPr>
        <p:spPr>
          <a:xfrm>
            <a:off x="50007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サーバー</a:t>
            </a:r>
          </a:p>
        </p:txBody>
      </p:sp>
      <p:sp>
        <p:nvSpPr>
          <p:cNvPr id="7" name="Rectangle 6"/>
          <p:cNvSpPr/>
          <p:nvPr/>
        </p:nvSpPr>
        <p:spPr>
          <a:xfrm>
            <a:off x="70581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データベース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4859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5433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007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581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517200" y="4122142"/>
            <a:ext cx="8109600" cy="1595320"/>
          </a:xfrm>
          <a:prstGeom prst="rect">
            <a:avLst/>
          </a:prstGeom>
          <a:noFill/>
          <a:ln w="19050">
            <a:solidFill>
              <a:srgbClr val="6464B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7200" y="4122142"/>
            <a:ext cx="500000" cy="240000"/>
          </a:xfrm>
          <a:prstGeom prst="rect">
            <a:avLst/>
          </a:prstGeom>
          <a:solidFill>
            <a:srgbClr val="C8C8F0"/>
          </a:solidFill>
          <a:ln>
            <a:solidFill>
              <a:srgbClr val="6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900" b="1"/>
              <a:t>alt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7200" y="4122142"/>
            <a:ext cx="75696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3C3C8C"/>
                </a:solidFill>
              </a:rPr>
              <a:t>[認証成功]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17200" y="5059802"/>
            <a:ext cx="8109600" cy="0"/>
          </a:xfrm>
          <a:prstGeom prst="line">
            <a:avLst/>
          </a:prstGeom>
          <a:ln w="12700">
            <a:solidFill>
              <a:srgbClr val="6464B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57200" y="5059802"/>
            <a:ext cx="75696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3C3C8C"/>
                </a:solidFill>
              </a:rPr>
              <a:t>[認証失敗]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8100" y="3464482"/>
            <a:ext cx="140000" cy="411037"/>
          </a:xfrm>
          <a:prstGeom prst="rect">
            <a:avLst/>
          </a:prstGeom>
          <a:solidFill>
            <a:srgbClr val="C8DCFF"/>
          </a:solidFill>
          <a:ln w="9525">
            <a:solidFill>
              <a:srgbClr val="648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530700" y="2673445"/>
            <a:ext cx="140000" cy="1810904"/>
          </a:xfrm>
          <a:prstGeom prst="rect">
            <a:avLst/>
          </a:prstGeom>
          <a:solidFill>
            <a:srgbClr val="C8DCFF"/>
          </a:solidFill>
          <a:ln w="9525">
            <a:solidFill>
              <a:srgbClr val="648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485900" y="2344615"/>
            <a:ext cx="20574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485900" y="2124615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1. ログインボタン押下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543300" y="2673445"/>
            <a:ext cx="20574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543300" y="2453445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2. 認証リクエスト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600700" y="3464482"/>
            <a:ext cx="20574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600700" y="324448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3. ユーザー照会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5600700" y="3793312"/>
            <a:ext cx="20574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600700" y="357331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4. ユーザー情報返却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3543300" y="4402142"/>
            <a:ext cx="20574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543300" y="418214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5. 認証トークン発行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1485900" y="4730972"/>
            <a:ext cx="20574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485900" y="451097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6. ログイン完了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3543300" y="5059802"/>
            <a:ext cx="20574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3543300" y="483980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7. 認証エラー ✕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1485900" y="5388632"/>
            <a:ext cx="20574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485900" y="516863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8. エラーメッセージ表示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80700" y="3002275"/>
            <a:ext cx="1300000" cy="380000"/>
          </a:xfrm>
          <a:prstGeom prst="rect">
            <a:avLst/>
          </a:prstGeom>
          <a:solidFill>
            <a:srgbClr val="FFFDAD"/>
          </a:solidFill>
          <a:ln>
            <a:solidFill>
              <a:srgbClr val="C8BE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900"/>
              <a:t>セッション確認中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457200" y="2359561"/>
            <a:ext cx="8229600" cy="1356169"/>
          </a:xfrm>
          <a:prstGeom prst="rect">
            <a:avLst/>
          </a:prstGeom>
          <a:solidFill>
            <a:srgbClr val="C8F0FF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2b. シーケンス図 - フレーム（loop・par・rect背景）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288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クライアント</a:t>
            </a:r>
          </a:p>
        </p:txBody>
      </p:sp>
      <p:sp>
        <p:nvSpPr>
          <p:cNvPr id="6" name="Rectangle 5"/>
          <p:cNvSpPr/>
          <p:nvPr/>
        </p:nvSpPr>
        <p:spPr>
          <a:xfrm>
            <a:off x="39720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サーバー</a:t>
            </a:r>
          </a:p>
        </p:txBody>
      </p:sp>
      <p:sp>
        <p:nvSpPr>
          <p:cNvPr id="7" name="Rectangle 6"/>
          <p:cNvSpPr/>
          <p:nvPr/>
        </p:nvSpPr>
        <p:spPr>
          <a:xfrm>
            <a:off x="67152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データベース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28800" y="2180200"/>
            <a:ext cx="0" cy="3602656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572000" y="2180200"/>
            <a:ext cx="0" cy="3602656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315200" y="2180200"/>
            <a:ext cx="0" cy="3602656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517200" y="2718284"/>
            <a:ext cx="8109600" cy="997446"/>
          </a:xfrm>
          <a:prstGeom prst="rect">
            <a:avLst/>
          </a:prstGeom>
          <a:noFill/>
          <a:ln w="19050">
            <a:solidFill>
              <a:srgbClr val="6464B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7200" y="2718284"/>
            <a:ext cx="500000" cy="240000"/>
          </a:xfrm>
          <a:prstGeom prst="rect">
            <a:avLst/>
          </a:prstGeom>
          <a:solidFill>
            <a:srgbClr val="C8C8F0"/>
          </a:solidFill>
          <a:ln>
            <a:solidFill>
              <a:srgbClr val="6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900" b="1"/>
              <a:t>loop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7200" y="2718284"/>
            <a:ext cx="75696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3C3C8C"/>
                </a:solidFill>
              </a:rPr>
              <a:t>[リトライ（最大3回）]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7200" y="3715730"/>
            <a:ext cx="8109600" cy="997446"/>
          </a:xfrm>
          <a:prstGeom prst="rect">
            <a:avLst/>
          </a:prstGeom>
          <a:noFill/>
          <a:ln w="19050">
            <a:solidFill>
              <a:srgbClr val="6464B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7200" y="3715730"/>
            <a:ext cx="500000" cy="240000"/>
          </a:xfrm>
          <a:prstGeom prst="rect">
            <a:avLst/>
          </a:prstGeom>
          <a:solidFill>
            <a:srgbClr val="C8C8F0"/>
          </a:solidFill>
          <a:ln>
            <a:solidFill>
              <a:srgbClr val="6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900" b="1"/>
              <a:t>par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7200" y="3715730"/>
            <a:ext cx="75696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3C3C8C"/>
                </a:solidFill>
              </a:rPr>
              <a:t>[非同期通知]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17200" y="4354453"/>
            <a:ext cx="8109600" cy="0"/>
          </a:xfrm>
          <a:prstGeom prst="line">
            <a:avLst/>
          </a:prstGeom>
          <a:ln w="12700">
            <a:solidFill>
              <a:srgbClr val="6464B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57200" y="4354453"/>
            <a:ext cx="75696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3C3C8C"/>
                </a:solidFill>
              </a:rPr>
              <a:t>[非同期ログ]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828800" y="2359561"/>
            <a:ext cx="27432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828800" y="2139561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リクエスト送信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572000" y="2998284"/>
            <a:ext cx="27432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572000" y="2778284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クエリ実行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4572000" y="3357007"/>
            <a:ext cx="27432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572000" y="3137007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結果返却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1828800" y="3995730"/>
            <a:ext cx="27432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828800" y="3775730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完了通知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572000" y="4354453"/>
            <a:ext cx="27432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572000" y="4134453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ログ書き込み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828800" y="5182856"/>
            <a:ext cx="0" cy="300000"/>
          </a:xfrm>
          <a:prstGeom prst="bentConnector3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888800" y="4982856"/>
            <a:ext cx="74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/>
              <a:t>内部状態更新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28800" y="4713176"/>
            <a:ext cx="3943200" cy="380000"/>
          </a:xfrm>
          <a:prstGeom prst="rect">
            <a:avLst/>
          </a:prstGeom>
          <a:solidFill>
            <a:srgbClr val="FFFDAD"/>
          </a:solidFill>
          <a:ln>
            <a:solidFill>
              <a:srgbClr val="C8BE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900"/>
              <a:t>処理完了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ガントチャート（Gantt Diagram）— 全タグ・after参照デモ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00200"/>
          <a:ext cx="8229600" cy="45259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0512"/>
                <a:gridCol w="713232"/>
                <a:gridCol w="713232"/>
                <a:gridCol w="713232"/>
                <a:gridCol w="713232"/>
                <a:gridCol w="713232"/>
                <a:gridCol w="713232"/>
                <a:gridCol w="713232"/>
                <a:gridCol w="713232"/>
                <a:gridCol w="713232"/>
              </a:tblGrid>
              <a:tr h="377163"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タスク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01/01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01/08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01/15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01/22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01/29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02/05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02/12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02/19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02/26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</a:tr>
              <a:tr h="377163">
                <a:tc gridSpan="10"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</a:rPr>
                        <a:t>  設計フェーズ</a:t>
                      </a:r>
                    </a:p>
                  </a:txBody>
                  <a:tcPr>
                    <a:solidFill>
                      <a:srgbClr val="3C3C6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要件定義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基本設計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詳細設計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 gridSpan="10"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</a:rPr>
                        <a:t>  実装フェーズ</a:t>
                      </a:r>
                    </a:p>
                  </a:txBody>
                  <a:tcPr>
                    <a:solidFill>
                      <a:srgbClr val="3C3C6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コーディング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コードレビュー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テスト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 gridSpan="10"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</a:rPr>
                        <a:t>  リリース</a:t>
                      </a:r>
                    </a:p>
                  </a:txBody>
                  <a:tcPr>
                    <a:solidFill>
                      <a:srgbClr val="3C3C6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ステージング確認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本番デプロイ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5" name="Right Arrow 4"/>
          <p:cNvSpPr/>
          <p:nvPr/>
        </p:nvSpPr>
        <p:spPr>
          <a:xfrm>
            <a:off x="2396093" y="2411100"/>
            <a:ext cx="641909" cy="264014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ight Arrow 5"/>
          <p:cNvSpPr/>
          <p:nvPr/>
        </p:nvSpPr>
        <p:spPr>
          <a:xfrm>
            <a:off x="3038002" y="2788263"/>
            <a:ext cx="898672" cy="264014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ight Arrow 6"/>
          <p:cNvSpPr/>
          <p:nvPr/>
        </p:nvSpPr>
        <p:spPr>
          <a:xfrm>
            <a:off x="3936674" y="3165426"/>
            <a:ext cx="641909" cy="264014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ight Arrow 7"/>
          <p:cNvSpPr/>
          <p:nvPr/>
        </p:nvSpPr>
        <p:spPr>
          <a:xfrm>
            <a:off x="4578583" y="3919752"/>
            <a:ext cx="1797345" cy="264014"/>
          </a:xfrm>
          <a:prstGeom prst="rightArrow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ight Arrow 8"/>
          <p:cNvSpPr/>
          <p:nvPr/>
        </p:nvSpPr>
        <p:spPr>
          <a:xfrm>
            <a:off x="6375928" y="4296915"/>
            <a:ext cx="385145" cy="264014"/>
          </a:xfrm>
          <a:prstGeom prst="rightArrow">
            <a:avLst/>
          </a:prstGeom>
          <a:solidFill>
            <a:srgbClr val="DC46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ight Arrow 9"/>
          <p:cNvSpPr/>
          <p:nvPr/>
        </p:nvSpPr>
        <p:spPr>
          <a:xfrm>
            <a:off x="6375928" y="4674078"/>
            <a:ext cx="898672" cy="264014"/>
          </a:xfrm>
          <a:prstGeom prst="rightArrow">
            <a:avLst/>
          </a:prstGeom>
          <a:solidFill>
            <a:srgbClr val="64B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ight Arrow 10"/>
          <p:cNvSpPr/>
          <p:nvPr/>
        </p:nvSpPr>
        <p:spPr>
          <a:xfrm>
            <a:off x="6761073" y="5428404"/>
            <a:ext cx="256764" cy="264014"/>
          </a:xfrm>
          <a:prstGeom prst="rightArrow">
            <a:avLst/>
          </a:prstGeom>
          <a:solidFill>
            <a:srgbClr val="DC46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Diamond 11"/>
          <p:cNvSpPr/>
          <p:nvPr/>
        </p:nvSpPr>
        <p:spPr>
          <a:xfrm>
            <a:off x="8416982" y="5796138"/>
            <a:ext cx="282872" cy="282872"/>
          </a:xfrm>
          <a:prstGeom prst="diamond">
            <a:avLst/>
          </a:prstGeom>
          <a:solidFill>
            <a:srgbClr val="DCA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クラス図（Class Diagram）- 全接続タイプ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pSp>
        <p:nvGrpSpPr>
          <p:cNvPr id="7" name="Group 6"/>
          <p:cNvGrpSpPr/>
          <p:nvPr/>
        </p:nvGrpSpPr>
        <p:grpSpPr>
          <a:xfrm>
            <a:off x="457200" y="1600200"/>
            <a:ext cx="1700000" cy="1080000"/>
            <a:chOff x="457200" y="1600200"/>
            <a:chExt cx="1700000" cy="1080000"/>
          </a:xfrm>
        </p:grpSpPr>
        <p:sp>
          <p:nvSpPr>
            <p:cNvPr id="4" name="Rectangle 3"/>
            <p:cNvSpPr/>
            <p:nvPr/>
          </p:nvSpPr>
          <p:spPr>
            <a:xfrm>
              <a:off x="4572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Vehicle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4572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+String make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4572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+drive() : void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3722000" y="1600200"/>
            <a:ext cx="1700000" cy="1080000"/>
            <a:chOff x="3722000" y="1600200"/>
            <a:chExt cx="1700000" cy="1080000"/>
          </a:xfrm>
        </p:grpSpPr>
        <p:sp>
          <p:nvSpPr>
            <p:cNvPr id="8" name="Rectangle 7"/>
            <p:cNvSpPr/>
            <p:nvPr/>
          </p:nvSpPr>
          <p:spPr>
            <a:xfrm>
              <a:off x="37220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Car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7220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doors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7220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+honk() : void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6986800" y="1600200"/>
            <a:ext cx="1700000" cy="1080000"/>
            <a:chOff x="6986800" y="1600200"/>
            <a:chExt cx="1700000" cy="1080000"/>
          </a:xfrm>
        </p:grpSpPr>
        <p:sp>
          <p:nvSpPr>
            <p:cNvPr id="12" name="Rectangle 11"/>
            <p:cNvSpPr/>
            <p:nvPr/>
          </p:nvSpPr>
          <p:spPr>
            <a:xfrm>
              <a:off x="69868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Engine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9868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cylinders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9868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+ignite() : void</a:t>
              </a: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457200" y="3323181"/>
            <a:ext cx="1700000" cy="1080000"/>
            <a:chOff x="457200" y="3323181"/>
            <a:chExt cx="1700000" cy="1080000"/>
          </a:xfrm>
        </p:grpSpPr>
        <p:sp>
          <p:nvSpPr>
            <p:cNvPr id="16" name="Rectangle 15"/>
            <p:cNvSpPr/>
            <p:nvPr/>
          </p:nvSpPr>
          <p:spPr>
            <a:xfrm>
              <a:off x="4572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Wheel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572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size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4572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grpSp>
        <p:nvGrpSpPr>
          <p:cNvPr id="23" name="Group 22"/>
          <p:cNvGrpSpPr/>
          <p:nvPr/>
        </p:nvGrpSpPr>
        <p:grpSpPr>
          <a:xfrm>
            <a:off x="3722000" y="3323181"/>
            <a:ext cx="1700000" cy="1080000"/>
            <a:chOff x="3722000" y="3323181"/>
            <a:chExt cx="1700000" cy="1080000"/>
          </a:xfrm>
        </p:grpSpPr>
        <p:sp>
          <p:nvSpPr>
            <p:cNvPr id="20" name="Rectangle 19"/>
            <p:cNvSpPr/>
            <p:nvPr/>
          </p:nvSpPr>
          <p:spPr>
            <a:xfrm>
              <a:off x="37220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Driver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37220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+String name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37220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+operate() : void</a:t>
              </a:r>
            </a:p>
          </p:txBody>
        </p:sp>
      </p:grpSp>
      <p:grpSp>
        <p:nvGrpSpPr>
          <p:cNvPr id="27" name="Group 26"/>
          <p:cNvGrpSpPr/>
          <p:nvPr/>
        </p:nvGrpSpPr>
        <p:grpSpPr>
          <a:xfrm>
            <a:off x="6986800" y="3323181"/>
            <a:ext cx="1700000" cy="1080000"/>
            <a:chOff x="6986800" y="3323181"/>
            <a:chExt cx="1700000" cy="1080000"/>
          </a:xfrm>
        </p:grpSpPr>
        <p:sp>
          <p:nvSpPr>
            <p:cNvPr id="24" name="Rectangle 23"/>
            <p:cNvSpPr/>
            <p:nvPr/>
          </p:nvSpPr>
          <p:spPr>
            <a:xfrm>
              <a:off x="69868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ILogger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9868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9868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+log() : void</a:t>
              </a:r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457200" y="5046163"/>
            <a:ext cx="1700000" cy="1080000"/>
            <a:chOff x="457200" y="5046163"/>
            <a:chExt cx="1700000" cy="1080000"/>
          </a:xfrm>
        </p:grpSpPr>
        <p:sp>
          <p:nvSpPr>
            <p:cNvPr id="28" name="Rectangle 27"/>
            <p:cNvSpPr/>
            <p:nvPr/>
          </p:nvSpPr>
          <p:spPr>
            <a:xfrm>
              <a:off x="457200" y="5046163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Fuel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457200" y="548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457200" y="580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3722000" y="5046163"/>
            <a:ext cx="1700000" cy="1080000"/>
            <a:chOff x="3722000" y="5046163"/>
            <a:chExt cx="1700000" cy="1080000"/>
          </a:xfrm>
        </p:grpSpPr>
        <p:sp>
          <p:nvSpPr>
            <p:cNvPr id="32" name="Rectangle 31"/>
            <p:cNvSpPr/>
            <p:nvPr/>
          </p:nvSpPr>
          <p:spPr>
            <a:xfrm>
              <a:off x="3722000" y="5046163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GPS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3722000" y="548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3722000" y="580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cxnSp>
        <p:nvCxnSpPr>
          <p:cNvPr id="36" name="Connector 35"/>
          <p:cNvCxnSpPr>
            <a:stCxn id="4" idx="1"/>
            <a:endCxn id="8" idx="3"/>
          </p:cNvCxnSpPr>
          <p:nvPr/>
        </p:nvCxnSpPr>
        <p:spPr>
          <a:xfrm>
            <a:off x="457200" y="1820200"/>
            <a:ext cx="4964800" cy="0"/>
          </a:xfrm>
          <a:prstGeom prst="curvedConnector3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>
            <a:stCxn id="8" idx="1"/>
            <a:endCxn id="12" idx="3"/>
          </p:cNvCxnSpPr>
          <p:nvPr/>
        </p:nvCxnSpPr>
        <p:spPr>
          <a:xfrm>
            <a:off x="3722000" y="1820200"/>
            <a:ext cx="4964800" cy="0"/>
          </a:xfrm>
          <a:prstGeom prst="curvedConnector3">
            <a:avLst/>
          </a:prstGeom>
          <a:ln>
            <a:tailEnd type="diamond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>
            <a:stCxn id="8" idx="3"/>
            <a:endCxn id="16" idx="1"/>
          </p:cNvCxnSpPr>
          <p:nvPr/>
        </p:nvCxnSpPr>
        <p:spPr>
          <a:xfrm flipH="1">
            <a:off x="457200" y="1820200"/>
            <a:ext cx="4964800" cy="1722981"/>
          </a:xfrm>
          <a:prstGeom prst="curvedConnector3">
            <a:avLst/>
          </a:prstGeom>
          <a:ln>
            <a:tail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>
            <a:stCxn id="20" idx="0"/>
            <a:endCxn id="8" idx="2"/>
          </p:cNvCxnSpPr>
          <p:nvPr/>
        </p:nvCxnSpPr>
        <p:spPr>
          <a:xfrm flipV="1">
            <a:off x="4572000" y="2040200"/>
            <a:ext cx="0" cy="128298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>
            <a:stCxn id="20" idx="2"/>
            <a:endCxn id="32" idx="0"/>
          </p:cNvCxnSpPr>
          <p:nvPr/>
        </p:nvCxnSpPr>
        <p:spPr>
          <a:xfrm>
            <a:off x="4572000" y="3763181"/>
            <a:ext cx="0" cy="1282982"/>
          </a:xfrm>
          <a:prstGeom prst="curvedConnector3">
            <a:avLst/>
          </a:prstGeom>
          <a:ln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>
            <a:stCxn id="20" idx="3"/>
            <a:endCxn id="28" idx="1"/>
          </p:cNvCxnSpPr>
          <p:nvPr/>
        </p:nvCxnSpPr>
        <p:spPr>
          <a:xfrm flipH="1">
            <a:off x="457200" y="3543181"/>
            <a:ext cx="4964800" cy="1722982"/>
          </a:xfrm>
          <a:prstGeom prst="curvedConnector3">
            <a:avLst/>
          </a:prstGeom>
          <a:ln>
            <a:prstDash val="dash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>
            <a:stCxn id="8" idx="1"/>
            <a:endCxn id="24" idx="3"/>
          </p:cNvCxnSpPr>
          <p:nvPr/>
        </p:nvCxnSpPr>
        <p:spPr>
          <a:xfrm>
            <a:off x="3722000" y="1820200"/>
            <a:ext cx="4964800" cy="1722981"/>
          </a:xfrm>
          <a:prstGeom prst="curvedConnector3">
            <a:avLst/>
          </a:prstGeom>
          <a:ln>
            <a:prstDash val="dash"/>
            <a:head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>
            <a:stCxn id="32" idx="3"/>
            <a:endCxn id="28" idx="1"/>
          </p:cNvCxnSpPr>
          <p:nvPr/>
        </p:nvCxnSpPr>
        <p:spPr>
          <a:xfrm flipH="1">
            <a:off x="457200" y="5266163"/>
            <a:ext cx="4964800" cy="0"/>
          </a:xfrm>
          <a:prstGeom prst="curvedConnector3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5a. 状態図（State Diagram） - 通常状態・開始/終了・遷移ラベルのデモ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Oval 3"/>
          <p:cNvSpPr/>
          <p:nvPr/>
        </p:nvSpPr>
        <p:spPr>
          <a:xfrm>
            <a:off x="4382000" y="1861498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7135320" y="4519023"/>
            <a:ext cx="1200000" cy="500000"/>
          </a:xfrm>
          <a:prstGeom prst="roundRect">
            <a:avLst/>
          </a:prstGeom>
          <a:solidFill>
            <a:srgbClr val="FFFFFF"/>
          </a:solidFill>
          <a:ln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000000"/>
                </a:solidFill>
              </a:rPr>
              <a:t>完了</a:t>
            </a:r>
          </a:p>
        </p:txBody>
      </p:sp>
      <p:sp>
        <p:nvSpPr>
          <p:cNvPr id="9" name="Oval 8"/>
          <p:cNvSpPr/>
          <p:nvPr/>
        </p:nvSpPr>
        <p:spPr>
          <a:xfrm>
            <a:off x="4347000" y="5449864"/>
            <a:ext cx="450000" cy="45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447000" y="5549864"/>
            <a:ext cx="250000" cy="25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1" name="Connector 10"/>
          <p:cNvCxnSpPr>
            <a:stCxn id="4" idx="2"/>
            <a:endCxn id="5" idx="0"/>
          </p:cNvCxnSpPr>
          <p:nvPr/>
        </p:nvCxnSpPr>
        <p:spPr>
          <a:xfrm>
            <a:off x="4572000" y="2241498"/>
            <a:ext cx="0" cy="46584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5" idx="2"/>
            <a:endCxn id="6" idx="0"/>
          </p:cNvCxnSpPr>
          <p:nvPr/>
        </p:nvCxnSpPr>
        <p:spPr>
          <a:xfrm>
            <a:off x="4572000" y="3207339"/>
            <a:ext cx="0" cy="4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>
            <a:stCxn id="6" idx="1"/>
            <a:endCxn id="7" idx="3"/>
          </p:cNvCxnSpPr>
          <p:nvPr/>
        </p:nvCxnSpPr>
        <p:spPr>
          <a:xfrm>
            <a:off x="3972000" y="3863181"/>
            <a:ext cx="4363320" cy="9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6" idx="3"/>
            <a:endCxn id="8" idx="1"/>
          </p:cNvCxnSpPr>
          <p:nvPr/>
        </p:nvCxnSpPr>
        <p:spPr>
          <a:xfrm flipH="1">
            <a:off x="808679" y="3863181"/>
            <a:ext cx="4363321" cy="9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8" idx="1"/>
            <a:endCxn id="5" idx="3"/>
          </p:cNvCxnSpPr>
          <p:nvPr/>
        </p:nvCxnSpPr>
        <p:spPr>
          <a:xfrm flipV="1">
            <a:off x="808679" y="2957339"/>
            <a:ext cx="4363321" cy="1811684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7" idx="3"/>
            <a:endCxn id="9" idx="1"/>
          </p:cNvCxnSpPr>
          <p:nvPr/>
        </p:nvCxnSpPr>
        <p:spPr>
          <a:xfrm flipH="1">
            <a:off x="4347000" y="4769023"/>
            <a:ext cx="3988320" cy="90584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grpSpPr>
          <a:xfrm>
            <a:off x="3972000" y="2707339"/>
            <a:ext cx="1200000" cy="625000"/>
            <a:chOff x="3972000" y="2707339"/>
            <a:chExt cx="1200000" cy="625000"/>
          </a:xfrm>
        </p:grpSpPr>
        <p:sp>
          <p:nvSpPr>
            <p:cNvPr id="5" name="Rounded Rectangle 4"/>
            <p:cNvSpPr/>
            <p:nvPr/>
          </p:nvSpPr>
          <p:spPr>
            <a:xfrm>
              <a:off x="3972000" y="2707339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待機中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972000" y="3082339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開始</a:t>
              </a:r>
            </a:p>
          </p:txBody>
        </p:sp>
      </p:grpSp>
      <p:grpSp>
        <p:grpSpPr>
          <a:xfrm>
            <a:off x="3372000" y="3613181"/>
            <a:ext cx="2400000" cy="546814"/>
            <a:chOff x="3372000" y="3613181"/>
            <a:chExt cx="2400000" cy="546814"/>
          </a:xfrm>
        </p:grpSpPr>
        <p:sp>
          <p:nvSpPr>
            <p:cNvPr id="6" name="Rounded Rectangle 5"/>
            <p:cNvSpPr/>
            <p:nvPr/>
          </p:nvSpPr>
          <p:spPr>
            <a:xfrm>
              <a:off x="3972000" y="3613181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処理中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572000" y="3909995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成功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372000" y="3909995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失敗</a:t>
              </a:r>
            </a:p>
          </p:txBody>
        </p:sp>
      </p:grpSp>
      <p:grpSp>
        <p:grpSpPr>
          <a:xfrm>
            <a:off x="808679" y="4394023"/>
            <a:ext cx="1636516" cy="625000"/>
            <a:chOff x="808679" y="4394023"/>
            <a:chExt cx="1636516" cy="625000"/>
          </a:xfrm>
        </p:grpSpPr>
        <p:sp>
          <p:nvSpPr>
            <p:cNvPr id="8" name="Rounded Rectangle 7"/>
            <p:cNvSpPr/>
            <p:nvPr/>
          </p:nvSpPr>
          <p:spPr>
            <a:xfrm>
              <a:off x="808679" y="4519023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エラー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245195" y="439402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リトライ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5b. 状態図 - 並行（並列）・ノート・LR方向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2272000" y="2188180"/>
            <a:ext cx="4600000" cy="2420000"/>
          </a:xfrm>
          <a:prstGeom prst="roundRect">
            <a:avLst/>
          </a:prstGeom>
          <a:solidFill>
            <a:srgbClr val="E6F0FF"/>
          </a:solidFill>
          <a:ln>
            <a:solidFill>
              <a:srgbClr val="4664a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2272000" y="3538181"/>
            <a:ext cx="4600000" cy="2420000"/>
          </a:xfrm>
          <a:prstGeom prst="roundRect">
            <a:avLst/>
          </a:prstGeom>
          <a:solidFill>
            <a:srgbClr val="E6F0FF"/>
          </a:solidFill>
          <a:ln>
            <a:solidFill>
              <a:srgbClr val="4664a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2872000" y="2653181"/>
            <a:ext cx="3400000" cy="2420000"/>
          </a:xfrm>
          <a:prstGeom prst="roundRect">
            <a:avLst/>
          </a:prstGeom>
          <a:solidFill>
            <a:srgbClr val="EEF4FF"/>
          </a:solidFill>
          <a:ln>
            <a:solidFill>
              <a:srgbClr val="466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2872000" y="2653181"/>
            <a:ext cx="34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4664AA"/>
                </a:solidFill>
              </a:rPr>
              <a:t>Active</a:t>
            </a:r>
          </a:p>
        </p:txBody>
      </p:sp>
      <p:sp>
        <p:nvSpPr>
          <p:cNvPr id="8" name="Oval 7"/>
          <p:cNvSpPr/>
          <p:nvPr/>
        </p:nvSpPr>
        <p:spPr>
          <a:xfrm>
            <a:off x="1218679" y="3673181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510320" y="3638181"/>
            <a:ext cx="450000" cy="45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7610320" y="3738181"/>
            <a:ext cx="250000" cy="25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2761999" y="3418180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2761999" y="4768181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422000" y="3613181"/>
            <a:ext cx="1200000" cy="500000"/>
          </a:xfrm>
          <a:prstGeom prst="rect">
            <a:avLst/>
          </a:prstGeom>
          <a:solidFill>
            <a:srgbClr val="FFFDC8"/>
          </a:solidFill>
          <a:ln>
            <a:solidFill>
              <a:srgbClr val="A08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900">
                <a:solidFill>
                  <a:srgbClr val="000000"/>
                </a:solidFill>
              </a:rPr>
              <a:t>キーボードの並行状態</a:t>
            </a:r>
          </a:p>
        </p:txBody>
      </p:sp>
      <p:cxnSp>
        <p:nvCxnSpPr>
          <p:cNvPr id="18" name="Connector 17"/>
          <p:cNvCxnSpPr>
            <a:stCxn id="8" idx="1"/>
            <a:endCxn id="6" idx="3"/>
          </p:cNvCxnSpPr>
          <p:nvPr/>
        </p:nvCxnSpPr>
        <p:spPr>
          <a:xfrm>
            <a:off x="1218679" y="3863181"/>
            <a:ext cx="5053321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11" idx="1"/>
            <a:endCxn id="12" idx="3"/>
          </p:cNvCxnSpPr>
          <p:nvPr/>
        </p:nvCxnSpPr>
        <p:spPr>
          <a:xfrm>
            <a:off x="2761999" y="3608180"/>
            <a:ext cx="2410001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12" idx="1"/>
            <a:endCxn id="13" idx="3"/>
          </p:cNvCxnSpPr>
          <p:nvPr/>
        </p:nvCxnSpPr>
        <p:spPr>
          <a:xfrm>
            <a:off x="3972000" y="3608180"/>
            <a:ext cx="28200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13" idx="3"/>
            <a:endCxn id="12" idx="1"/>
          </p:cNvCxnSpPr>
          <p:nvPr/>
        </p:nvCxnSpPr>
        <p:spPr>
          <a:xfrm flipH="1">
            <a:off x="3972000" y="3608180"/>
            <a:ext cx="28200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4" idx="1"/>
            <a:endCxn id="15" idx="3"/>
          </p:cNvCxnSpPr>
          <p:nvPr/>
        </p:nvCxnSpPr>
        <p:spPr>
          <a:xfrm>
            <a:off x="2761999" y="4958181"/>
            <a:ext cx="2410001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5" idx="1"/>
            <a:endCxn id="16" idx="3"/>
          </p:cNvCxnSpPr>
          <p:nvPr/>
        </p:nvCxnSpPr>
        <p:spPr>
          <a:xfrm>
            <a:off x="3972000" y="4958181"/>
            <a:ext cx="28200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6" idx="3"/>
            <a:endCxn id="15" idx="1"/>
          </p:cNvCxnSpPr>
          <p:nvPr/>
        </p:nvCxnSpPr>
        <p:spPr>
          <a:xfrm flipH="1">
            <a:off x="3972000" y="4958181"/>
            <a:ext cx="28200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6" idx="1"/>
            <a:endCxn id="9" idx="3"/>
          </p:cNvCxnSpPr>
          <p:nvPr/>
        </p:nvCxnSpPr>
        <p:spPr>
          <a:xfrm>
            <a:off x="2872000" y="3863181"/>
            <a:ext cx="50883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grpSpPr>
          <a:xfrm>
            <a:off x="3972000" y="3358180"/>
            <a:ext cx="1800000" cy="500000"/>
            <a:chOff x="3972000" y="3358180"/>
            <a:chExt cx="1800000" cy="500000"/>
          </a:xfrm>
        </p:grpSpPr>
        <p:sp>
          <p:nvSpPr>
            <p:cNvPr id="12" name="Rounded Rectangle 11"/>
            <p:cNvSpPr/>
            <p:nvPr/>
          </p:nvSpPr>
          <p:spPr>
            <a:xfrm>
              <a:off x="3972000" y="3358180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NumLockOff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4572000" y="3483180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NumLock押す</a:t>
              </a:r>
            </a:p>
          </p:txBody>
        </p:sp>
      </p:grpSp>
      <p:grpSp>
        <p:grpSpPr>
          <a:xfrm>
            <a:off x="4992000" y="3358180"/>
            <a:ext cx="1800000" cy="500000"/>
            <a:chOff x="4992000" y="3358180"/>
            <a:chExt cx="1800000" cy="500000"/>
          </a:xfrm>
        </p:grpSpPr>
        <p:sp>
          <p:nvSpPr>
            <p:cNvPr id="13" name="Rounded Rectangle 12"/>
            <p:cNvSpPr/>
            <p:nvPr/>
          </p:nvSpPr>
          <p:spPr>
            <a:xfrm>
              <a:off x="5592000" y="3358180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NumLockOn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992000" y="3483180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NumLock押す</a:t>
              </a:r>
            </a:p>
          </p:txBody>
        </p:sp>
      </p:grpSp>
      <p:grpSp>
        <p:grpSpPr>
          <a:xfrm>
            <a:off x="3972000" y="4708181"/>
            <a:ext cx="1800000" cy="500000"/>
            <a:chOff x="3972000" y="4708181"/>
            <a:chExt cx="1800000" cy="500000"/>
          </a:xfrm>
        </p:grpSpPr>
        <p:sp>
          <p:nvSpPr>
            <p:cNvPr id="15" name="Rounded Rectangle 14"/>
            <p:cNvSpPr/>
            <p:nvPr/>
          </p:nvSpPr>
          <p:spPr>
            <a:xfrm>
              <a:off x="3972000" y="4708181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CapsLockOff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4572000" y="4833181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CapsLock押す</a:t>
              </a:r>
            </a:p>
          </p:txBody>
        </p:sp>
      </p:grpSp>
      <p:grpSp>
        <p:grpSpPr>
          <a:xfrm>
            <a:off x="4992000" y="4708181"/>
            <a:ext cx="1800000" cy="500000"/>
            <a:chOff x="4992000" y="4708181"/>
            <a:chExt cx="1800000" cy="500000"/>
          </a:xfrm>
        </p:grpSpPr>
        <p:sp>
          <p:nvSpPr>
            <p:cNvPr id="16" name="Rounded Rectangle 15"/>
            <p:cNvSpPr/>
            <p:nvPr/>
          </p:nvSpPr>
          <p:spPr>
            <a:xfrm>
              <a:off x="5592000" y="4708181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CapsLockOn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4992000" y="4833181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CapsLock押す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5c. 状態図 - 分岐（choice）・複合状態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2872000" y="3559023"/>
            <a:ext cx="3400000" cy="2420000"/>
          </a:xfrm>
          <a:prstGeom prst="roundRect">
            <a:avLst/>
          </a:prstGeom>
          <a:solidFill>
            <a:srgbClr val="EEF4FF"/>
          </a:solidFill>
          <a:ln>
            <a:solidFill>
              <a:srgbClr val="466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2872000" y="3559023"/>
            <a:ext cx="34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4664AA"/>
                </a:solidFill>
              </a:rPr>
              <a:t>VehicleState</a:t>
            </a:r>
          </a:p>
        </p:txBody>
      </p:sp>
      <p:sp>
        <p:nvSpPr>
          <p:cNvPr id="6" name="Oval 5"/>
          <p:cNvSpPr/>
          <p:nvPr/>
        </p:nvSpPr>
        <p:spPr>
          <a:xfrm>
            <a:off x="4382000" y="1861498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8679" y="3613181"/>
            <a:ext cx="1200000" cy="500000"/>
          </a:xfrm>
          <a:prstGeom prst="roundRect">
            <a:avLst/>
          </a:prstGeom>
          <a:solidFill>
            <a:srgbClr val="FFFFFF"/>
          </a:solidFill>
          <a:ln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000000"/>
                </a:solidFill>
              </a:rPr>
              <a:t>Fast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5320" y="3613181"/>
            <a:ext cx="1200000" cy="500000"/>
          </a:xfrm>
          <a:prstGeom prst="roundRect">
            <a:avLst/>
          </a:prstGeom>
          <a:solidFill>
            <a:srgbClr val="FFFFFF"/>
          </a:solidFill>
          <a:ln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000000"/>
                </a:solidFill>
              </a:rPr>
              <a:t>Slow</a:t>
            </a:r>
          </a:p>
        </p:txBody>
      </p:sp>
      <p:sp>
        <p:nvSpPr>
          <p:cNvPr id="10" name="Oval 9"/>
          <p:cNvSpPr/>
          <p:nvPr/>
        </p:nvSpPr>
        <p:spPr>
          <a:xfrm>
            <a:off x="4347000" y="5449864"/>
            <a:ext cx="450000" cy="45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447000" y="5549864"/>
            <a:ext cx="250000" cy="25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4" name="Connector 13"/>
          <p:cNvCxnSpPr>
            <a:stCxn id="6" idx="2"/>
            <a:endCxn id="7" idx="0"/>
          </p:cNvCxnSpPr>
          <p:nvPr/>
        </p:nvCxnSpPr>
        <p:spPr>
          <a:xfrm>
            <a:off x="4572000" y="2241498"/>
            <a:ext cx="0" cy="46584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>
            <a:stCxn id="7" idx="3"/>
            <a:endCxn id="8" idx="1"/>
          </p:cNvCxnSpPr>
          <p:nvPr/>
        </p:nvCxnSpPr>
        <p:spPr>
          <a:xfrm flipH="1">
            <a:off x="808679" y="2957339"/>
            <a:ext cx="4363321" cy="9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>
            <a:stCxn id="7" idx="1"/>
            <a:endCxn id="9" idx="3"/>
          </p:cNvCxnSpPr>
          <p:nvPr/>
        </p:nvCxnSpPr>
        <p:spPr>
          <a:xfrm>
            <a:off x="3972000" y="2957339"/>
            <a:ext cx="4363320" cy="9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12" idx="2"/>
            <a:endCxn id="13" idx="0"/>
          </p:cNvCxnSpPr>
          <p:nvPr/>
        </p:nvCxnSpPr>
        <p:spPr>
          <a:xfrm>
            <a:off x="4572000" y="4554022"/>
            <a:ext cx="0" cy="85000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13" idx="0"/>
            <a:endCxn id="12" idx="2"/>
          </p:cNvCxnSpPr>
          <p:nvPr/>
        </p:nvCxnSpPr>
        <p:spPr>
          <a:xfrm flipV="1">
            <a:off x="4572000" y="4554022"/>
            <a:ext cx="0" cy="85000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8" idx="1"/>
            <a:endCxn id="4" idx="3"/>
          </p:cNvCxnSpPr>
          <p:nvPr/>
        </p:nvCxnSpPr>
        <p:spPr>
          <a:xfrm>
            <a:off x="808679" y="3863181"/>
            <a:ext cx="5463321" cy="9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9" idx="3"/>
            <a:endCxn id="4" idx="1"/>
          </p:cNvCxnSpPr>
          <p:nvPr/>
        </p:nvCxnSpPr>
        <p:spPr>
          <a:xfrm flipH="1">
            <a:off x="2872000" y="3863181"/>
            <a:ext cx="5463320" cy="9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4" idx="2"/>
            <a:endCxn id="10" idx="0"/>
          </p:cNvCxnSpPr>
          <p:nvPr/>
        </p:nvCxnSpPr>
        <p:spPr>
          <a:xfrm flipV="1">
            <a:off x="4572000" y="5449864"/>
            <a:ext cx="0" cy="529159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grpSpPr>
          <a:xfrm>
            <a:off x="3372000" y="2707339"/>
            <a:ext cx="2400000" cy="546814"/>
            <a:chOff x="3372000" y="2707339"/>
            <a:chExt cx="2400000" cy="546814"/>
          </a:xfrm>
        </p:grpSpPr>
        <p:sp>
          <p:nvSpPr>
            <p:cNvPr id="7" name="Rounded Rectangle 6"/>
            <p:cNvSpPr/>
            <p:nvPr/>
          </p:nvSpPr>
          <p:spPr>
            <a:xfrm>
              <a:off x="3972000" y="2707339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Check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372000" y="300415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speed &gt; 80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4572000" y="300415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speed &lt;=80</a:t>
              </a:r>
            </a:p>
          </p:txBody>
        </p:sp>
      </p:grpSp>
      <p:grpSp>
        <p:grpSpPr>
          <a:xfrm>
            <a:off x="3972000" y="4054022"/>
            <a:ext cx="1200000" cy="625000"/>
            <a:chOff x="3972000" y="4054022"/>
            <a:chExt cx="1200000" cy="625000"/>
          </a:xfrm>
        </p:grpSpPr>
        <p:sp>
          <p:nvSpPr>
            <p:cNvPr id="12" name="Rounded Rectangle 11"/>
            <p:cNvSpPr/>
            <p:nvPr/>
          </p:nvSpPr>
          <p:spPr>
            <a:xfrm>
              <a:off x="3972000" y="4054022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Idle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3972000" y="4429022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start</a:t>
              </a:r>
            </a:p>
          </p:txBody>
        </p:sp>
      </p:grpSp>
      <p:grpSp>
        <p:grpSpPr>
          <a:xfrm>
            <a:off x="3972000" y="5279023"/>
            <a:ext cx="1200000" cy="625000"/>
            <a:chOff x="3972000" y="5279023"/>
            <a:chExt cx="1200000" cy="625000"/>
          </a:xfrm>
        </p:grpSpPr>
        <p:sp>
          <p:nvSpPr>
            <p:cNvPr id="13" name="Rounded Rectangle 12"/>
            <p:cNvSpPr/>
            <p:nvPr/>
          </p:nvSpPr>
          <p:spPr>
            <a:xfrm>
              <a:off x="3972000" y="5404023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Moving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972000" y="527902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stop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ER図（Entity Relationship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6425688" y="551315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CUSTOMER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00578" y="2848046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ORDER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2504533" y="195796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LINE-ITEM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13356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PRODUCT</a:t>
            </a:r>
          </a:p>
        </p:txBody>
      </p:sp>
      <p:cxnSp>
        <p:nvCxnSpPr>
          <p:cNvPr id="8" name="Connector 7"/>
          <p:cNvCxnSpPr>
            <a:stCxn id="4" idx="0"/>
            <a:endCxn id="5" idx="2"/>
          </p:cNvCxnSpPr>
          <p:nvPr/>
        </p:nvCxnSpPr>
        <p:spPr>
          <a:xfrm flipV="1">
            <a:off x="7025688" y="3348046"/>
            <a:ext cx="74890" cy="2165109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>
            <a:stCxn id="5" idx="3"/>
            <a:endCxn id="6" idx="1"/>
          </p:cNvCxnSpPr>
          <p:nvPr/>
        </p:nvCxnSpPr>
        <p:spPr>
          <a:xfrm flipH="1" flipV="1">
            <a:off x="2504533" y="2207962"/>
            <a:ext cx="5196045" cy="890084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>
            <a:stCxn id="7" idx="0"/>
            <a:endCxn id="6" idx="2"/>
          </p:cNvCxnSpPr>
          <p:nvPr/>
        </p:nvCxnSpPr>
        <p:spPr>
          <a:xfrm flipV="1">
            <a:off x="1057200" y="2457962"/>
            <a:ext cx="2047333" cy="1675600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7. ユーザージャーニー図（User Journey）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journey
    title オンラインショッピング体験
    section 商品探し
        サイト訪問    : 5: ユーザー
        検索実行      : 3: ユーザー
        商品選択      : 4: ユーザー
    section 購入
        カートに追加  : 5: ユーザー
        決済手続き    : 2: ユーザー
        注文完了      : 5: ユーザー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8. 円グラフ（Pie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pie title 言語別コード比率
    "Python" : 42
    "TypeScript" : 28
    "Rust" : 15
    "Go" : 10
    "その他" : 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9. 象限チャート（Quadrant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quadrantChart
    title 製品ポートフォリオ分析
    x-axis 低成長 --&gt; 高成長
    y-axis 低シェア --&gt; 高シェア
    quadrant-1 スター
    quadrant-2 問題児
    quadrant-3 負け犬
    quadrant-4 金のなる木
    製品A: [0.7, 0.8]
    製品B: [0.3, 0.7]
    製品C: [0.2, 0.3]
    製品D: [0.8, 0.3]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10. 要件図（Requirement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requirementDiagram
    requirement test_req {
        id: 1
        text: システムは99.9%の可用性を持つこと
        risk: high
        verifymethod: test
    }
    functionalRequirement login_req {
        id: 2
        text: ユーザーはログインできること
        risk: medium
        verifymethod: inspection
    }
    test_req - traces -&gt; login_req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11. Gitグラフ（Git Graph）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gitGraph
    commit id: "initial"
    commit id: "feat: add login"
    branch develop
    checkout develop
    commit id: "fix: typo"
    commit id: "feat: add API"
    checkout main
    merge develop id: "merge develop"
    commit id: "release: v1.0"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12. マインドマップ（Mindmap）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2800400" y="3424464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qmd_to_pptx</a:t>
            </a:r>
          </a:p>
        </p:txBody>
      </p:sp>
      <p:sp>
        <p:nvSpPr>
          <p:cNvPr id="5" name="Rectangle 4"/>
          <p:cNvSpPr/>
          <p:nvPr/>
        </p:nvSpPr>
        <p:spPr>
          <a:xfrm>
            <a:off x="5143600" y="185182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入力形式</a:t>
            </a:r>
          </a:p>
        </p:txBody>
      </p:sp>
      <p:sp>
        <p:nvSpPr>
          <p:cNvPr id="6" name="Rectangle 5"/>
          <p:cNvSpPr/>
          <p:nvPr/>
        </p:nvSpPr>
        <p:spPr>
          <a:xfrm>
            <a:off x="74868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QMD</a:t>
            </a:r>
          </a:p>
        </p:txBody>
      </p:sp>
      <p:sp>
        <p:nvSpPr>
          <p:cNvPr id="7" name="Rectangle 6"/>
          <p:cNvSpPr/>
          <p:nvPr/>
        </p:nvSpPr>
        <p:spPr>
          <a:xfrm>
            <a:off x="7486800" y="210344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Markdown</a:t>
            </a:r>
          </a:p>
        </p:txBody>
      </p:sp>
      <p:sp>
        <p:nvSpPr>
          <p:cNvPr id="8" name="Rectangle 7"/>
          <p:cNvSpPr/>
          <p:nvPr/>
        </p:nvSpPr>
        <p:spPr>
          <a:xfrm>
            <a:off x="5143600" y="260669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出力</a:t>
            </a:r>
          </a:p>
        </p:txBody>
      </p:sp>
      <p:sp>
        <p:nvSpPr>
          <p:cNvPr id="9" name="Rectangle 8"/>
          <p:cNvSpPr/>
          <p:nvPr/>
        </p:nvSpPr>
        <p:spPr>
          <a:xfrm>
            <a:off x="7486800" y="260669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PPTX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43600" y="3864804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機能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86800" y="3109936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数式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868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Mermaid図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86800" y="4116426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テーブル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86800" y="461967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コード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43600" y="537454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利用方法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86800" y="512291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ライブラリ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86800" y="5626163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MCPサーバー</a:t>
            </a:r>
          </a:p>
        </p:txBody>
      </p:sp>
      <p:cxnSp>
        <p:nvCxnSpPr>
          <p:cNvPr id="18" name="Connector 17"/>
          <p:cNvCxnSpPr>
            <a:stCxn id="4" idx="0"/>
            <a:endCxn id="5" idx="2"/>
          </p:cNvCxnSpPr>
          <p:nvPr/>
        </p:nvCxnSpPr>
        <p:spPr>
          <a:xfrm flipV="1">
            <a:off x="3400400" y="2351822"/>
            <a:ext cx="2343200" cy="1072642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5" idx="1"/>
            <a:endCxn id="6" idx="3"/>
          </p:cNvCxnSpPr>
          <p:nvPr/>
        </p:nvCxnSpPr>
        <p:spPr>
          <a:xfrm flipV="1">
            <a:off x="5143600" y="1850200"/>
            <a:ext cx="3543200" cy="251622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5" idx="1"/>
            <a:endCxn id="7" idx="3"/>
          </p:cNvCxnSpPr>
          <p:nvPr/>
        </p:nvCxnSpPr>
        <p:spPr>
          <a:xfrm>
            <a:off x="5143600" y="2101822"/>
            <a:ext cx="3543200" cy="251623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4" idx="1"/>
            <a:endCxn id="8" idx="3"/>
          </p:cNvCxnSpPr>
          <p:nvPr/>
        </p:nvCxnSpPr>
        <p:spPr>
          <a:xfrm flipV="1">
            <a:off x="2800400" y="2856690"/>
            <a:ext cx="3543200" cy="817774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1"/>
            <a:endCxn id="9" idx="3"/>
          </p:cNvCxnSpPr>
          <p:nvPr/>
        </p:nvCxnSpPr>
        <p:spPr>
          <a:xfrm>
            <a:off x="5143600" y="2856690"/>
            <a:ext cx="3543200" cy="0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4" idx="1"/>
            <a:endCxn id="10" idx="3"/>
          </p:cNvCxnSpPr>
          <p:nvPr/>
        </p:nvCxnSpPr>
        <p:spPr>
          <a:xfrm>
            <a:off x="2800400" y="3674464"/>
            <a:ext cx="3543200" cy="440340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0" idx="1"/>
            <a:endCxn id="11" idx="3"/>
          </p:cNvCxnSpPr>
          <p:nvPr/>
        </p:nvCxnSpPr>
        <p:spPr>
          <a:xfrm flipV="1">
            <a:off x="5143600" y="3359936"/>
            <a:ext cx="3543200" cy="754868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0" idx="1"/>
            <a:endCxn id="12" idx="3"/>
          </p:cNvCxnSpPr>
          <p:nvPr/>
        </p:nvCxnSpPr>
        <p:spPr>
          <a:xfrm flipV="1">
            <a:off x="5143600" y="3863181"/>
            <a:ext cx="3543200" cy="251623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0" idx="1"/>
            <a:endCxn id="13" idx="3"/>
          </p:cNvCxnSpPr>
          <p:nvPr/>
        </p:nvCxnSpPr>
        <p:spPr>
          <a:xfrm>
            <a:off x="5143600" y="4114804"/>
            <a:ext cx="3543200" cy="251622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0" idx="1"/>
            <a:endCxn id="14" idx="3"/>
          </p:cNvCxnSpPr>
          <p:nvPr/>
        </p:nvCxnSpPr>
        <p:spPr>
          <a:xfrm>
            <a:off x="5143600" y="4114804"/>
            <a:ext cx="3543200" cy="754868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4" idx="2"/>
            <a:endCxn id="15" idx="0"/>
          </p:cNvCxnSpPr>
          <p:nvPr/>
        </p:nvCxnSpPr>
        <p:spPr>
          <a:xfrm>
            <a:off x="3400400" y="3924464"/>
            <a:ext cx="2343200" cy="1450076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5" idx="1"/>
            <a:endCxn id="16" idx="3"/>
          </p:cNvCxnSpPr>
          <p:nvPr/>
        </p:nvCxnSpPr>
        <p:spPr>
          <a:xfrm flipV="1">
            <a:off x="5143600" y="5372917"/>
            <a:ext cx="3543200" cy="251623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5" idx="1"/>
            <a:endCxn id="17" idx="3"/>
          </p:cNvCxnSpPr>
          <p:nvPr/>
        </p:nvCxnSpPr>
        <p:spPr>
          <a:xfrm>
            <a:off x="5143600" y="5624540"/>
            <a:ext cx="3543200" cy="251623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13. タイムライン（Timeline）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timeline
    title ソフトウェア開発史
    1960 : アセンブリ言語
    1970 : C言語
         : Unix
    1980 : C++
         : Macintosh
    1990 : Java
         : World Wide Web
    2000 : Python普及
         : Agile開発
    2010 : クラウドコンピューティング
    2020 : AI・機械学習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14. ZenUML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zenuml
    title 注文処理
    @Actor Client
    @Database DB
    Client -&gt; Server.process(order) {
        Server -&gt; DB.save(order)
        return orderId
    }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15. サンキー図（Sankey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sankey-beta
    エネルギー源,電力,60
    エネルギー源,熱,40
    電力,家庭用,25
    電力,産業用,35
    熱,暖房,30
    熱,給湯,10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16. XYチャート（XY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xychart-beta
    title "月別売上推移"
    x-axis [1月, 2月, 3月, 4月, 5月, 6月]
    y-axis "売上（万円）" 0 --&gt; 1000
    bar [400, 500, 650, 720, 850, 900]
    line [400, 500, 650, 720, 850, 900]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17. ブロック図（Block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block-beta
    columns 3
    A["フロントエンド"]:1
    B["APIゲートウェイ"]:1
    C["バックエンド"]:1
    D["認証サービス"]:1
    E["データベース"]:1
    F["キャッシュ"]:1
    A --&gt; B
    B --&gt; C
    B --&gt; D
    C --&gt; E
    C --&gt; F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18. パケット図（Packet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packet-beta
    title TCP パケット構造
    0-15: "送信元ポート"
    16-31: "宛先ポート"
    32-63: "シーケンス番号"
    64-95: "確認応答番号"
    96-99: "データオフセット"
    100-105: "予約"
    106-111: "フラグ"
    112-127: "ウィンドウサイズ"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19. カンバン（Kanban）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kanban
    todo["To Do"]
        task1["要件定義"]
        task2["DB設計"]
    inprogress["In Progress"]
        task3["API実装"]
        task4["テスト作成"]
    done["Done"]
        task5["環境構築"]
        task6["仕様策定"]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20. アーキテクチャ図（Architecture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architecture-beta
    group cloud(cloud)[クラウド]
    service web(internet)[Webサーバー] in cloud
    service api(server)[APIサーバー] in cloud
    service db(database)[データベース] in cloud
    service cache(disk)[キャッシュ] in cloud
    web:R --&gt; L:api
    api:R --&gt; L:db
    api:B --&gt; T:cache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21. C4図（C4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C4Context
    title システムコンテキスト図
    Person(user, "ユーザー", "アプリケーションを利用する人")
    System(app, "Webアプリ", "主要なシステム")
    System_Ext(email, "メールサービス", "通知送信")
    System_Ext(payment, "決済サービス", "支払い処理")
    Rel(user, app, "利用する", "HTTPS")
    Rel(app, email, "送信する", "SMTP")
    Rel(app, payment, "呼び出す", "API")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22. Quartoネイティブ記法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スタート</a:t>
            </a:r>
          </a:p>
        </p:txBody>
      </p:sp>
      <p:sp>
        <p:nvSpPr>
          <p:cNvPr id="5" name="Rectangle 4"/>
          <p:cNvSpPr/>
          <p:nvPr/>
        </p:nvSpPr>
        <p:spPr>
          <a:xfrm>
            <a:off x="39720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</a:t>
            </a:r>
          </a:p>
        </p:txBody>
      </p:sp>
      <p:sp>
        <p:nvSpPr>
          <p:cNvPr id="6" name="Rectangle 5"/>
          <p:cNvSpPr/>
          <p:nvPr/>
        </p:nvSpPr>
        <p:spPr>
          <a:xfrm>
            <a:off x="74868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エンド</a:t>
            </a:r>
          </a:p>
        </p:txBody>
      </p:sp>
      <p:cxnSp>
        <p:nvCxnSpPr>
          <p:cNvPr id="7" name="Connector 6"/>
          <p:cNvCxnSpPr>
            <a:stCxn id="4" idx="1"/>
            <a:endCxn id="5" idx="3"/>
          </p:cNvCxnSpPr>
          <p:nvPr/>
        </p:nvCxnSpPr>
        <p:spPr>
          <a:xfrm>
            <a:off x="457200" y="3863181"/>
            <a:ext cx="47148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>
            <a:stCxn id="5" idx="1"/>
            <a:endCxn id="6" idx="3"/>
          </p:cNvCxnSpPr>
          <p:nvPr/>
        </p:nvCxnSpPr>
        <p:spPr>
          <a:xfrm>
            <a:off x="3972000" y="3863181"/>
            <a:ext cx="47148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Quartoコードブロック記法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none"/>
          <a:lstStyle/>
          <a:p>
            <a:pPr>
              <a:buNone/>
            </a:pPr>
            <a:r>
              <a:rPr lang="" dirty="0" sz="1400">
                <a:latin typeface="Courier New"/>
              </a:rPr>
              <a:t>import math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>print(math.pi)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/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アニメーション・レイアウト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インクリメンタルリスト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まず最初に表示</a:t>
            </a:r>
          </a:p>
          <a:p>
            <a:pPr/>
            <a:r>
              <a:rPr sz="1800"/>
              <a:t>次にこれが表示</a:t>
            </a:r>
          </a:p>
          <a:p>
            <a:pPr/>
            <a:r>
              <a:rPr sz="1800"/>
              <a:t>最後にこれが表示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非インクリメンタルリスト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一括表示アイテム1</a:t>
            </a:r>
          </a:p>
          <a:p>
            <a:pPr/>
            <a:r>
              <a:rPr sz="1800"/>
              <a:t>一括表示アイテム2</a:t>
            </a:r>
          </a:p>
          <a:p>
            <a:pPr/>
            <a:r>
              <a:rPr sz="1800"/>
              <a:t>一括表示アイテム3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2カラムレイアウト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/>
            <a:r>
              <a:rPr sz="1800"/>
              <a:t>左の項目1</a:t>
            </a:r>
          </a:p>
          <a:p>
            <a:pPr/>
            <a:r>
              <a:rPr sz="1800"/>
              <a:t>左の項目2</a:t>
            </a:r>
          </a:p>
          <a:p>
            <a:pPr/>
            <a:r>
              <a:rPr sz="1800"/>
              <a:t>左の項目3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/>
            <a:r>
              <a:rPr sz="1800"/>
              <a:t>右の項目1</a:t>
            </a:r>
          </a:p>
          <a:p>
            <a:pPr/>
            <a:r>
              <a:rPr sz="1800"/>
              <a:t>右の項目2</a:t>
            </a:r>
          </a:p>
          <a:p>
            <a:pPr/>
            <a:r>
              <a:rPr sz="1800"/>
              <a:t>右の項目3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スピーカーノート付きスライド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このスライドには発表者向けのノートが埋め込まれています。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水平区切り線（---）によって生成されたタイトルなしスライドです。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まとめ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全機能確認完了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テキスト（段落・リスト・テーブル・コード）</a:t>
            </a:r>
          </a:p>
          <a:p>
            <a:pPr/>
            <a:r>
              <a:rPr sz="1800"/>
              <a:t>数式（インライン・ブロック）</a:t>
            </a:r>
          </a:p>
          <a:p>
            <a:pPr/>
            <a:r>
              <a:rPr sz="1800"/>
              <a:t>Mermaid図（全22種類）</a:t>
            </a:r>
          </a:p>
          <a:p>
            <a:pPr lvl="1"/>
            <a:r>
              <a:rPr sz="1800"/>
              <a:t>Flowchart / Sequence / Gantt / Class / State</a:t>
            </a:r>
          </a:p>
          <a:p>
            <a:pPr lvl="1"/>
            <a:r>
              <a:rPr sz="1800"/>
              <a:t>ER / User Journey / Pie / Quadrant / Requirement</a:t>
            </a:r>
          </a:p>
          <a:p>
            <a:pPr lvl="1"/>
            <a:r>
              <a:rPr sz="1800"/>
              <a:t>Git Graph / Mindmap / Timeline / ZenUML / Sankey</a:t>
            </a:r>
          </a:p>
          <a:p>
            <a:pPr lvl="1"/>
            <a:r>
              <a:rPr sz="1800"/>
              <a:t>XY Chart / Block / Packet / Kanban / Architecture / C4</a:t>
            </a:r>
          </a:p>
          <a:p>
            <a:pPr lvl="1"/>
            <a:r>
              <a:rPr sz="1800"/>
              <a:t>Quartoネイティブ記法</a:t>
            </a:r>
          </a:p>
          <a:p>
            <a:pPr/>
            <a:r>
              <a:rPr sz="1800"/>
              <a:t>アニメーション（インクリメンタル・非インクリメンタル）</a:t>
            </a:r>
          </a:p>
          <a:p>
            <a:pPr/>
            <a:r>
              <a:rPr sz="1800"/>
              <a:t>2カラムレイアウト</a:t>
            </a:r>
          </a:p>
          <a:p>
            <a:pPr/>
            <a:r>
              <a:rPr sz="1800"/>
              <a:t>スピーカーノート</a:t>
            </a:r>
          </a:p>
          <a:p>
            <a:pPr/>
            <a:r>
              <a:rPr sz="1800"/>
              <a:t>Blank スライド（水平区切り線）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