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7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8"/>
    <p:sldId id="297" r:id="rId49"/>
    <p:sldId id="298" r:id="rId5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notesMaster" Target="notesMasters/notesMaster1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これはスピーカーノートです。発表者ビューでのみ表示されます。
「2カラムレイアウト」について補足説明をここに記入します。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r>
              <a:rPr b="1" sz="3600"/>
              <a:t>全機能デモプレゼンテーション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r>
              <a:rPr sz="1800"/>
              <a:t>qmd-to-pptx テスト
2026-03-15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テキスト系機能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段落テスト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/>
              <a:t>複数の段落を含むスライドも正しく処理されます。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順序なしリスト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800"/>
              <a:t>第1レベルのアイテム</a:t>
            </a:r>
          </a:p>
          <a:p>
            <a:pPr/>
            <a:r>
              <a:rPr sz="1800"/>
              <a:t>第1レベルのアイテム2</a:t>
            </a:r>
          </a:p>
          <a:p>
            <a:pPr/>
            <a:r>
              <a:rPr sz="1800"/>
              <a:t>第2レベル（ネスト）</a:t>
            </a:r>
          </a:p>
          <a:p>
            <a:pPr/>
            <a:r>
              <a:rPr sz="1800"/>
              <a:t>第2レベル（ネスト）2</a:t>
            </a:r>
          </a:p>
          <a:p>
            <a:pPr lvl="1"/>
            <a:r>
              <a:rPr sz="1800"/>
              <a:t>第3レベル（深いネスト）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順序付きリスト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buAutoNum type="arabicPeriod"/>
            </a:pPr>
            <a:r>
              <a:rPr sz="1800"/>
              <a:t>最初のステップ</a:t>
            </a:r>
          </a:p>
          <a:p>
            <a:pPr>
              <a:buAutoNum type="arabicPeriod"/>
            </a:pPr>
            <a:r>
              <a:rPr sz="1800"/>
              <a:t>二番目のステップ</a:t>
            </a:r>
          </a:p>
          <a:p>
            <a:pPr>
              <a:buAutoNum type="arabicPeriod"/>
            </a:pPr>
            <a:r>
              <a:rPr sz="1800"/>
              <a:t>三番目のステップ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テーブル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00200"/>
          <a:ext cx="8229600" cy="45259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1131490">
                <a:tc>
                  <a:txBody>
                    <a:bodyPr/>
                    <a:lstStyle/>
                    <a:p>
                      <a:r>
                        <a:rPr b="1"/>
                        <a:t>言語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型付け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パラダイム</a:t>
                      </a:r>
                    </a:p>
                  </a:txBody>
                  <a:tcPr/>
                </a:tc>
              </a:tr>
              <a:tr h="1131490">
                <a:tc>
                  <a:txBody>
                    <a:bodyPr/>
                    <a:lstStyle/>
                    <a:p>
                      <a:r>
                        <a:t>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動的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マルチパラダイム</a:t>
                      </a:r>
                    </a:p>
                  </a:txBody>
                  <a:tcPr/>
                </a:tc>
              </a:tr>
              <a:tr h="1131490">
                <a:tc>
                  <a:txBody>
                    <a:bodyPr/>
                    <a:lstStyle/>
                    <a:p>
                      <a:r>
                        <a:t>Rust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静的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システム</a:t>
                      </a:r>
                    </a:p>
                  </a:txBody>
                  <a:tcPr/>
                </a:tc>
              </a:tr>
              <a:tr h="1131493">
                <a:tc>
                  <a:txBody>
                    <a:bodyPr/>
                    <a:lstStyle/>
                    <a:p>
                      <a:r>
                        <a:t>Haskell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静的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関数型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コードブロック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none"/>
          <a:lstStyle/>
          <a:p>
            <a:r>
              <a:rPr sz="1400">
                <a:latin typeface="Courier New"/>
              </a:rPr>
              <a:t>def fibonacci(n: int) -&gt; int:
    if n &lt;= 1:
        return n
    return fibonacci(n - 1) + fibonacci(n - 2)
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インライン数式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/>
              <a:t>円の面積は </a:t>
            </a:r>
            <a:r>
              <a:t/>
            </a:r>
            <a14:m xmlns:a14="http://schemas.microsoft.com/office/drawing/2010/main" xmlns:m="http://schemas.openxmlformats.org/officeDocument/2006/math">
              <m:oMath>
                <m:box>
                  <m:e>
                    <m:r>
                      <m:rPr>
                        <m:sty m:val="i"/>
                      </m:rPr>
                      <m:t>A</m:t>
                    </m:r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i"/>
                      </m:rPr>
                      <m:t>π</m:t>
                    </m:r>
                    <m:sSup>
                      <m:e>
                        <m:r>
                          <m:rPr>
                            <m:sty m:val="i"/>
                          </m:rPr>
                          <m:t>r</m:t>
                        </m:r>
                      </m:e>
                      <m:sup>
                        <m:r>
                          <m:rPr>
                            <m:sty m:val="p"/>
                          </m:rPr>
                          <m:t>2</m:t>
                        </m:r>
                      </m:sup>
                    </m:sSup>
                  </m:e>
                </m:box>
              </m:oMath>
            </a14:m>
            <a:r>
              <a:rPr sz="1800"/>
              <a:t> で、
円周は </a:t>
            </a:r>
            <a:r>
              <a:t/>
            </a:r>
            <a14:m xmlns:a14="http://schemas.microsoft.com/office/drawing/2010/main" xmlns:m="http://schemas.openxmlformats.org/officeDocument/2006/math">
              <m:oMath>
                <m:box>
                  <m:e>
                    <m:r>
                      <m:rPr>
                        <m:sty m:val="i"/>
                      </m:rPr>
                      <m:t>C</m:t>
                    </m:r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2</m:t>
                    </m:r>
                    <m:r>
                      <m:rPr>
                        <m:sty m:val="i"/>
                      </m:rPr>
                      <m:t>π</m:t>
                    </m:r>
                    <m:r>
                      <m:rPr>
                        <m:sty m:val="i"/>
                      </m:rPr>
                      <m:t>r</m:t>
                    </m:r>
                  </m:e>
                </m:box>
              </m:oMath>
            </a14:m>
            <a:r>
              <a:rPr sz="1800"/>
              <a:t> で表されます。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ブロック数式（ディスプレイ数式）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/>
              <a:t>二次方程式の解の公式：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14:m xmlns:a14="http://schemas.microsoft.com/office/drawing/2010/main" xmlns:m="http://schemas.openxmlformats.org/officeDocument/2006/math">
              <m:oMath>
                <m:box>
                  <m:e>
                    <m:r>
                      <m:rPr>
                        <m:sty m:val="i"/>
                      </m:rP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f>
                      <m:num>
                        <m:box>
                          <m:e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rPr>
                                <m:sty m:val="i"/>
                              </m:rPr>
                              <m:t>b</m:t>
                            </m:r>
                            <m:r>
                              <m:rPr>
                                <m:sty m:val="i"/>
                              </m:rPr>
                              <m:t>±</m:t>
                            </m:r>
                            <m:rad>
                              <m:e>
                                <m:box>
                                  <m:e>
                                    <m:box>
                                      <m:e>
                                        <m:sSup>
                                          <m:e>
                                            <m:r>
                                              <m:rPr>
                                                <m:sty m:val="i"/>
                                              </m:rPr>
                                              <m:t>b</m:t>
                                            </m:r>
                                          </m:e>
                                          <m:sup>
                                            <m:r>
                                              <m:rPr>
                                                <m:sty m:val="p"/>
                                              </m:rPr>
                                              <m:t>2</m:t>
                                            </m:r>
                                          </m:sup>
                                        </m:sSup>
                                        <m:r>
                                          <m:rPr>
                                            <m:sty m:val="p"/>
                                          </m:rPr>
                                          <m:t>−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m:t>4</m:t>
                                        </m:r>
                                        <m:r>
                                          <m:rPr>
                                            <m:sty m:val="i"/>
                                          </m:rPr>
                                          <m:t>a</m:t>
                                        </m:r>
                                        <m:r>
                                          <m:rPr>
                                            <m:sty m:val="i"/>
                                          </m:rPr>
                                          <m:t>c</m:t>
                                        </m:r>
                                      </m:e>
                                    </m:box>
                                  </m:e>
                                </m:box>
                              </m:e>
                            </m:rad>
                          </m:e>
                        </m:box>
                      </m:num>
                      <m:den>
                        <m:box>
                          <m:e>
                            <m:r>
                              <m:rPr>
                                <m:sty m:val="p"/>
                              </m:rPr>
                              <m:t>2</m:t>
                            </m:r>
                            <m:r>
                              <m:rPr>
                                <m:sty m:val="i"/>
                              </m:rPr>
                              <m:t>a</m:t>
                            </m:r>
                          </m:e>
                        </m:box>
                      </m:den>
                    </m:f>
                  </m:e>
                </m:box>
              </m:oMath>
            </a14:m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複雑な数式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/>
              <a:t>正規分布の確率密度関数：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14:m xmlns:a14="http://schemas.microsoft.com/office/drawing/2010/main" xmlns:m="http://schemas.openxmlformats.org/officeDocument/2006/math">
              <m:oMath>
                <m:box>
                  <m:e>
                    <m:sSup>
                      <m:e>
                        <m:r>
                          <m:rPr>
                            <m:sty m:val="i"/>
                          </m:rPr>
                          <m:t>e</m:t>
                        </m:r>
                      </m:e>
                      <m:sup>
                        <m:box>
                          <m:e>
                            <m:r>
                              <m:rPr>
                                <m:sty m:val="i"/>
                              </m:rPr>
                              <m:t>i</m:t>
                            </m:r>
                            <m:r>
                              <m:rPr>
                                <m:sty m:val="i"/>
                              </m:rPr>
                              <m:t>π</m:t>
                            </m:r>
                          </m:e>
                        </m:box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1</m:t>
                    </m:r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0</m:t>
                    </m:r>
                  </m:e>
                </m:box>
              </m:oMath>
            </a14:m>
          </a:p>
        </p:txBody>
      </p:sp>
      <p:sp>
        <p:nvSpPr>
          <p:cNvPr id="6" name="TextBox 5"/>
          <p:cNvSpPr txBox="1"/>
          <p:nvPr/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14:m xmlns:a14="http://schemas.microsoft.com/office/drawing/2010/main" xmlns:m="http://schemas.openxmlformats.org/officeDocument/2006/math">
              <m:oMath>
                <m:box>
                  <m:e>
                    <m:r>
                      <m:rPr>
                        <m:sty m:val="i"/>
                      </m:rPr>
                      <m:t>f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i"/>
                      </m:rP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f>
                      <m:num>
                        <m:box>
                          <m:e>
                            <m:r>
                              <m:rPr>
                                <m:sty m:val="p"/>
                              </m:rPr>
                              <m:t>1</m:t>
                            </m:r>
                          </m:e>
                        </m:box>
                      </m:num>
                      <m:den>
                        <m:box>
                          <m:e>
                            <m:r>
                              <m:rPr>
                                <m:sty m:val="i"/>
                              </m:rPr>
                              <m:t>σ</m:t>
                            </m:r>
                            <m:rad>
                              <m:e>
                                <m:box>
                                  <m:e>
                                    <m:box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m:t>2</m:t>
                                        </m:r>
                                        <m:r>
                                          <m:rPr>
                                            <m:sty m:val="i"/>
                                          </m:rPr>
                                          <m:t>π</m:t>
                                        </m:r>
                                      </m:e>
                                    </m:box>
                                  </m:e>
                                </m:box>
                              </m:e>
                            </m:rad>
                          </m:e>
                        </m:box>
                      </m:den>
                    </m:f>
                    <m:sSup>
                      <m:e>
                        <m:r>
                          <m:rPr>
                            <m:sty m:val="i"/>
                          </m:rPr>
                          <m:t>e</m:t>
                        </m:r>
                      </m:e>
                      <m:sup>
                        <m:box>
                          <m:e>
                            <m:r>
                              <m:rPr>
                                <m:sty m:val="p"/>
                              </m:rPr>
                              <m:t>−</m:t>
                            </m:r>
                            <m:f>
                              <m:num>
                                <m:box>
                                  <m:e>
                                    <m:r>
                                      <m:rPr>
                                        <m:sty m:val="p"/>
                                      </m:rPr>
                                      <m:t>(</m:t>
                                    </m:r>
                                    <m:r>
                                      <m:rPr>
                                        <m:sty m:val="i"/>
                                      </m:rPr>
                                      <m:t>x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m:t>−</m:t>
                                    </m:r>
                                    <m:r>
                                      <m:rPr>
                                        <m:sty m:val="i"/>
                                      </m:rPr>
                                      <m:t>μ</m:t>
                                    </m:r>
                                    <m:sSup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m:t>)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sty m:val="p"/>
                                          </m:rPr>
                                          <m:t>2</m:t>
                                        </m:r>
                                      </m:sup>
                                    </m:sSup>
                                  </m:e>
                                </m:box>
                              </m:num>
                              <m:den>
                                <m:box>
                                  <m:e>
                                    <m:r>
                                      <m:rPr>
                                        <m:sty m:val="p"/>
                                      </m:rPr>
                                      <m:t>2</m:t>
                                    </m:r>
                                    <m:sSup>
                                      <m:e>
                                        <m:r>
                                          <m:rPr>
                                            <m:sty m:val="i"/>
                                          </m:rPr>
                                          <m:t>σ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sty m:val="p"/>
                                          </m:rPr>
                                          <m:t>2</m:t>
                                        </m:r>
                                      </m:sup>
                                    </m:sSup>
                                  </m:e>
                                </m:box>
                              </m:den>
                            </m:f>
                          </m:e>
                        </m:box>
                      </m:sup>
                    </m:sSup>
                  </m:e>
                </m:box>
              </m:oMath>
            </a14:m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Mermaid図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フローチャート（Flowchart）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457200" y="2766604"/>
            <a:ext cx="1200000" cy="50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/>
              <a:t>A</a:t>
            </a:r>
          </a:p>
        </p:txBody>
      </p:sp>
      <p:sp>
        <p:nvSpPr>
          <p:cNvPr id="5" name="Rectangle 4"/>
          <p:cNvSpPr/>
          <p:nvPr/>
        </p:nvSpPr>
        <p:spPr>
          <a:xfrm>
            <a:off x="3018453" y="3350777"/>
            <a:ext cx="1200000" cy="50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/>
              <a:t>B</a:t>
            </a:r>
          </a:p>
        </p:txBody>
      </p:sp>
      <p:sp>
        <p:nvSpPr>
          <p:cNvPr id="6" name="Rectangle 5"/>
          <p:cNvSpPr/>
          <p:nvPr/>
        </p:nvSpPr>
        <p:spPr>
          <a:xfrm>
            <a:off x="5418151" y="2885282"/>
            <a:ext cx="1200000" cy="50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/>
              <a:t>C</a:t>
            </a:r>
          </a:p>
        </p:txBody>
      </p:sp>
      <p:sp>
        <p:nvSpPr>
          <p:cNvPr id="7" name="Rectangle 6"/>
          <p:cNvSpPr/>
          <p:nvPr/>
        </p:nvSpPr>
        <p:spPr>
          <a:xfrm>
            <a:off x="3838337" y="4684067"/>
            <a:ext cx="1200000" cy="50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/>
              <a:t>D</a:t>
            </a:r>
          </a:p>
        </p:txBody>
      </p:sp>
      <p:sp>
        <p:nvSpPr>
          <p:cNvPr id="8" name="Rectangle 7"/>
          <p:cNvSpPr/>
          <p:nvPr/>
        </p:nvSpPr>
        <p:spPr>
          <a:xfrm>
            <a:off x="7127858" y="4379174"/>
            <a:ext cx="1200000" cy="50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/>
              <a:t>E</a:t>
            </a:r>
          </a:p>
        </p:txBody>
      </p:sp>
      <p:cxnSp>
        <p:nvCxnSpPr>
          <p:cNvPr id="9" name="Connector 8"/>
          <p:cNvCxnSpPr>
            <a:stCxn id="4" idx="1"/>
            <a:endCxn id="5" idx="3"/>
          </p:cNvCxnSpPr>
          <p:nvPr/>
        </p:nvCxnSpPr>
        <p:spPr>
          <a:xfrm>
            <a:off x="457200" y="3016604"/>
            <a:ext cx="3761253" cy="58417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>
            <a:stCxn id="5" idx="1"/>
            <a:endCxn id="6" idx="3"/>
          </p:cNvCxnSpPr>
          <p:nvPr/>
        </p:nvCxnSpPr>
        <p:spPr>
          <a:xfrm flipV="1">
            <a:off x="3018453" y="3135282"/>
            <a:ext cx="3599698" cy="4654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>
            <a:stCxn id="5" idx="2"/>
            <a:endCxn id="7" idx="0"/>
          </p:cNvCxnSpPr>
          <p:nvPr/>
        </p:nvCxnSpPr>
        <p:spPr>
          <a:xfrm>
            <a:off x="3618453" y="3850777"/>
            <a:ext cx="819884" cy="8332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>
            <a:stCxn id="6" idx="2"/>
            <a:endCxn id="8" idx="0"/>
          </p:cNvCxnSpPr>
          <p:nvPr/>
        </p:nvCxnSpPr>
        <p:spPr>
          <a:xfrm>
            <a:off x="6018151" y="3385282"/>
            <a:ext cx="1709707" cy="9938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>
            <a:stCxn id="7" idx="1"/>
            <a:endCxn id="8" idx="3"/>
          </p:cNvCxnSpPr>
          <p:nvPr/>
        </p:nvCxnSpPr>
        <p:spPr>
          <a:xfrm flipV="1">
            <a:off x="3838337" y="4629174"/>
            <a:ext cx="4489521" cy="3048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シーケンス図（Sequence Diagram）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latin typeface="Courier New"/>
              </a:rPr>
              <a:t>sequenceDiagram
    participant A as クライアント
    participant B as サーバー
    participant C as データベース
    A-&gt;&gt;B: リクエスト送信
    B-&gt;&gt;C: クエリ実行
    C--&gt;&gt;B: 結果返却
    B--&gt;&gt;A: レスポンス返却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ガントチャート（Gantt Diagram）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latin typeface="Courier New"/>
              </a:rPr>
              <a:t>gantt
    title プロジェクト計画
    dateFormat YYYY-MM-DD
    section 設計
        要件定義  :done, des1, 2024-01-01, 2024-01-07
        基本設計  :done, des2, 2024-01-08, 7d
    section 実装
        コーディング :active, dev1, 2024-01-15, 14d
        テスト       :        dev2, after dev1, 7d
    section リリース
        デプロイ :milestone, 2024-02-05, 1d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クラス図（Class Diagram）- 全接続タイプ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pSp>
        <p:nvGrpSpPr>
          <p:cNvPr id="7" name="Group 6"/>
          <p:cNvGrpSpPr/>
          <p:nvPr/>
        </p:nvGrpSpPr>
        <p:grpSpPr>
          <a:xfrm>
            <a:off x="2646128" y="3712943"/>
            <a:ext cx="1700000" cy="1080000"/>
            <a:chOff x="2646128" y="3712943"/>
            <a:chExt cx="1700000" cy="1080000"/>
          </a:xfrm>
        </p:grpSpPr>
        <p:sp>
          <p:nvSpPr>
            <p:cNvPr id="4" name="Rectangle 3"/>
            <p:cNvSpPr/>
            <p:nvPr/>
          </p:nvSpPr>
          <p:spPr>
            <a:xfrm>
              <a:off x="2646128" y="3712943"/>
              <a:ext cx="1700000" cy="4400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50000" rIns="50000" tIns="60000" bIns="60000"/>
            <a:lstStyle/>
            <a:p>
              <a:pPr algn="ctr"/>
              <a:r>
                <a:rPr b="1" sz="1100"/>
                <a:t>Vehicle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2646128" y="4152943"/>
              <a:ext cx="1700000" cy="3200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80000" rIns="50000" tIns="50000" bIns="50000"/>
            <a:lstStyle/>
            <a:p>
              <a:pPr algn="ctr"/>
              <a:r>
                <a:rPr sz="900"/>
                <a:t>+String make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2646128" y="4472943"/>
              <a:ext cx="1700000" cy="3200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80000" rIns="50000" tIns="50000" bIns="50000"/>
            <a:lstStyle/>
            <a:p>
              <a:pPr algn="ctr"/>
              <a:r>
                <a:rPr sz="900"/>
                <a:t>+drive() : void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412505" y="3517401"/>
            <a:ext cx="1700000" cy="1080000"/>
            <a:chOff x="2412505" y="3517401"/>
            <a:chExt cx="1700000" cy="1080000"/>
          </a:xfrm>
        </p:grpSpPr>
        <p:sp>
          <p:nvSpPr>
            <p:cNvPr id="8" name="Rectangle 7"/>
            <p:cNvSpPr/>
            <p:nvPr/>
          </p:nvSpPr>
          <p:spPr>
            <a:xfrm>
              <a:off x="2412505" y="3517401"/>
              <a:ext cx="1700000" cy="4400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50000" rIns="50000" tIns="60000" bIns="60000"/>
            <a:lstStyle/>
            <a:p>
              <a:pPr algn="ctr"/>
              <a:r>
                <a:rPr b="1" sz="1100"/>
                <a:t>Car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2412505" y="3957401"/>
              <a:ext cx="1700000" cy="3200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80000" rIns="50000" tIns="50000" bIns="50000"/>
            <a:lstStyle/>
            <a:p>
              <a:pPr algn="ctr"/>
              <a:r>
                <a:rPr sz="900"/>
                <a:t>+int doors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2412505" y="4277401"/>
              <a:ext cx="1700000" cy="3200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80000" rIns="50000" tIns="50000" bIns="50000"/>
            <a:lstStyle/>
            <a:p>
              <a:pPr algn="ctr"/>
              <a:r>
                <a:rPr sz="900"/>
                <a:t>+honk() : void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2456119" y="2008198"/>
            <a:ext cx="1700000" cy="1080000"/>
            <a:chOff x="2456119" y="2008198"/>
            <a:chExt cx="1700000" cy="1080000"/>
          </a:xfrm>
        </p:grpSpPr>
        <p:sp>
          <p:nvSpPr>
            <p:cNvPr id="12" name="Rectangle 11"/>
            <p:cNvSpPr/>
            <p:nvPr/>
          </p:nvSpPr>
          <p:spPr>
            <a:xfrm>
              <a:off x="2456119" y="2008198"/>
              <a:ext cx="1700000" cy="4400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50000" rIns="50000" tIns="60000" bIns="60000"/>
            <a:lstStyle/>
            <a:p>
              <a:pPr algn="ctr"/>
              <a:r>
                <a:rPr b="1" sz="1100"/>
                <a:t>Engine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456119" y="2448198"/>
              <a:ext cx="1700000" cy="3200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80000" rIns="50000" tIns="50000" bIns="50000"/>
            <a:lstStyle/>
            <a:p>
              <a:pPr algn="ctr"/>
              <a:r>
                <a:rPr sz="900"/>
                <a:t>+int cylinders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2456119" y="2768198"/>
              <a:ext cx="1700000" cy="3200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80000" rIns="50000" tIns="50000" bIns="50000"/>
            <a:lstStyle/>
            <a:p>
              <a:pPr algn="ctr"/>
              <a:r>
                <a:rPr sz="900"/>
                <a:t>+ignite() : void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1193357" y="3805983"/>
            <a:ext cx="1700000" cy="1080000"/>
            <a:chOff x="1193357" y="3805983"/>
            <a:chExt cx="1700000" cy="1080000"/>
          </a:xfrm>
        </p:grpSpPr>
        <p:sp>
          <p:nvSpPr>
            <p:cNvPr id="16" name="Rectangle 15"/>
            <p:cNvSpPr/>
            <p:nvPr/>
          </p:nvSpPr>
          <p:spPr>
            <a:xfrm>
              <a:off x="1193357" y="3805983"/>
              <a:ext cx="1700000" cy="4400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50000" rIns="50000" tIns="60000" bIns="60000"/>
            <a:lstStyle/>
            <a:p>
              <a:pPr algn="ctr"/>
              <a:r>
                <a:rPr b="1" sz="1100"/>
                <a:t>Wheel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193357" y="4245983"/>
              <a:ext cx="1700000" cy="3200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80000" rIns="50000" tIns="50000" bIns="50000"/>
            <a:lstStyle/>
            <a:p>
              <a:pPr algn="ctr"/>
              <a:r>
                <a:rPr sz="900"/>
                <a:t>+int size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193357" y="4565983"/>
              <a:ext cx="1700000" cy="3200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80000" rIns="50000" tIns="50000" bIns="50000"/>
            <a:lstStyle/>
            <a:p>
              <a:pPr algn="ctr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4888961" y="3071587"/>
            <a:ext cx="1700000" cy="1080000"/>
            <a:chOff x="4888961" y="3071587"/>
            <a:chExt cx="1700000" cy="1080000"/>
          </a:xfrm>
        </p:grpSpPr>
        <p:sp>
          <p:nvSpPr>
            <p:cNvPr id="20" name="Rectangle 19"/>
            <p:cNvSpPr/>
            <p:nvPr/>
          </p:nvSpPr>
          <p:spPr>
            <a:xfrm>
              <a:off x="4888961" y="3071587"/>
              <a:ext cx="1700000" cy="4400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50000" rIns="50000" tIns="60000" bIns="60000"/>
            <a:lstStyle/>
            <a:p>
              <a:pPr algn="ctr"/>
              <a:r>
                <a:rPr b="1" sz="1100"/>
                <a:t>Driver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4888961" y="3511587"/>
              <a:ext cx="1700000" cy="3200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80000" rIns="50000" tIns="50000" bIns="50000"/>
            <a:lstStyle/>
            <a:p>
              <a:pPr algn="ctr"/>
              <a:r>
                <a:rPr sz="900"/>
                <a:t>+String name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4888961" y="3831587"/>
              <a:ext cx="1700000" cy="3200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80000" rIns="50000" tIns="50000" bIns="50000"/>
            <a:lstStyle/>
            <a:p>
              <a:pPr algn="ctr"/>
              <a:r>
                <a:rPr sz="900"/>
                <a:t>+operate() : void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2988896" y="4958861"/>
            <a:ext cx="1700000" cy="1080000"/>
            <a:chOff x="2988896" y="4958861"/>
            <a:chExt cx="1700000" cy="1080000"/>
          </a:xfrm>
        </p:grpSpPr>
        <p:sp>
          <p:nvSpPr>
            <p:cNvPr id="24" name="Rectangle 23"/>
            <p:cNvSpPr/>
            <p:nvPr/>
          </p:nvSpPr>
          <p:spPr>
            <a:xfrm>
              <a:off x="2988896" y="4958861"/>
              <a:ext cx="1700000" cy="4400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50000" rIns="50000" tIns="60000" bIns="60000"/>
            <a:lstStyle/>
            <a:p>
              <a:pPr algn="ctr"/>
              <a:r>
                <a:rPr b="1" sz="1100"/>
                <a:t>ILogger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2988896" y="5398861"/>
              <a:ext cx="1700000" cy="3200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80000" rIns="50000" tIns="50000" bIns="50000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2988896" y="5718861"/>
              <a:ext cx="1700000" cy="3200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80000" rIns="50000" tIns="50000" bIns="50000"/>
            <a:lstStyle/>
            <a:p>
              <a:pPr algn="ctr"/>
              <a:r>
                <a:rPr sz="900"/>
                <a:t>+log() : void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6986800" y="2728920"/>
            <a:ext cx="1700000" cy="1080000"/>
            <a:chOff x="6986800" y="2728920"/>
            <a:chExt cx="1700000" cy="1080000"/>
          </a:xfrm>
        </p:grpSpPr>
        <p:sp>
          <p:nvSpPr>
            <p:cNvPr id="28" name="Rectangle 27"/>
            <p:cNvSpPr/>
            <p:nvPr/>
          </p:nvSpPr>
          <p:spPr>
            <a:xfrm>
              <a:off x="6986800" y="2728920"/>
              <a:ext cx="1700000" cy="4400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50000" rIns="50000" tIns="60000" bIns="60000"/>
            <a:lstStyle/>
            <a:p>
              <a:pPr algn="ctr"/>
              <a:r>
                <a:rPr b="1" sz="1100"/>
                <a:t>Fuel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6986800" y="3168920"/>
              <a:ext cx="1700000" cy="3200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80000" rIns="50000" tIns="50000" bIns="50000"/>
            <a:lstStyle/>
            <a:p>
              <a:pPr algn="ct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6986800" y="3488920"/>
              <a:ext cx="1700000" cy="3200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80000" rIns="50000" tIns="50000" bIns="50000"/>
            <a:lstStyle/>
            <a:p>
              <a:pPr algn="ctr"/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6203229" y="2781555"/>
            <a:ext cx="1700000" cy="1080000"/>
            <a:chOff x="6203229" y="2781555"/>
            <a:chExt cx="1700000" cy="1080000"/>
          </a:xfrm>
        </p:grpSpPr>
        <p:sp>
          <p:nvSpPr>
            <p:cNvPr id="32" name="Rectangle 31"/>
            <p:cNvSpPr/>
            <p:nvPr/>
          </p:nvSpPr>
          <p:spPr>
            <a:xfrm>
              <a:off x="6203229" y="2781555"/>
              <a:ext cx="1700000" cy="4400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50000" rIns="50000" tIns="60000" bIns="60000"/>
            <a:lstStyle/>
            <a:p>
              <a:pPr algn="ctr"/>
              <a:r>
                <a:rPr b="1" sz="1100"/>
                <a:t>GPS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6203229" y="3221555"/>
              <a:ext cx="1700000" cy="3200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80000" rIns="50000" tIns="50000" bIns="50000"/>
            <a:lstStyle/>
            <a:p>
              <a:pPr algn="ctr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6203229" y="3541555"/>
              <a:ext cx="1700000" cy="3200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80000" rIns="50000" tIns="50000" bIns="50000"/>
            <a:lstStyle/>
            <a:p>
              <a:pPr algn="ctr"/>
            </a:p>
          </p:txBody>
        </p:sp>
      </p:grpSp>
      <p:cxnSp>
        <p:nvCxnSpPr>
          <p:cNvPr id="36" name="Connector 35"/>
          <p:cNvCxnSpPr>
            <a:stCxn id="4" idx="0"/>
            <a:endCxn id="8" idx="2"/>
          </p:cNvCxnSpPr>
          <p:nvPr/>
        </p:nvCxnSpPr>
        <p:spPr>
          <a:xfrm flipH="1">
            <a:off x="3262505" y="3712943"/>
            <a:ext cx="233623" cy="244458"/>
          </a:xfrm>
          <a:prstGeom prst="line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>
            <a:stCxn id="8" idx="0"/>
            <a:endCxn id="12" idx="2"/>
          </p:cNvCxnSpPr>
          <p:nvPr/>
        </p:nvCxnSpPr>
        <p:spPr>
          <a:xfrm flipV="1">
            <a:off x="3262505" y="2448198"/>
            <a:ext cx="43614" cy="1069203"/>
          </a:xfrm>
          <a:prstGeom prst="line">
            <a:avLst/>
          </a:prstGeom>
          <a:ln>
            <a:tailEnd type="diamond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>
            <a:stCxn id="8" idx="3"/>
            <a:endCxn id="16" idx="1"/>
          </p:cNvCxnSpPr>
          <p:nvPr/>
        </p:nvCxnSpPr>
        <p:spPr>
          <a:xfrm flipH="1">
            <a:off x="1193357" y="3737401"/>
            <a:ext cx="2919148" cy="288582"/>
          </a:xfrm>
          <a:prstGeom prst="line">
            <a:avLst/>
          </a:prstGeom>
          <a:ln>
            <a:tailEnd type="diamond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>
            <a:stCxn id="20" idx="3"/>
            <a:endCxn id="8" idx="1"/>
          </p:cNvCxnSpPr>
          <p:nvPr/>
        </p:nvCxnSpPr>
        <p:spPr>
          <a:xfrm flipH="1">
            <a:off x="2412505" y="3291587"/>
            <a:ext cx="4176456" cy="445814"/>
          </a:xfrm>
          <a:prstGeom prst="line">
            <a:avLst/>
          </a:prstGeom>
          <a:ln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>
            <a:stCxn id="20" idx="1"/>
            <a:endCxn id="32" idx="3"/>
          </p:cNvCxnSpPr>
          <p:nvPr/>
        </p:nvCxnSpPr>
        <p:spPr>
          <a:xfrm flipV="1">
            <a:off x="4888961" y="3001555"/>
            <a:ext cx="3014268" cy="290032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>
            <a:stCxn id="20" idx="1"/>
            <a:endCxn id="28" idx="3"/>
          </p:cNvCxnSpPr>
          <p:nvPr/>
        </p:nvCxnSpPr>
        <p:spPr>
          <a:xfrm flipV="1">
            <a:off x="4888961" y="2948920"/>
            <a:ext cx="3797839" cy="342667"/>
          </a:xfrm>
          <a:prstGeom prst="line">
            <a:avLst/>
          </a:prstGeom>
          <a:ln>
            <a:prstDash val="dash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>
            <a:stCxn id="8" idx="2"/>
            <a:endCxn id="24" idx="0"/>
          </p:cNvCxnSpPr>
          <p:nvPr/>
        </p:nvCxnSpPr>
        <p:spPr>
          <a:xfrm>
            <a:off x="3262505" y="3957401"/>
            <a:ext cx="576391" cy="1001460"/>
          </a:xfrm>
          <a:prstGeom prst="line">
            <a:avLst/>
          </a:prstGeom>
          <a:ln>
            <a:prstDash val="dash"/>
            <a:head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>
            <a:stCxn id="32" idx="1"/>
            <a:endCxn id="28" idx="3"/>
          </p:cNvCxnSpPr>
          <p:nvPr/>
        </p:nvCxnSpPr>
        <p:spPr>
          <a:xfrm flipV="1">
            <a:off x="6203229" y="2948920"/>
            <a:ext cx="2483571" cy="52635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状態図（State Diagram）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3907422" y="2095949"/>
            <a:ext cx="1200000" cy="50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/>
              <a:t>root_start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3734954" y="3055006"/>
            <a:ext cx="1200000" cy="50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/>
              <a:t>待機中</a:t>
            </a:r>
          </a:p>
        </p:txBody>
      </p:sp>
      <p:sp>
        <p:nvSpPr>
          <p:cNvPr id="6" name="Rectangle 5"/>
          <p:cNvSpPr/>
          <p:nvPr/>
        </p:nvSpPr>
        <p:spPr>
          <a:xfrm>
            <a:off x="4229427" y="3649517"/>
            <a:ext cx="1200000" cy="50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/>
              <a:t>処理中</a:t>
            </a:r>
          </a:p>
        </p:txBody>
      </p:sp>
      <p:sp>
        <p:nvSpPr>
          <p:cNvPr id="7" name="Rectangle 6"/>
          <p:cNvSpPr/>
          <p:nvPr/>
        </p:nvSpPr>
        <p:spPr>
          <a:xfrm>
            <a:off x="3224463" y="4868892"/>
            <a:ext cx="1200000" cy="50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/>
              <a:t>完了</a:t>
            </a:r>
          </a:p>
        </p:txBody>
      </p:sp>
      <p:sp>
        <p:nvSpPr>
          <p:cNvPr id="8" name="Rectangle 7"/>
          <p:cNvSpPr/>
          <p:nvPr/>
        </p:nvSpPr>
        <p:spPr>
          <a:xfrm>
            <a:off x="4973140" y="2383560"/>
            <a:ext cx="1200000" cy="50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/>
              <a:t>エラー</a:t>
            </a:r>
          </a:p>
        </p:txBody>
      </p:sp>
      <p:sp>
        <p:nvSpPr>
          <p:cNvPr id="9" name="Rectangle 8"/>
          <p:cNvSpPr/>
          <p:nvPr/>
        </p:nvSpPr>
        <p:spPr>
          <a:xfrm>
            <a:off x="3762591" y="5626163"/>
            <a:ext cx="1200000" cy="50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/>
              <a:t>root_end</a:t>
            </a:r>
          </a:p>
        </p:txBody>
      </p:sp>
      <p:cxnSp>
        <p:nvCxnSpPr>
          <p:cNvPr id="10" name="Connector 9"/>
          <p:cNvCxnSpPr>
            <a:stCxn id="4" idx="2"/>
            <a:endCxn id="5" idx="0"/>
          </p:cNvCxnSpPr>
          <p:nvPr/>
        </p:nvCxnSpPr>
        <p:spPr>
          <a:xfrm flipH="1">
            <a:off x="4334954" y="2595949"/>
            <a:ext cx="172468" cy="4590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>
            <a:stCxn id="5" idx="2"/>
            <a:endCxn id="6" idx="0"/>
          </p:cNvCxnSpPr>
          <p:nvPr/>
        </p:nvCxnSpPr>
        <p:spPr>
          <a:xfrm>
            <a:off x="4334954" y="3555006"/>
            <a:ext cx="494473" cy="945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>
            <a:stCxn id="6" idx="2"/>
            <a:endCxn id="7" idx="0"/>
          </p:cNvCxnSpPr>
          <p:nvPr/>
        </p:nvCxnSpPr>
        <p:spPr>
          <a:xfrm flipH="1">
            <a:off x="3824463" y="4149517"/>
            <a:ext cx="1004964" cy="719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>
            <a:stCxn id="6" idx="0"/>
            <a:endCxn id="8" idx="2"/>
          </p:cNvCxnSpPr>
          <p:nvPr/>
        </p:nvCxnSpPr>
        <p:spPr>
          <a:xfrm flipV="1">
            <a:off x="4829427" y="2883560"/>
            <a:ext cx="743713" cy="7659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>
            <a:stCxn id="8" idx="3"/>
            <a:endCxn id="5" idx="1"/>
          </p:cNvCxnSpPr>
          <p:nvPr/>
        </p:nvCxnSpPr>
        <p:spPr>
          <a:xfrm flipH="1">
            <a:off x="3734954" y="2633560"/>
            <a:ext cx="2438186" cy="6714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>
            <a:stCxn id="7" idx="2"/>
            <a:endCxn id="9" idx="0"/>
          </p:cNvCxnSpPr>
          <p:nvPr/>
        </p:nvCxnSpPr>
        <p:spPr>
          <a:xfrm>
            <a:off x="3824463" y="5368892"/>
            <a:ext cx="538128" cy="25727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ER図（Entity Relationship Diagram）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7486800" y="5152460"/>
            <a:ext cx="1200000" cy="50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/>
              <a:t>CUSTOMER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933580" y="3310410"/>
            <a:ext cx="1200000" cy="50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/>
              <a:t>ORDER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2104438" y="1896087"/>
            <a:ext cx="1200000" cy="50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/>
              <a:t>LINE-ITEM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1363180" y="4093767"/>
            <a:ext cx="1200000" cy="50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/>
              <a:t>PRODUCT</a:t>
            </a:r>
          </a:p>
        </p:txBody>
      </p:sp>
      <p:cxnSp>
        <p:nvCxnSpPr>
          <p:cNvPr id="8" name="Connector 7"/>
          <p:cNvCxnSpPr>
            <a:stCxn id="4" idx="0"/>
            <a:endCxn id="5" idx="2"/>
          </p:cNvCxnSpPr>
          <p:nvPr/>
        </p:nvCxnSpPr>
        <p:spPr>
          <a:xfrm flipH="1" flipV="1">
            <a:off x="5533580" y="3810410"/>
            <a:ext cx="2553220" cy="13420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>
            <a:stCxn id="5" idx="3"/>
            <a:endCxn id="6" idx="1"/>
          </p:cNvCxnSpPr>
          <p:nvPr/>
        </p:nvCxnSpPr>
        <p:spPr>
          <a:xfrm flipH="1" flipV="1">
            <a:off x="2104438" y="2146087"/>
            <a:ext cx="4029142" cy="14143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>
            <a:stCxn id="7" idx="0"/>
            <a:endCxn id="6" idx="2"/>
          </p:cNvCxnSpPr>
          <p:nvPr/>
        </p:nvCxnSpPr>
        <p:spPr>
          <a:xfrm flipV="1">
            <a:off x="1963180" y="2396087"/>
            <a:ext cx="741258" cy="16976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ユーザージャーニー図（User Journey）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latin typeface="Courier New"/>
              </a:rPr>
              <a:t>journey
    title オンラインショッピング体験
    section 商品探し
        サイト訪問    : 5: ユーザー
        検索実行      : 3: ユーザー
        商品選択      : 4: ユーザー
    section 購入
        カートに追加  : 5: ユーザー
        決済手続き    : 2: ユーザー
        注文完了      : 5: ユーザー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円グラフ（Pie Chart）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latin typeface="Courier New"/>
              </a:rPr>
              <a:t>pie title 言語別コード比率
    "Python" : 42
    "TypeScript" : 28
    "Rust" : 15
    "Go" : 10
    "その他" : 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象限チャート（Quadrant Chart）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latin typeface="Courier New"/>
              </a:rPr>
              <a:t>quadrantChart
    title 製品ポートフォリオ分析
    x-axis 低成長 --&gt; 高成長
    y-axis 低シェア --&gt; 高シェア
    quadrant-1 スター
    quadrant-2 問題児
    quadrant-3 負け犬
    quadrant-4 金のなる木
    製品A: [0.7, 0.8]
    製品B: [0.3, 0.7]
    製品C: [0.2, 0.3]
    製品D: [0.8, 0.3]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要件図（Requirement Diagram）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latin typeface="Courier New"/>
              </a:rPr>
              <a:t>requirementDiagram
    requirement test_req {
        id: 1
        text: システムは99.9%の可用性を持つこと
        risk: high
        verifymethod: test
    }
    functionalRequirement login_req {
        id: 2
        text: ユーザーはログインできること
        risk: medium
        verifymethod: inspection
    }
    test_req - traces -&gt; login_req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Gitグラフ（Git Graph）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latin typeface="Courier New"/>
              </a:rPr>
              <a:t>gitGraph
    commit id: "initial"
    commit id: "feat: add login"
    branch develop
    checkout develop
    commit id: "fix: typo"
    commit id: "feat: add API"
    checkout main
    merge develop id: "merge develop"
    commit id: "release: v1.0"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マインドマップ（Mindmap）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2800400" y="3424464"/>
            <a:ext cx="1200000" cy="50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/>
              <a:t>qmd_to_pptx</a:t>
            </a:r>
          </a:p>
        </p:txBody>
      </p:sp>
      <p:sp>
        <p:nvSpPr>
          <p:cNvPr id="5" name="Rectangle 4"/>
          <p:cNvSpPr/>
          <p:nvPr/>
        </p:nvSpPr>
        <p:spPr>
          <a:xfrm>
            <a:off x="5143600" y="1851822"/>
            <a:ext cx="1200000" cy="50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/>
              <a:t>入力形式</a:t>
            </a:r>
          </a:p>
        </p:txBody>
      </p:sp>
      <p:sp>
        <p:nvSpPr>
          <p:cNvPr id="6" name="Rectangle 5"/>
          <p:cNvSpPr/>
          <p:nvPr/>
        </p:nvSpPr>
        <p:spPr>
          <a:xfrm>
            <a:off x="7486800" y="1600200"/>
            <a:ext cx="1200000" cy="50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/>
              <a:t>QMD</a:t>
            </a:r>
          </a:p>
        </p:txBody>
      </p:sp>
      <p:sp>
        <p:nvSpPr>
          <p:cNvPr id="7" name="Rectangle 6"/>
          <p:cNvSpPr/>
          <p:nvPr/>
        </p:nvSpPr>
        <p:spPr>
          <a:xfrm>
            <a:off x="7486800" y="2103445"/>
            <a:ext cx="1200000" cy="50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/>
              <a:t>Markdown</a:t>
            </a:r>
          </a:p>
        </p:txBody>
      </p:sp>
      <p:sp>
        <p:nvSpPr>
          <p:cNvPr id="8" name="Rectangle 7"/>
          <p:cNvSpPr/>
          <p:nvPr/>
        </p:nvSpPr>
        <p:spPr>
          <a:xfrm>
            <a:off x="5143600" y="2606690"/>
            <a:ext cx="1200000" cy="50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/>
              <a:t>出力</a:t>
            </a:r>
          </a:p>
        </p:txBody>
      </p:sp>
      <p:sp>
        <p:nvSpPr>
          <p:cNvPr id="9" name="Rectangle 8"/>
          <p:cNvSpPr/>
          <p:nvPr/>
        </p:nvSpPr>
        <p:spPr>
          <a:xfrm>
            <a:off x="7486800" y="2606690"/>
            <a:ext cx="1200000" cy="50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/>
              <a:t>PPTX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43600" y="3864804"/>
            <a:ext cx="1200000" cy="50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/>
              <a:t>機能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86800" y="3109936"/>
            <a:ext cx="1200000" cy="50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/>
              <a:t>数式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86800" y="3613181"/>
            <a:ext cx="1200000" cy="50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/>
              <a:t>Mermaid図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86800" y="4116426"/>
            <a:ext cx="1200000" cy="50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/>
              <a:t>テーブル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86800" y="4619672"/>
            <a:ext cx="1200000" cy="50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/>
              <a:t>コード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43600" y="5374540"/>
            <a:ext cx="1200000" cy="50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/>
              <a:t>利用方法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86800" y="5122917"/>
            <a:ext cx="1200000" cy="50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/>
              <a:t>ライブラリ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86800" y="5626163"/>
            <a:ext cx="1200000" cy="50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/>
              <a:t>MCPサーバー</a:t>
            </a:r>
          </a:p>
        </p:txBody>
      </p:sp>
      <p:cxnSp>
        <p:nvCxnSpPr>
          <p:cNvPr id="18" name="Connector 17"/>
          <p:cNvCxnSpPr>
            <a:stCxn id="4" idx="0"/>
            <a:endCxn id="5" idx="2"/>
          </p:cNvCxnSpPr>
          <p:nvPr/>
        </p:nvCxnSpPr>
        <p:spPr>
          <a:xfrm flipV="1">
            <a:off x="3400400" y="2351822"/>
            <a:ext cx="2343200" cy="10726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>
            <a:stCxn id="5" idx="1"/>
            <a:endCxn id="6" idx="3"/>
          </p:cNvCxnSpPr>
          <p:nvPr/>
        </p:nvCxnSpPr>
        <p:spPr>
          <a:xfrm flipV="1">
            <a:off x="5143600" y="1850200"/>
            <a:ext cx="3543200" cy="2516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>
            <a:stCxn id="5" idx="1"/>
            <a:endCxn id="7" idx="3"/>
          </p:cNvCxnSpPr>
          <p:nvPr/>
        </p:nvCxnSpPr>
        <p:spPr>
          <a:xfrm>
            <a:off x="5143600" y="2101822"/>
            <a:ext cx="3543200" cy="2516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>
            <a:stCxn id="4" idx="1"/>
            <a:endCxn id="8" idx="3"/>
          </p:cNvCxnSpPr>
          <p:nvPr/>
        </p:nvCxnSpPr>
        <p:spPr>
          <a:xfrm flipV="1">
            <a:off x="2800400" y="2856690"/>
            <a:ext cx="3543200" cy="8177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>
            <a:stCxn id="8" idx="1"/>
            <a:endCxn id="9" idx="3"/>
          </p:cNvCxnSpPr>
          <p:nvPr/>
        </p:nvCxnSpPr>
        <p:spPr>
          <a:xfrm>
            <a:off x="5143600" y="2856690"/>
            <a:ext cx="3543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>
            <a:stCxn id="4" idx="1"/>
            <a:endCxn id="10" idx="3"/>
          </p:cNvCxnSpPr>
          <p:nvPr/>
        </p:nvCxnSpPr>
        <p:spPr>
          <a:xfrm>
            <a:off x="2800400" y="3674464"/>
            <a:ext cx="3543200" cy="4403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>
            <a:stCxn id="10" idx="1"/>
            <a:endCxn id="11" idx="3"/>
          </p:cNvCxnSpPr>
          <p:nvPr/>
        </p:nvCxnSpPr>
        <p:spPr>
          <a:xfrm flipV="1">
            <a:off x="5143600" y="3359936"/>
            <a:ext cx="3543200" cy="7548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>
            <a:stCxn id="10" idx="1"/>
            <a:endCxn id="12" idx="3"/>
          </p:cNvCxnSpPr>
          <p:nvPr/>
        </p:nvCxnSpPr>
        <p:spPr>
          <a:xfrm flipV="1">
            <a:off x="5143600" y="3863181"/>
            <a:ext cx="3543200" cy="2516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>
            <a:stCxn id="10" idx="1"/>
            <a:endCxn id="13" idx="3"/>
          </p:cNvCxnSpPr>
          <p:nvPr/>
        </p:nvCxnSpPr>
        <p:spPr>
          <a:xfrm>
            <a:off x="5143600" y="4114804"/>
            <a:ext cx="3543200" cy="2516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>
            <a:stCxn id="10" idx="1"/>
            <a:endCxn id="14" idx="3"/>
          </p:cNvCxnSpPr>
          <p:nvPr/>
        </p:nvCxnSpPr>
        <p:spPr>
          <a:xfrm>
            <a:off x="5143600" y="4114804"/>
            <a:ext cx="3543200" cy="7548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>
            <a:stCxn id="4" idx="2"/>
            <a:endCxn id="15" idx="0"/>
          </p:cNvCxnSpPr>
          <p:nvPr/>
        </p:nvCxnSpPr>
        <p:spPr>
          <a:xfrm>
            <a:off x="3400400" y="3924464"/>
            <a:ext cx="2343200" cy="145007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>
            <a:stCxn id="15" idx="1"/>
            <a:endCxn id="16" idx="3"/>
          </p:cNvCxnSpPr>
          <p:nvPr/>
        </p:nvCxnSpPr>
        <p:spPr>
          <a:xfrm flipV="1">
            <a:off x="5143600" y="5372917"/>
            <a:ext cx="3543200" cy="2516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>
            <a:stCxn id="15" idx="1"/>
            <a:endCxn id="17" idx="3"/>
          </p:cNvCxnSpPr>
          <p:nvPr/>
        </p:nvCxnSpPr>
        <p:spPr>
          <a:xfrm>
            <a:off x="5143600" y="5624540"/>
            <a:ext cx="3543200" cy="2516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13. タイムライン（Timeline）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latin typeface="Courier New"/>
              </a:rPr>
              <a:t>timeline
    title ソフトウェア開発史
    1960 : アセンブリ言語
    1970 : C言語
         : Unix
    1980 : C++
         : Macintosh
    1990 : Java
         : World Wide Web
    2000 : Python普及
         : Agile開発
    2010 : クラウドコンピューティング
    2020 : AI・機械学習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14. ZenUML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latin typeface="Courier New"/>
              </a:rPr>
              <a:t>zenuml
    title 注文処理
    @Actor Client
    @Database DB
    Client -&gt; Server.process(order) {
        Server -&gt; DB.save(order)
        return orderId
    }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15. サンキー図（Sankey Diagram）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latin typeface="Courier New"/>
              </a:rPr>
              <a:t>sankey-beta
    エネルギー源,電力,60
    エネルギー源,熱,40
    電力,家庭用,25
    電力,産業用,35
    熱,暖房,30
    熱,給湯,10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16. XYチャート（XY Chart）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latin typeface="Courier New"/>
              </a:rPr>
              <a:t>xychart-beta
    title "月別売上推移"
    x-axis [1月, 2月, 3月, 4月, 5月, 6月]
    y-axis "売上（万円）" 0 --&gt; 1000
    bar [400, 500, 650, 720, 850, 900]
    line [400, 500, 650, 720, 850, 900]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17. ブロック図（Block Diagram）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latin typeface="Courier New"/>
              </a:rPr>
              <a:t>block-beta
    columns 3
    A["フロントエンド"]:1
    B["APIゲートウェイ"]:1
    C["バックエンド"]:1
    D["認証サービス"]:1
    E["データベース"]:1
    F["キャッシュ"]:1
    A --&gt; B
    B --&gt; C
    B --&gt; D
    C --&gt; E
    C --&gt; F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18. パケット図（Packet Diagram）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latin typeface="Courier New"/>
              </a:rPr>
              <a:t>packet-beta
    title TCP パケット構造
    0-15: "送信元ポート"
    16-31: "宛先ポート"
    32-63: "シーケンス番号"
    64-95: "確認応答番号"
    96-99: "データオフセット"
    100-105: "予約"
    106-111: "フラグ"
    112-127: "ウィンドウサイズ"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19. カンバン（Kanban）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latin typeface="Courier New"/>
              </a:rPr>
              <a:t>kanban
    todo["To Do"]
        task1["要件定義"]
        task2["DB設計"]
    inprogress["In Progress"]
        task3["API実装"]
        task4["テスト作成"]
    done["Done"]
        task5["環境構築"]
        task6["仕様策定"]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20. アーキテクチャ図（Architecture Diagram）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latin typeface="Courier New"/>
              </a:rPr>
              <a:t>architecture-beta
    group cloud(cloud)[クラウド]
    service web(internet)[Webサーバー] in cloud
    service api(server)[APIサーバー] in cloud
    service db(database)[データベース] in cloud
    service cache(disk)[キャッシュ] in cloud
    web:R --&gt; L:api
    api:R --&gt; L:db
    api:B --&gt; T:cache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21. C4図（C4 Diagram）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latin typeface="Courier New"/>
              </a:rPr>
              <a:t>C4Context
    title システムコンテキスト図
    Person(user, "ユーザー", "アプリケーションを利用する人")
    System(app, "Webアプリ", "主要なシステム")
    System_Ext(email, "メールサービス", "通知送信")
    System_Ext(payment, "決済サービス", "支払い処理")
    Rel(user, app, "利用する", "HTTPS")
    Rel(app, email, "送信する", "SMTP")
    Rel(app, payment, "呼び出す", "API")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22. Quartoネイティブ記法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7271770" y="4348813"/>
            <a:ext cx="1200000" cy="50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/>
              <a:t>X</a:t>
            </a:r>
          </a:p>
        </p:txBody>
      </p:sp>
      <p:sp>
        <p:nvSpPr>
          <p:cNvPr id="5" name="Rectangle 4"/>
          <p:cNvSpPr/>
          <p:nvPr/>
        </p:nvSpPr>
        <p:spPr>
          <a:xfrm>
            <a:off x="4187029" y="3581520"/>
            <a:ext cx="1200000" cy="50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/>
              <a:t>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909210"/>
            <a:ext cx="1200000" cy="50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/>
              <a:t>Z</a:t>
            </a:r>
          </a:p>
        </p:txBody>
      </p:sp>
      <p:cxnSp>
        <p:nvCxnSpPr>
          <p:cNvPr id="7" name="Connector 6"/>
          <p:cNvCxnSpPr>
            <a:stCxn id="4" idx="3"/>
            <a:endCxn id="5" idx="1"/>
          </p:cNvCxnSpPr>
          <p:nvPr/>
        </p:nvCxnSpPr>
        <p:spPr>
          <a:xfrm flipH="1" flipV="1">
            <a:off x="4187029" y="3831520"/>
            <a:ext cx="4284741" cy="7672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>
            <a:stCxn id="5" idx="3"/>
            <a:endCxn id="6" idx="1"/>
          </p:cNvCxnSpPr>
          <p:nvPr/>
        </p:nvCxnSpPr>
        <p:spPr>
          <a:xfrm flipH="1" flipV="1">
            <a:off x="457200" y="3159210"/>
            <a:ext cx="4929829" cy="6723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Quartoコードブロック記法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none"/>
          <a:lstStyle/>
          <a:p>
            <a:r>
              <a:rPr sz="1400">
                <a:latin typeface="Courier New"/>
              </a:rPr>
              <a:t>import math
print(math.pi)
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アニメーション・レイアウト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インクリメンタルリスト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800"/>
              <a:t>まず最初に表示</a:t>
            </a:r>
          </a:p>
          <a:p>
            <a:pPr/>
            <a:r>
              <a:rPr sz="1800"/>
              <a:t>次にこれが表示</a:t>
            </a:r>
          </a:p>
          <a:p>
            <a:pPr/>
            <a:r>
              <a:rPr sz="1800"/>
              <a:t>最後にこれが表示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非インクリメンタルリスト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800"/>
              <a:t>一括表示アイテム1</a:t>
            </a:r>
          </a:p>
          <a:p>
            <a:pPr/>
            <a:r>
              <a:rPr sz="1800"/>
              <a:t>一括表示アイテム2</a:t>
            </a:r>
          </a:p>
          <a:p>
            <a:pPr/>
            <a:r>
              <a:rPr sz="1800"/>
              <a:t>一括表示アイテム3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2カラムレイアウト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/>
            <a:r>
              <a:rPr sz="1800"/>
              <a:t>左の項目1</a:t>
            </a:r>
          </a:p>
          <a:p>
            <a:pPr/>
            <a:r>
              <a:rPr sz="1800"/>
              <a:t>左の項目2</a:t>
            </a:r>
          </a:p>
          <a:p>
            <a:pPr/>
            <a:r>
              <a:rPr sz="1800"/>
              <a:t>左の項目3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wrap="square"/>
          <a:lstStyle/>
          <a:p>
            <a:pPr/>
            <a:r>
              <a:rPr sz="1800"/>
              <a:t>右の項目1</a:t>
            </a:r>
          </a:p>
          <a:p>
            <a:pPr/>
            <a:r>
              <a:rPr sz="1800"/>
              <a:t>右の項目2</a:t>
            </a:r>
          </a:p>
          <a:p>
            <a:pPr/>
            <a:r>
              <a:rPr sz="1800"/>
              <a:t>右の項目3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スピーカーノート付きスライド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/>
              <a:t>このスライドには発表者向けのノートが埋め込まれています。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/>
              <a:t>水平区切り線（---）によって生成されたタイトルなしスライドです。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まとめ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全機能確認完了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800"/>
              <a:t>テキスト（段落・リスト・テーブル・コード）</a:t>
            </a:r>
          </a:p>
          <a:p>
            <a:pPr/>
            <a:r>
              <a:rPr sz="1800"/>
              <a:t>数式（インライン・ブロック）</a:t>
            </a:r>
          </a:p>
          <a:p>
            <a:pPr/>
            <a:r>
              <a:rPr sz="1800"/>
              <a:t>Mermaid図（全22種類）</a:t>
            </a:r>
          </a:p>
          <a:p>
            <a:pPr/>
            <a:r>
              <a:rPr sz="1800"/>
              <a:t>Flowchart / Sequence / Gantt / Class / State</a:t>
            </a:r>
          </a:p>
          <a:p>
            <a:pPr/>
            <a:r>
              <a:rPr sz="1800"/>
              <a:t>ER / User Journey / Pie / Quadrant / Requirement</a:t>
            </a:r>
          </a:p>
          <a:p>
            <a:pPr/>
            <a:r>
              <a:rPr sz="1800"/>
              <a:t>Git Graph / Mindmap / Timeline / ZenUML / Sankey</a:t>
            </a:r>
          </a:p>
          <a:p>
            <a:pPr/>
            <a:r>
              <a:rPr sz="1800"/>
              <a:t>XY Chart / Block / Packet / Kanban / Architecture / C4</a:t>
            </a:r>
          </a:p>
          <a:p>
            <a:pPr/>
            <a:r>
              <a:rPr sz="1800"/>
              <a:t>Quartoネイティブ記法</a:t>
            </a:r>
          </a:p>
          <a:p>
            <a:pPr/>
            <a:r>
              <a:rPr sz="1800"/>
              <a:t>アニメーション（インクリメンタル・非インクリメンタル）</a:t>
            </a:r>
          </a:p>
          <a:p>
            <a:pPr/>
            <a:r>
              <a:rPr sz="1800"/>
              <a:t>2カラムレイアウト</a:t>
            </a:r>
          </a:p>
          <a:p>
            <a:pPr/>
            <a:r>
              <a:rPr sz="1800"/>
              <a:t>スピーカーノート</a:t>
            </a:r>
          </a:p>
          <a:p>
            <a:pPr/>
            <a:r>
              <a:rPr sz="1800"/>
              <a:t>Blank スライド（水平区切り線）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